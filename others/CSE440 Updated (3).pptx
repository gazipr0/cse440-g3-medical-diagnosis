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  <p:embeddedFont>
      <p:font typeface="Arial Bold Italics" charset="1" panose="020B0704020202090204"/>
      <p:regular r:id="rId28"/>
    </p:embeddedFont>
    <p:embeddedFont>
      <p:font typeface="Arial Italics" charset="1" panose="020B0604020202090204"/>
      <p:regular r:id="rId34"/>
    </p:embeddedFont>
    <p:embeddedFont>
      <p:font typeface="Courier New" charset="1" panose="020703090202050204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212598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180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CSE440 PROJECT PRESENTATION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2674620"/>
            <a:ext cx="14813280" cy="2057400"/>
            <a:chOff x="0" y="0"/>
            <a:chExt cx="19751040" cy="274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51039" cy="2743200"/>
            </a:xfrm>
            <a:custGeom>
              <a:avLst/>
              <a:gdLst/>
              <a:ahLst/>
              <a:cxnLst/>
              <a:rect r="r" b="b" t="t" l="l"/>
              <a:pathLst>
                <a:path h="27432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9751040" cy="2800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82"/>
                </a:lnSpc>
              </a:pPr>
              <a:r>
                <a:rPr lang="en-US" sz="57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Rule-Based Medical Diagnosis</a:t>
              </a:r>
            </a:p>
            <a:p>
              <a:pPr algn="l">
                <a:lnSpc>
                  <a:spcPts val="7182"/>
                </a:lnSpc>
              </a:pPr>
              <a:r>
                <a:rPr lang="en-US" sz="57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Expert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4594860"/>
            <a:ext cx="14401800" cy="685800"/>
            <a:chOff x="0" y="0"/>
            <a:chExt cx="19202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9202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Stateless Engine Replay and History-Aware Inference over 31 Diseases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868416"/>
            <a:ext cx="16390620" cy="3365119"/>
            <a:chOff x="0" y="0"/>
            <a:chExt cx="21056600" cy="4323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566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210566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0909407" y="0"/>
                  </a:lnTo>
                  <a:cubicBezTo>
                    <a:pt x="20990688" y="0"/>
                    <a:pt x="21056600" y="65913"/>
                    <a:pt x="21056600" y="147193"/>
                  </a:cubicBezTo>
                  <a:lnTo>
                    <a:pt x="21056600" y="4175887"/>
                  </a:lnTo>
                  <a:cubicBezTo>
                    <a:pt x="21056600" y="4257167"/>
                    <a:pt x="20990688" y="4323080"/>
                    <a:pt x="209094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14500" y="6240780"/>
            <a:ext cx="6858000" cy="411480"/>
            <a:chOff x="0" y="0"/>
            <a:chExt cx="91440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144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GROUP MEMBERS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14500" y="6858000"/>
            <a:ext cx="3703320" cy="2057400"/>
            <a:chOff x="0" y="0"/>
            <a:chExt cx="493776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3776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937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828032" y="0"/>
                  </a:lnTo>
                  <a:cubicBezTo>
                    <a:pt x="4888611" y="0"/>
                    <a:pt x="4937760" y="49149"/>
                    <a:pt x="4937760" y="109728"/>
                  </a:cubicBezTo>
                  <a:lnTo>
                    <a:pt x="4937760" y="2633472"/>
                  </a:lnTo>
                  <a:cubicBezTo>
                    <a:pt x="4937760" y="2694051"/>
                    <a:pt x="4888611" y="2743200"/>
                    <a:pt x="482803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61388" y="7063740"/>
            <a:ext cx="548640" cy="548640"/>
            <a:chOff x="0" y="0"/>
            <a:chExt cx="7315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961388" y="7063740"/>
            <a:ext cx="548640" cy="548640"/>
            <a:chOff x="0" y="0"/>
            <a:chExt cx="7315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20240" y="7708392"/>
            <a:ext cx="3291840" cy="480060"/>
            <a:chOff x="0" y="0"/>
            <a:chExt cx="438912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389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Abid Shahoriar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0240" y="8202168"/>
            <a:ext cx="3291840" cy="342900"/>
            <a:chOff x="0" y="0"/>
            <a:chExt cx="4389120" cy="45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9120" cy="457200"/>
            </a:xfrm>
            <a:custGeom>
              <a:avLst/>
              <a:gdLst/>
              <a:ahLst/>
              <a:cxnLst/>
              <a:rect r="r" b="b" t="t" l="l"/>
              <a:pathLst>
                <a:path h="457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3891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2211967042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20240" y="8558784"/>
            <a:ext cx="3291840" cy="301752"/>
            <a:chOff x="0" y="0"/>
            <a:chExt cx="4389120" cy="4023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3891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Dept. of Electrical and Computer Engineering, NSU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623560" y="6858000"/>
            <a:ext cx="3703320" cy="2057400"/>
            <a:chOff x="0" y="0"/>
            <a:chExt cx="4937760" cy="2743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776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937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828032" y="0"/>
                  </a:lnTo>
                  <a:cubicBezTo>
                    <a:pt x="4888611" y="0"/>
                    <a:pt x="4937760" y="49149"/>
                    <a:pt x="4937760" y="109728"/>
                  </a:cubicBezTo>
                  <a:lnTo>
                    <a:pt x="4937760" y="2633472"/>
                  </a:lnTo>
                  <a:cubicBezTo>
                    <a:pt x="4937760" y="2694051"/>
                    <a:pt x="4888611" y="2743200"/>
                    <a:pt x="482803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870448" y="7063740"/>
            <a:ext cx="548640" cy="548640"/>
            <a:chOff x="0" y="0"/>
            <a:chExt cx="7315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870448" y="7063740"/>
            <a:ext cx="548640" cy="548640"/>
            <a:chOff x="0" y="0"/>
            <a:chExt cx="73152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829300" y="7708392"/>
            <a:ext cx="3291840" cy="480060"/>
            <a:chOff x="0" y="0"/>
            <a:chExt cx="4389120" cy="640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389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Gazi Nihal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829300" y="8202168"/>
            <a:ext cx="3291840" cy="342900"/>
            <a:chOff x="0" y="0"/>
            <a:chExt cx="4389120" cy="457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89120" cy="457200"/>
            </a:xfrm>
            <a:custGeom>
              <a:avLst/>
              <a:gdLst/>
              <a:ahLst/>
              <a:cxnLst/>
              <a:rect r="r" b="b" t="t" l="l"/>
              <a:pathLst>
                <a:path h="457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43891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2112140642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829300" y="8558784"/>
            <a:ext cx="3291840" cy="301752"/>
            <a:chOff x="0" y="0"/>
            <a:chExt cx="4389120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3891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Dept. of Electrical and Computer Engineering, NSU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32620" y="6858000"/>
            <a:ext cx="3703320" cy="2057400"/>
            <a:chOff x="0" y="0"/>
            <a:chExt cx="4937760" cy="2743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3776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937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828032" y="0"/>
                  </a:lnTo>
                  <a:cubicBezTo>
                    <a:pt x="4888611" y="0"/>
                    <a:pt x="4937760" y="49149"/>
                    <a:pt x="4937760" y="109728"/>
                  </a:cubicBezTo>
                  <a:lnTo>
                    <a:pt x="4937760" y="2633472"/>
                  </a:lnTo>
                  <a:cubicBezTo>
                    <a:pt x="4937760" y="2694051"/>
                    <a:pt x="4888611" y="2743200"/>
                    <a:pt x="482803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79508" y="7063740"/>
            <a:ext cx="548640" cy="548640"/>
            <a:chOff x="0" y="0"/>
            <a:chExt cx="7315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779508" y="7063740"/>
            <a:ext cx="548640" cy="548640"/>
            <a:chOff x="0" y="0"/>
            <a:chExt cx="7315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38360" y="7708392"/>
            <a:ext cx="3291840" cy="480060"/>
            <a:chOff x="0" y="0"/>
            <a:chExt cx="4389120" cy="640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4389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Syed Rakibul Hasan Apurbo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738360" y="8202168"/>
            <a:ext cx="3291840" cy="342900"/>
            <a:chOff x="0" y="0"/>
            <a:chExt cx="4389120" cy="457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0" cy="457200"/>
            </a:xfrm>
            <a:custGeom>
              <a:avLst/>
              <a:gdLst/>
              <a:ahLst/>
              <a:cxnLst/>
              <a:rect r="r" b="b" t="t" l="l"/>
              <a:pathLst>
                <a:path h="457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43891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2111197642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738360" y="8558784"/>
            <a:ext cx="3291840" cy="301752"/>
            <a:chOff x="0" y="0"/>
            <a:chExt cx="4389120" cy="4023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43891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Dept. of Electrical and Computer Engineering, NSU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441680" y="6858000"/>
            <a:ext cx="3703320" cy="2057400"/>
            <a:chOff x="0" y="0"/>
            <a:chExt cx="4937760" cy="2743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93776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937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828032" y="0"/>
                  </a:lnTo>
                  <a:cubicBezTo>
                    <a:pt x="4888611" y="0"/>
                    <a:pt x="4937760" y="49149"/>
                    <a:pt x="4937760" y="109728"/>
                  </a:cubicBezTo>
                  <a:lnTo>
                    <a:pt x="4937760" y="2633472"/>
                  </a:lnTo>
                  <a:cubicBezTo>
                    <a:pt x="4937760" y="2694051"/>
                    <a:pt x="4888611" y="2743200"/>
                    <a:pt x="482803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688568" y="7063740"/>
            <a:ext cx="548640" cy="548640"/>
            <a:chOff x="0" y="0"/>
            <a:chExt cx="73152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688568" y="7063740"/>
            <a:ext cx="548640" cy="548640"/>
            <a:chOff x="0" y="0"/>
            <a:chExt cx="73152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647420" y="7708392"/>
            <a:ext cx="3291840" cy="480060"/>
            <a:chOff x="0" y="0"/>
            <a:chExt cx="4389120" cy="6400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4389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Fiad Sarowar 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647420" y="8202168"/>
            <a:ext cx="3291840" cy="342900"/>
            <a:chOff x="0" y="0"/>
            <a:chExt cx="4389120" cy="457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89120" cy="457200"/>
            </a:xfrm>
            <a:custGeom>
              <a:avLst/>
              <a:gdLst/>
              <a:ahLst/>
              <a:cxnLst/>
              <a:rect r="r" b="b" t="t" l="l"/>
              <a:pathLst>
                <a:path h="457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43891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2121365642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647420" y="8558784"/>
            <a:ext cx="3291840" cy="301752"/>
            <a:chOff x="0" y="0"/>
            <a:chExt cx="4389120" cy="40233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43891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Dept. of Electrical and Computer Engineering, NSU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    Group No.3     Abid |  Gazi |  Apurbo | Fiad 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A transparent, rule-based diagnosis assistant driven by symptoms and medical history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27935"/>
            <a:ext cx="8042910" cy="6739890"/>
            <a:chOff x="0" y="0"/>
            <a:chExt cx="10723880" cy="8986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2388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072388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577068" y="0"/>
                  </a:lnTo>
                  <a:cubicBezTo>
                    <a:pt x="10658094" y="0"/>
                    <a:pt x="10723880" y="65659"/>
                    <a:pt x="10723880" y="146812"/>
                  </a:cubicBezTo>
                  <a:lnTo>
                    <a:pt x="10723880" y="8839708"/>
                  </a:lnTo>
                  <a:cubicBezTo>
                    <a:pt x="10723880" y="8920734"/>
                    <a:pt x="10658222" y="8986520"/>
                    <a:pt x="10577068" y="8986520"/>
                  </a:cubicBezTo>
                  <a:lnTo>
                    <a:pt x="146812" y="8986520"/>
                  </a:lnTo>
                  <a:cubicBezTo>
                    <a:pt x="65659" y="8986520"/>
                    <a:pt x="0" y="8920861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88036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288036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 i="true">
                  <a:solidFill>
                    <a:srgbClr val="FFFFFF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94560" y="2948940"/>
            <a:ext cx="6446520" cy="597302"/>
            <a:chOff x="0" y="0"/>
            <a:chExt cx="8595360" cy="7964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95360" cy="796403"/>
            </a:xfrm>
            <a:custGeom>
              <a:avLst/>
              <a:gdLst/>
              <a:ahLst/>
              <a:cxnLst/>
              <a:rect r="r" b="b" t="t" l="l"/>
              <a:pathLst>
                <a:path h="796403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796403"/>
                  </a:lnTo>
                  <a:lnTo>
                    <a:pt x="0" y="7964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70" r="0" b="-15622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8595360" cy="805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Overview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3771900"/>
            <a:ext cx="7132320" cy="1515043"/>
            <a:chOff x="0" y="0"/>
            <a:chExt cx="9509760" cy="20200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0" cy="2020057"/>
            </a:xfrm>
            <a:custGeom>
              <a:avLst/>
              <a:gdLst/>
              <a:ahLst/>
              <a:cxnLst/>
              <a:rect r="r" b="b" t="t" l="l"/>
              <a:pathLst>
                <a:path h="2020057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020057"/>
                  </a:lnTo>
                  <a:lnTo>
                    <a:pt x="0" y="20200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936" r="0" b="-4152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509760" cy="20676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0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The system collects patient symptoms and medical history, represents them as facts, and applies forward-chaining production rules to suggest a possible disease along with the evidence that supports it.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5554980"/>
            <a:ext cx="3566160" cy="1303020"/>
            <a:chOff x="0" y="0"/>
            <a:chExt cx="4754880" cy="1737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548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754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645152" y="0"/>
                  </a:lnTo>
                  <a:cubicBezTo>
                    <a:pt x="4705731" y="0"/>
                    <a:pt x="4754880" y="49149"/>
                    <a:pt x="4754880" y="109728"/>
                  </a:cubicBezTo>
                  <a:lnTo>
                    <a:pt x="4754880" y="1627632"/>
                  </a:lnTo>
                  <a:cubicBezTo>
                    <a:pt x="4754880" y="1688211"/>
                    <a:pt x="4705731" y="1737360"/>
                    <a:pt x="464515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40180" y="5664708"/>
            <a:ext cx="3154680" cy="685800"/>
            <a:chOff x="0" y="0"/>
            <a:chExt cx="420624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2062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0180" y="6350508"/>
            <a:ext cx="3154680" cy="438912"/>
            <a:chOff x="0" y="0"/>
            <a:chExt cx="420624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20624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production rules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212080" y="5554980"/>
            <a:ext cx="3566160" cy="1303020"/>
            <a:chOff x="0" y="0"/>
            <a:chExt cx="4754880" cy="1737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548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754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645152" y="0"/>
                  </a:lnTo>
                  <a:cubicBezTo>
                    <a:pt x="4705731" y="0"/>
                    <a:pt x="4754880" y="49149"/>
                    <a:pt x="4754880" y="109728"/>
                  </a:cubicBezTo>
                  <a:lnTo>
                    <a:pt x="4754880" y="1627632"/>
                  </a:lnTo>
                  <a:cubicBezTo>
                    <a:pt x="4754880" y="1688211"/>
                    <a:pt x="4705731" y="1737360"/>
                    <a:pt x="464515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417820" y="5664708"/>
            <a:ext cx="3154680" cy="685800"/>
            <a:chOff x="0" y="0"/>
            <a:chExt cx="420624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42062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417820" y="6350508"/>
            <a:ext cx="3154680" cy="438912"/>
            <a:chOff x="0" y="0"/>
            <a:chExt cx="4206240" cy="5852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20624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diseases covered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4440" y="7132320"/>
            <a:ext cx="3566160" cy="1303020"/>
            <a:chOff x="0" y="0"/>
            <a:chExt cx="4754880" cy="1737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548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754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645152" y="0"/>
                  </a:lnTo>
                  <a:cubicBezTo>
                    <a:pt x="4705731" y="0"/>
                    <a:pt x="4754880" y="49149"/>
                    <a:pt x="4754880" y="109728"/>
                  </a:cubicBezTo>
                  <a:lnTo>
                    <a:pt x="4754880" y="1627632"/>
                  </a:lnTo>
                  <a:cubicBezTo>
                    <a:pt x="4754880" y="1688211"/>
                    <a:pt x="4705731" y="1737360"/>
                    <a:pt x="464515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40180" y="7242048"/>
            <a:ext cx="3154680" cy="685800"/>
            <a:chOff x="0" y="0"/>
            <a:chExt cx="420624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2062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172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40180" y="7927848"/>
            <a:ext cx="3154680" cy="438912"/>
            <a:chOff x="0" y="0"/>
            <a:chExt cx="4206240" cy="5852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20624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symptom questions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212080" y="7132320"/>
            <a:ext cx="3566160" cy="1303020"/>
            <a:chOff x="0" y="0"/>
            <a:chExt cx="4754880" cy="1737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548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754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645152" y="0"/>
                  </a:lnTo>
                  <a:cubicBezTo>
                    <a:pt x="4705731" y="0"/>
                    <a:pt x="4754880" y="49149"/>
                    <a:pt x="4754880" y="109728"/>
                  </a:cubicBezTo>
                  <a:lnTo>
                    <a:pt x="4754880" y="1627632"/>
                  </a:lnTo>
                  <a:cubicBezTo>
                    <a:pt x="4754880" y="1688211"/>
                    <a:pt x="4705731" y="1737360"/>
                    <a:pt x="464515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417820" y="7242048"/>
            <a:ext cx="3154680" cy="685800"/>
            <a:chOff x="0" y="0"/>
            <a:chExt cx="42062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2062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417820" y="7927848"/>
            <a:ext cx="3154680" cy="438912"/>
            <a:chOff x="0" y="0"/>
            <a:chExt cx="420624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420624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interfaces, 1 engine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11615" y="2527935"/>
            <a:ext cx="8317230" cy="6739890"/>
            <a:chOff x="0" y="0"/>
            <a:chExt cx="11089640" cy="8986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08964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108964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942828" y="0"/>
                  </a:lnTo>
                  <a:cubicBezTo>
                    <a:pt x="11023854" y="0"/>
                    <a:pt x="11089640" y="65659"/>
                    <a:pt x="11089640" y="146812"/>
                  </a:cubicBezTo>
                  <a:lnTo>
                    <a:pt x="11089640" y="8839708"/>
                  </a:lnTo>
                  <a:cubicBezTo>
                    <a:pt x="11089640" y="8920734"/>
                    <a:pt x="11023981" y="8986520"/>
                    <a:pt x="10942828" y="8986520"/>
                  </a:cubicBezTo>
                  <a:lnTo>
                    <a:pt x="146812" y="8986520"/>
                  </a:lnTo>
                  <a:cubicBezTo>
                    <a:pt x="65659" y="8986520"/>
                    <a:pt x="0" y="8920861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532620" y="2880360"/>
            <a:ext cx="685800" cy="685800"/>
            <a:chOff x="0" y="0"/>
            <a:chExt cx="91440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532620" y="2880360"/>
            <a:ext cx="685800" cy="685800"/>
            <a:chOff x="0" y="0"/>
            <a:chExt cx="91440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!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492740" y="2948940"/>
            <a:ext cx="6720840" cy="612315"/>
            <a:chOff x="0" y="0"/>
            <a:chExt cx="8961120" cy="8164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961120" cy="816420"/>
            </a:xfrm>
            <a:custGeom>
              <a:avLst/>
              <a:gdLst/>
              <a:ahLst/>
              <a:cxnLst/>
              <a:rect r="r" b="b" t="t" l="l"/>
              <a:pathLst>
                <a:path h="8164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16420"/>
                  </a:lnTo>
                  <a:lnTo>
                    <a:pt x="0" y="816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069" r="0" b="-15867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8961120" cy="825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Idea: Stateless Replay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532620" y="3771900"/>
            <a:ext cx="7543800" cy="1577340"/>
            <a:chOff x="0" y="0"/>
            <a:chExt cx="10058400" cy="21031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0584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89" r="0" b="-4318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05840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19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The web interface does not reimplement the reasoning process. Instead it re-executes the identical console engine on every request through an input adapter that pauses whenever an unanswered question is reached.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532620" y="5637276"/>
            <a:ext cx="192024" cy="192024"/>
            <a:chOff x="0" y="0"/>
            <a:chExt cx="256032" cy="2560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875520" y="5472684"/>
            <a:ext cx="7269480" cy="548640"/>
            <a:chOff x="0" y="0"/>
            <a:chExt cx="969264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Browser and terminal versions can never diverge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532620" y="6295644"/>
            <a:ext cx="192024" cy="192024"/>
            <a:chOff x="0" y="0"/>
            <a:chExt cx="256032" cy="25603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875520" y="6131052"/>
            <a:ext cx="7269480" cy="548640"/>
            <a:chOff x="0" y="0"/>
            <a:chExt cx="969264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Any earlier answer can be revised and re-derived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532620" y="6954012"/>
            <a:ext cx="192024" cy="192024"/>
            <a:chOff x="0" y="0"/>
            <a:chExt cx="256032" cy="25603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875520" y="6789420"/>
            <a:ext cx="7269480" cy="548640"/>
            <a:chOff x="0" y="0"/>
            <a:chExt cx="969264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History-aware inference lowers evidence thresholds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532620" y="7612380"/>
            <a:ext cx="192024" cy="192024"/>
            <a:chOff x="0" y="0"/>
            <a:chExt cx="256032" cy="25603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875520" y="7447788"/>
            <a:ext cx="7269480" cy="548640"/>
            <a:chOff x="0" y="0"/>
            <a:chExt cx="969264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Educational and decision-support use only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</a:t>
              </a: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 | CSE440 Group No.3      Abid | Gazi | Apurbo | Fiad 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Presentation Roadmap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A complete walkthrough from problem and motivation to design, testing and future work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802255"/>
            <a:ext cx="7837170" cy="1870710"/>
            <a:chOff x="0" y="0"/>
            <a:chExt cx="10449560" cy="249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5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4495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01732" y="0"/>
                  </a:lnTo>
                  <a:cubicBezTo>
                    <a:pt x="10383393" y="0"/>
                    <a:pt x="10449560" y="66167"/>
                    <a:pt x="10449560" y="147828"/>
                  </a:cubicBezTo>
                  <a:lnTo>
                    <a:pt x="10449560" y="2346452"/>
                  </a:lnTo>
                  <a:cubicBezTo>
                    <a:pt x="10449560" y="2428113"/>
                    <a:pt x="10383393" y="2494280"/>
                    <a:pt x="1030173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3490722"/>
            <a:ext cx="493776" cy="493776"/>
            <a:chOff x="0" y="0"/>
            <a:chExt cx="658368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3490722"/>
            <a:ext cx="493776" cy="493776"/>
            <a:chOff x="0" y="0"/>
            <a:chExt cx="658368" cy="6583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63140" y="2811780"/>
            <a:ext cx="6172200" cy="1851660"/>
            <a:chOff x="0" y="0"/>
            <a:chExt cx="8229600" cy="2468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296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822960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&amp; Motivation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54515" y="2802255"/>
            <a:ext cx="7837170" cy="1870710"/>
            <a:chOff x="0" y="0"/>
            <a:chExt cx="10449560" cy="2494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495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4495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01732" y="0"/>
                  </a:lnTo>
                  <a:cubicBezTo>
                    <a:pt x="10383393" y="0"/>
                    <a:pt x="10449560" y="66167"/>
                    <a:pt x="10449560" y="147828"/>
                  </a:cubicBezTo>
                  <a:lnTo>
                    <a:pt x="10449560" y="2346452"/>
                  </a:lnTo>
                  <a:cubicBezTo>
                    <a:pt x="10449560" y="2428113"/>
                    <a:pt x="10383393" y="2494280"/>
                    <a:pt x="1030173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875520" y="3490722"/>
            <a:ext cx="493776" cy="493776"/>
            <a:chOff x="0" y="0"/>
            <a:chExt cx="658368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75520" y="3490722"/>
            <a:ext cx="493776" cy="493776"/>
            <a:chOff x="0" y="0"/>
            <a:chExt cx="658368" cy="6583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67060" y="2811780"/>
            <a:ext cx="6172200" cy="1851660"/>
            <a:chOff x="0" y="0"/>
            <a:chExt cx="8229600" cy="2468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96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22960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Objectives &amp; Scope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0595" y="5133975"/>
            <a:ext cx="7837170" cy="1870710"/>
            <a:chOff x="0" y="0"/>
            <a:chExt cx="10449560" cy="2494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495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4495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01732" y="0"/>
                  </a:lnTo>
                  <a:cubicBezTo>
                    <a:pt x="10383393" y="0"/>
                    <a:pt x="10449560" y="66167"/>
                    <a:pt x="10449560" y="147828"/>
                  </a:cubicBezTo>
                  <a:lnTo>
                    <a:pt x="10449560" y="2346452"/>
                  </a:lnTo>
                  <a:cubicBezTo>
                    <a:pt x="10449560" y="2428113"/>
                    <a:pt x="10383393" y="2494280"/>
                    <a:pt x="1030173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71600" y="5822442"/>
            <a:ext cx="493776" cy="493776"/>
            <a:chOff x="0" y="0"/>
            <a:chExt cx="658368" cy="6583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71600" y="5822442"/>
            <a:ext cx="493776" cy="493776"/>
            <a:chOff x="0" y="0"/>
            <a:chExt cx="658368" cy="6583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263140" y="5143500"/>
            <a:ext cx="6172200" cy="1851660"/>
            <a:chOff x="0" y="0"/>
            <a:chExt cx="8229600" cy="2468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296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22960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Architecture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54515" y="5133975"/>
            <a:ext cx="7837170" cy="1870710"/>
            <a:chOff x="0" y="0"/>
            <a:chExt cx="10449560" cy="2494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495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4495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01732" y="0"/>
                  </a:lnTo>
                  <a:cubicBezTo>
                    <a:pt x="10383393" y="0"/>
                    <a:pt x="10449560" y="66167"/>
                    <a:pt x="10449560" y="147828"/>
                  </a:cubicBezTo>
                  <a:lnTo>
                    <a:pt x="10449560" y="2346452"/>
                  </a:lnTo>
                  <a:cubicBezTo>
                    <a:pt x="10449560" y="2428113"/>
                    <a:pt x="10383393" y="2494280"/>
                    <a:pt x="1030173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875520" y="5822442"/>
            <a:ext cx="493776" cy="493776"/>
            <a:chOff x="0" y="0"/>
            <a:chExt cx="658368" cy="6583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875520" y="5822442"/>
            <a:ext cx="493776" cy="493776"/>
            <a:chOff x="0" y="0"/>
            <a:chExt cx="658368" cy="6583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767060" y="5143500"/>
            <a:ext cx="6172200" cy="1851660"/>
            <a:chOff x="0" y="0"/>
            <a:chExt cx="8229600" cy="2468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2296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822960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Inference &amp; Implementation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0595" y="7465695"/>
            <a:ext cx="7837170" cy="1870710"/>
            <a:chOff x="0" y="0"/>
            <a:chExt cx="10449560" cy="2494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4495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4495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01732" y="0"/>
                  </a:lnTo>
                  <a:cubicBezTo>
                    <a:pt x="10383393" y="0"/>
                    <a:pt x="10449560" y="66167"/>
                    <a:pt x="10449560" y="147828"/>
                  </a:cubicBezTo>
                  <a:lnTo>
                    <a:pt x="10449560" y="2346452"/>
                  </a:lnTo>
                  <a:cubicBezTo>
                    <a:pt x="10449560" y="2428113"/>
                    <a:pt x="10383393" y="2494280"/>
                    <a:pt x="1030173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71600" y="8154162"/>
            <a:ext cx="493776" cy="493776"/>
            <a:chOff x="0" y="0"/>
            <a:chExt cx="658368" cy="6583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71600" y="8154162"/>
            <a:ext cx="493776" cy="493776"/>
            <a:chOff x="0" y="0"/>
            <a:chExt cx="658368" cy="6583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263140" y="7475220"/>
            <a:ext cx="6172200" cy="1851660"/>
            <a:chOff x="0" y="0"/>
            <a:chExt cx="8229600" cy="2468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2296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822960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Knowledge Base &amp; Diseases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454515" y="7465695"/>
            <a:ext cx="7837170" cy="1870710"/>
            <a:chOff x="0" y="0"/>
            <a:chExt cx="10449560" cy="2494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495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4495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01732" y="0"/>
                  </a:lnTo>
                  <a:cubicBezTo>
                    <a:pt x="10383393" y="0"/>
                    <a:pt x="10449560" y="66167"/>
                    <a:pt x="10449560" y="147828"/>
                  </a:cubicBezTo>
                  <a:lnTo>
                    <a:pt x="10449560" y="2346452"/>
                  </a:lnTo>
                  <a:cubicBezTo>
                    <a:pt x="10449560" y="2428113"/>
                    <a:pt x="10383393" y="2494280"/>
                    <a:pt x="1030173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875520" y="8154162"/>
            <a:ext cx="493776" cy="493776"/>
            <a:chOff x="0" y="0"/>
            <a:chExt cx="658368" cy="65836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875520" y="8154162"/>
            <a:ext cx="493776" cy="493776"/>
            <a:chOff x="0" y="0"/>
            <a:chExt cx="658368" cy="6583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767060" y="7475220"/>
            <a:ext cx="6172200" cy="1851660"/>
            <a:chOff x="0" y="0"/>
            <a:chExt cx="8229600" cy="24688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2296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822960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Testing, Limitations &amp; Future Work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</a:t>
              </a: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 | CSE440     Group No.3    Abid | Gazi | Apurbo | Fiad 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and Motivation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Why a rule-based expert system is a natural fit for explainable diagnosis support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5299710" cy="6328410"/>
            <a:chOff x="0" y="0"/>
            <a:chExt cx="7066280" cy="8437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8437880"/>
            </a:xfrm>
            <a:custGeom>
              <a:avLst/>
              <a:gdLst/>
              <a:ahLst/>
              <a:cxnLst/>
              <a:rect r="r" b="b" t="t" l="l"/>
              <a:pathLst>
                <a:path h="843788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291068"/>
                  </a:lnTo>
                  <a:cubicBezTo>
                    <a:pt x="7066280" y="8372222"/>
                    <a:pt x="7000494" y="8437880"/>
                    <a:pt x="6919468" y="8437880"/>
                  </a:cubicBezTo>
                  <a:lnTo>
                    <a:pt x="146812" y="8437880"/>
                  </a:lnTo>
                  <a:cubicBezTo>
                    <a:pt x="65786" y="8437880"/>
                    <a:pt x="0" y="8372094"/>
                    <a:pt x="0" y="82910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3154680"/>
            <a:ext cx="685800" cy="109728"/>
            <a:chOff x="0" y="0"/>
            <a:chExt cx="914400" cy="1463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3429000"/>
            <a:ext cx="4320540" cy="685800"/>
            <a:chOff x="0" y="0"/>
            <a:chExt cx="576072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6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7607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Challenge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3020" y="4251960"/>
            <a:ext cx="4320540" cy="4251960"/>
            <a:chOff x="0" y="0"/>
            <a:chExt cx="5760720" cy="5669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60720" cy="5669280"/>
            </a:xfrm>
            <a:custGeom>
              <a:avLst/>
              <a:gdLst/>
              <a:ahLst/>
              <a:cxnLst/>
              <a:rect r="r" b="b" t="t" l="l"/>
              <a:pathLst>
                <a:path h="56692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669280"/>
                  </a:lnTo>
                  <a:lnTo>
                    <a:pt x="0" y="5669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267" t="0" r="-7626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5760720" cy="575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reasons over symptoms, patient history, risk factors and clinical knowledge. A single symptom is rarely enough for a reliable conclusion.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05575" y="2665095"/>
            <a:ext cx="5299710" cy="6328410"/>
            <a:chOff x="0" y="0"/>
            <a:chExt cx="7066280" cy="8437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66280" cy="8437880"/>
            </a:xfrm>
            <a:custGeom>
              <a:avLst/>
              <a:gdLst/>
              <a:ahLst/>
              <a:cxnLst/>
              <a:rect r="r" b="b" t="t" l="l"/>
              <a:pathLst>
                <a:path h="843788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291068"/>
                  </a:lnTo>
                  <a:cubicBezTo>
                    <a:pt x="7066280" y="8372222"/>
                    <a:pt x="7000494" y="8437880"/>
                    <a:pt x="6919468" y="8437880"/>
                  </a:cubicBezTo>
                  <a:lnTo>
                    <a:pt x="146812" y="8437880"/>
                  </a:lnTo>
                  <a:cubicBezTo>
                    <a:pt x="65786" y="8437880"/>
                    <a:pt x="0" y="8372094"/>
                    <a:pt x="0" y="82910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995160" y="3154680"/>
            <a:ext cx="685800" cy="109728"/>
            <a:chOff x="0" y="0"/>
            <a:chExt cx="914400" cy="1463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95160" y="3429000"/>
            <a:ext cx="4320540" cy="685800"/>
            <a:chOff x="0" y="0"/>
            <a:chExt cx="576072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6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7607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Expert Systems?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995160" y="4251960"/>
            <a:ext cx="4320540" cy="4251960"/>
            <a:chOff x="0" y="0"/>
            <a:chExt cx="5760720" cy="5669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60720" cy="5669280"/>
            </a:xfrm>
            <a:custGeom>
              <a:avLst/>
              <a:gdLst/>
              <a:ahLst/>
              <a:cxnLst/>
              <a:rect r="r" b="b" t="t" l="l"/>
              <a:pathLst>
                <a:path h="56692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669280"/>
                  </a:lnTo>
                  <a:lnTo>
                    <a:pt x="0" y="5669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267" t="0" r="-7626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5760720" cy="575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A rule-based system lets a user inspect exactly why a conclusion was reached: every diagnosis is a rule whose matched conditions are visible.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97715" y="2665095"/>
            <a:ext cx="5299710" cy="6328410"/>
            <a:chOff x="0" y="0"/>
            <a:chExt cx="7066280" cy="8437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66280" cy="8437880"/>
            </a:xfrm>
            <a:custGeom>
              <a:avLst/>
              <a:gdLst/>
              <a:ahLst/>
              <a:cxnLst/>
              <a:rect r="r" b="b" t="t" l="l"/>
              <a:pathLst>
                <a:path h="843788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291068"/>
                  </a:lnTo>
                  <a:cubicBezTo>
                    <a:pt x="7066280" y="8372222"/>
                    <a:pt x="7000494" y="8437880"/>
                    <a:pt x="6919468" y="8437880"/>
                  </a:cubicBezTo>
                  <a:lnTo>
                    <a:pt x="146812" y="8437880"/>
                  </a:lnTo>
                  <a:cubicBezTo>
                    <a:pt x="65786" y="8437880"/>
                    <a:pt x="0" y="8372094"/>
                    <a:pt x="0" y="82910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687300" y="3154680"/>
            <a:ext cx="685800" cy="109728"/>
            <a:chOff x="0" y="0"/>
            <a:chExt cx="914400" cy="1463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87300" y="3429000"/>
            <a:ext cx="4320540" cy="685800"/>
            <a:chOff x="0" y="0"/>
            <a:chExt cx="576072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6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7607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Drift Problem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687300" y="4251960"/>
            <a:ext cx="4320540" cy="4251960"/>
            <a:chOff x="0" y="0"/>
            <a:chExt cx="5760720" cy="5669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60720" cy="5669280"/>
            </a:xfrm>
            <a:custGeom>
              <a:avLst/>
              <a:gdLst/>
              <a:ahLst/>
              <a:cxnLst/>
              <a:rect r="r" b="b" t="t" l="l"/>
              <a:pathLst>
                <a:path h="56692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669280"/>
                  </a:lnTo>
                  <a:lnTo>
                    <a:pt x="0" y="5669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267" t="0" r="-7626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5760720" cy="575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Student projects often rewrite reasoning in the web layer, and the two copies drift apart. This project keeps one engine as the single source of truth.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</a:t>
              </a: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 | CSE440      Group No.3        Abid | Gazi | Apurbo | Fiad 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Objectives and Scope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What the system is designed to do — and what it is not designed to 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27935"/>
            <a:ext cx="8248650" cy="6739890"/>
            <a:chOff x="0" y="0"/>
            <a:chExt cx="10998200" cy="8986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9820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099820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851388" y="0"/>
                  </a:lnTo>
                  <a:cubicBezTo>
                    <a:pt x="10932541" y="0"/>
                    <a:pt x="10998200" y="65659"/>
                    <a:pt x="10998200" y="146812"/>
                  </a:cubicBezTo>
                  <a:lnTo>
                    <a:pt x="10998200" y="8839708"/>
                  </a:lnTo>
                  <a:cubicBezTo>
                    <a:pt x="10998200" y="8920734"/>
                    <a:pt x="10932541" y="8986520"/>
                    <a:pt x="10851388" y="8986520"/>
                  </a:cubicBezTo>
                  <a:lnTo>
                    <a:pt x="146812" y="8986520"/>
                  </a:lnTo>
                  <a:cubicBezTo>
                    <a:pt x="65659" y="8986520"/>
                    <a:pt x="0" y="8920861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880360"/>
            <a:ext cx="548640" cy="548640"/>
            <a:chOff x="0" y="0"/>
            <a:chExt cx="7315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2880360"/>
            <a:ext cx="548640" cy="548640"/>
            <a:chOff x="0" y="0"/>
            <a:chExt cx="7315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88820" y="2921508"/>
            <a:ext cx="6583680" cy="548640"/>
            <a:chOff x="0" y="0"/>
            <a:chExt cx="877824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778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Main Objectives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3744468"/>
            <a:ext cx="164592" cy="164592"/>
            <a:chOff x="0" y="0"/>
            <a:chExt cx="219456" cy="219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77340" y="3535490"/>
            <a:ext cx="7269480" cy="582549"/>
            <a:chOff x="0" y="0"/>
            <a:chExt cx="9692640" cy="7767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92640" cy="776732"/>
            </a:xfrm>
            <a:custGeom>
              <a:avLst/>
              <a:gdLst/>
              <a:ahLst/>
              <a:cxnLst/>
              <a:rect r="r" b="b" t="t" l="l"/>
              <a:pathLst>
                <a:path h="776732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76732"/>
                  </a:lnTo>
                  <a:lnTo>
                    <a:pt x="0" y="776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59" r="0" b="-1902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692640" cy="786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Design an expert system driven by symptoms and history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" y="4594860"/>
            <a:ext cx="164592" cy="164592"/>
            <a:chOff x="0" y="0"/>
            <a:chExt cx="219456" cy="2194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77340" y="4402836"/>
            <a:ext cx="7269480" cy="548640"/>
            <a:chOff x="0" y="0"/>
            <a:chExt cx="969264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9692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Represent knowledge as facts, rules and thresholds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5445252"/>
            <a:ext cx="164592" cy="164592"/>
            <a:chOff x="0" y="0"/>
            <a:chExt cx="219456" cy="2194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77340" y="5266944"/>
            <a:ext cx="7269480" cy="548640"/>
            <a:chOff x="0" y="0"/>
            <a:chExt cx="969264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9692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Share one rule base across console and web interfaces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4440" y="6295644"/>
            <a:ext cx="164592" cy="164592"/>
            <a:chOff x="0" y="0"/>
            <a:chExt cx="219456" cy="2194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77340" y="6117336"/>
            <a:ext cx="7269480" cy="548640"/>
            <a:chOff x="0" y="0"/>
            <a:chExt cx="96926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9692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Let a user revise an earlier answer mid-consultation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34440" y="7146036"/>
            <a:ext cx="164592" cy="164592"/>
            <a:chOff x="0" y="0"/>
            <a:chExt cx="219456" cy="2194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77340" y="6967728"/>
            <a:ext cx="7269480" cy="548640"/>
            <a:chOff x="0" y="0"/>
            <a:chExt cx="969264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692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Use medical history to adjust evidence thresholds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34440" y="7996428"/>
            <a:ext cx="164592" cy="164592"/>
            <a:chOff x="0" y="0"/>
            <a:chExt cx="219456" cy="2194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77340" y="7818120"/>
            <a:ext cx="7269480" cy="548640"/>
            <a:chOff x="0" y="0"/>
            <a:chExt cx="969264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9692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Export a disease-specific treatment PDF report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271635" y="2582799"/>
            <a:ext cx="8180070" cy="6739890"/>
            <a:chOff x="0" y="0"/>
            <a:chExt cx="10906760" cy="8986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0676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090676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759948" y="0"/>
                  </a:lnTo>
                  <a:cubicBezTo>
                    <a:pt x="10840974" y="0"/>
                    <a:pt x="10906760" y="65659"/>
                    <a:pt x="10906760" y="146812"/>
                  </a:cubicBezTo>
                  <a:lnTo>
                    <a:pt x="10906760" y="8839708"/>
                  </a:lnTo>
                  <a:cubicBezTo>
                    <a:pt x="10906760" y="8920734"/>
                    <a:pt x="10841101" y="8986520"/>
                    <a:pt x="10759948" y="8986520"/>
                  </a:cubicBezTo>
                  <a:lnTo>
                    <a:pt x="146812" y="8986520"/>
                  </a:lnTo>
                  <a:cubicBezTo>
                    <a:pt x="65659" y="8986520"/>
                    <a:pt x="0" y="8920861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669780" y="2880360"/>
            <a:ext cx="548640" cy="548640"/>
            <a:chOff x="0" y="0"/>
            <a:chExt cx="7315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669780" y="2880360"/>
            <a:ext cx="548640" cy="548640"/>
            <a:chOff x="0" y="0"/>
            <a:chExt cx="7315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424160" y="2921508"/>
            <a:ext cx="6583680" cy="572765"/>
            <a:chOff x="0" y="0"/>
            <a:chExt cx="8778240" cy="76368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778240" cy="763687"/>
            </a:xfrm>
            <a:custGeom>
              <a:avLst/>
              <a:gdLst/>
              <a:ahLst/>
              <a:cxnLst/>
              <a:rect r="r" b="b" t="t" l="l"/>
              <a:pathLst>
                <a:path h="76368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63687"/>
                  </a:lnTo>
                  <a:lnTo>
                    <a:pt x="0" y="7636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77" r="0" b="-17186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8778240" cy="782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Scope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69780" y="3744468"/>
            <a:ext cx="164592" cy="164592"/>
            <a:chOff x="0" y="0"/>
            <a:chExt cx="219456" cy="2194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012680" y="3566160"/>
            <a:ext cx="7269480" cy="548640"/>
            <a:chOff x="0" y="0"/>
            <a:chExt cx="969264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Supports 31 diseases across 9 clinical categories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69780" y="4594860"/>
            <a:ext cx="164592" cy="164592"/>
            <a:chOff x="0" y="0"/>
            <a:chExt cx="219456" cy="2194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012680" y="4416552"/>
            <a:ext cx="7269480" cy="548640"/>
            <a:chOff x="0" y="0"/>
            <a:chExt cx="969264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Uses question-by-question symptom collection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69780" y="5445252"/>
            <a:ext cx="164592" cy="164592"/>
            <a:chOff x="0" y="0"/>
            <a:chExt cx="219456" cy="2194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012680" y="5266944"/>
            <a:ext cx="7269480" cy="548640"/>
            <a:chOff x="0" y="0"/>
            <a:chExt cx="969264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Does not perform lab analysis or imaging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669780" y="6295644"/>
            <a:ext cx="164592" cy="164592"/>
            <a:chOff x="0" y="0"/>
            <a:chExt cx="219456" cy="2194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012680" y="6117336"/>
            <a:ext cx="7269480" cy="548640"/>
            <a:chOff x="0" y="0"/>
            <a:chExt cx="969264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Does not replace clinical examination or triage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69780" y="7146036"/>
            <a:ext cx="164592" cy="164592"/>
            <a:chOff x="0" y="0"/>
            <a:chExt cx="219456" cy="21945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012680" y="6967728"/>
            <a:ext cx="7269480" cy="548640"/>
            <a:chOff x="0" y="0"/>
            <a:chExt cx="969264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Output must be reviewed by a healthcare professional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69780" y="7996428"/>
            <a:ext cx="164592" cy="164592"/>
            <a:chOff x="0" y="0"/>
            <a:chExt cx="219456" cy="21945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012680" y="7818120"/>
            <a:ext cx="7269480" cy="548640"/>
            <a:chOff x="0" y="0"/>
            <a:chExt cx="969264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Educational and decision-support purposes only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17220" y="9798939"/>
            <a:ext cx="9601200" cy="384048"/>
            <a:chOff x="0" y="0"/>
            <a:chExt cx="12801600" cy="5120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</a:t>
              </a: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 | CSE440        Group No.3      Abid | Gazi | Apurbo | Fiad 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Overall 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Six connected components turn a user's answers into a diagnosis and report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3693795"/>
            <a:ext cx="2419350" cy="1527810"/>
            <a:chOff x="0" y="0"/>
            <a:chExt cx="3225800" cy="2037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25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2258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077591" y="0"/>
                  </a:lnTo>
                  <a:cubicBezTo>
                    <a:pt x="3159506" y="0"/>
                    <a:pt x="3225800" y="66294"/>
                    <a:pt x="3225800" y="148209"/>
                  </a:cubicBezTo>
                  <a:lnTo>
                    <a:pt x="3225800" y="1888871"/>
                  </a:lnTo>
                  <a:cubicBezTo>
                    <a:pt x="3225800" y="1970659"/>
                    <a:pt x="3159506" y="2037080"/>
                    <a:pt x="307759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3703320"/>
            <a:ext cx="2400300" cy="1508760"/>
            <a:chOff x="0" y="0"/>
            <a:chExt cx="3200400" cy="2011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0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20040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6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</a:t>
              </a:r>
            </a:p>
            <a:p>
              <a:pPr algn="ctr">
                <a:lnSpc>
                  <a:spcPts val="2646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Interface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209880">
            <a:off x="3208534" y="4448175"/>
            <a:ext cx="468363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3652647" y="3693795"/>
            <a:ext cx="2419350" cy="1527810"/>
            <a:chOff x="0" y="0"/>
            <a:chExt cx="3225800" cy="2037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25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2258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077591" y="0"/>
                  </a:lnTo>
                  <a:cubicBezTo>
                    <a:pt x="3159506" y="0"/>
                    <a:pt x="3225800" y="66294"/>
                    <a:pt x="3225800" y="148209"/>
                  </a:cubicBezTo>
                  <a:lnTo>
                    <a:pt x="3225800" y="1888871"/>
                  </a:lnTo>
                  <a:cubicBezTo>
                    <a:pt x="3225800" y="1970659"/>
                    <a:pt x="3159506" y="2037080"/>
                    <a:pt x="307759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662172" y="3703320"/>
            <a:ext cx="2400300" cy="1508760"/>
            <a:chOff x="0" y="0"/>
            <a:chExt cx="3200400" cy="2011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0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320040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82"/>
                </a:lnSpc>
              </a:pPr>
              <a:r>
                <a:rPr lang="en-US" sz="20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Session &amp;</a:t>
              </a:r>
            </a:p>
            <a:p>
              <a:pPr algn="ctr">
                <a:lnSpc>
                  <a:spcPts val="2582"/>
                </a:lnSpc>
              </a:pPr>
              <a:r>
                <a:rPr lang="en-US" sz="20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Question Ctrl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209880">
            <a:off x="6047746" y="4448175"/>
            <a:ext cx="468363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6491859" y="3693795"/>
            <a:ext cx="2419350" cy="1527810"/>
            <a:chOff x="0" y="0"/>
            <a:chExt cx="3225800" cy="2037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25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2258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077591" y="0"/>
                  </a:lnTo>
                  <a:cubicBezTo>
                    <a:pt x="3159506" y="0"/>
                    <a:pt x="3225800" y="66294"/>
                    <a:pt x="3225800" y="148209"/>
                  </a:cubicBezTo>
                  <a:lnTo>
                    <a:pt x="3225800" y="1888871"/>
                  </a:lnTo>
                  <a:cubicBezTo>
                    <a:pt x="3225800" y="1970659"/>
                    <a:pt x="3159506" y="2037080"/>
                    <a:pt x="307759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501384" y="3703320"/>
            <a:ext cx="2400300" cy="1508760"/>
            <a:chOff x="0" y="0"/>
            <a:chExt cx="3200400" cy="2011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0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20040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Input</a:t>
              </a:r>
            </a:p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Adapter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209880">
            <a:off x="8886958" y="4448175"/>
            <a:ext cx="468363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9331071" y="3693795"/>
            <a:ext cx="2419350" cy="1527810"/>
            <a:chOff x="0" y="0"/>
            <a:chExt cx="3225800" cy="2037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25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2258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077591" y="0"/>
                  </a:lnTo>
                  <a:cubicBezTo>
                    <a:pt x="3159506" y="0"/>
                    <a:pt x="3225800" y="66294"/>
                    <a:pt x="3225800" y="148209"/>
                  </a:cubicBezTo>
                  <a:lnTo>
                    <a:pt x="3225800" y="1888871"/>
                  </a:lnTo>
                  <a:cubicBezTo>
                    <a:pt x="3225800" y="1970659"/>
                    <a:pt x="3159506" y="2037080"/>
                    <a:pt x="307759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2B2F3D"/>
            </a:solidFill>
            <a:ln w="19050" cap="sq">
              <a:solidFill>
                <a:srgbClr val="2B2F3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340596" y="3703320"/>
            <a:ext cx="2400300" cy="1508760"/>
            <a:chOff x="0" y="0"/>
            <a:chExt cx="3200400" cy="2011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0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20040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Inference</a:t>
              </a:r>
            </a:p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Engine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209880">
            <a:off x="11726170" y="4448175"/>
            <a:ext cx="468363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12170283" y="3693795"/>
            <a:ext cx="2419350" cy="1527810"/>
            <a:chOff x="0" y="0"/>
            <a:chExt cx="3225800" cy="2037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25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2258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077591" y="0"/>
                  </a:lnTo>
                  <a:cubicBezTo>
                    <a:pt x="3159506" y="0"/>
                    <a:pt x="3225800" y="66294"/>
                    <a:pt x="3225800" y="148209"/>
                  </a:cubicBezTo>
                  <a:lnTo>
                    <a:pt x="3225800" y="1888871"/>
                  </a:lnTo>
                  <a:cubicBezTo>
                    <a:pt x="3225800" y="1970659"/>
                    <a:pt x="3159506" y="2037080"/>
                    <a:pt x="307759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179808" y="3703320"/>
            <a:ext cx="2400300" cy="1508760"/>
            <a:chOff x="0" y="0"/>
            <a:chExt cx="3200400" cy="2011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0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20040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Disease</a:t>
              </a:r>
            </a:p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Knowledge Base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209880">
            <a:off x="14565382" y="4448175"/>
            <a:ext cx="468363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5009495" y="3693795"/>
            <a:ext cx="2419350" cy="1527810"/>
            <a:chOff x="0" y="0"/>
            <a:chExt cx="3225800" cy="2037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25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2258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077591" y="0"/>
                  </a:lnTo>
                  <a:cubicBezTo>
                    <a:pt x="3159506" y="0"/>
                    <a:pt x="3225800" y="66294"/>
                    <a:pt x="3225800" y="148209"/>
                  </a:cubicBezTo>
                  <a:lnTo>
                    <a:pt x="3225800" y="1888871"/>
                  </a:lnTo>
                  <a:cubicBezTo>
                    <a:pt x="3225800" y="1970659"/>
                    <a:pt x="3159506" y="2037080"/>
                    <a:pt x="307759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5019020" y="3703320"/>
            <a:ext cx="2400300" cy="1508760"/>
            <a:chOff x="0" y="0"/>
            <a:chExt cx="3200400" cy="2011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0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20040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Treatment &amp;</a:t>
              </a:r>
            </a:p>
            <a:p>
              <a:pPr algn="ctr">
                <a:lnSpc>
                  <a:spcPts val="2330"/>
                </a:lnSpc>
              </a:pPr>
              <a:r>
                <a:rPr lang="en-US" sz="184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Report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13435" y="5888355"/>
            <a:ext cx="16615410" cy="3448050"/>
            <a:chOff x="0" y="0"/>
            <a:chExt cx="22153880" cy="4597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153879" cy="4597400"/>
            </a:xfrm>
            <a:custGeom>
              <a:avLst/>
              <a:gdLst/>
              <a:ahLst/>
              <a:cxnLst/>
              <a:rect r="r" b="b" t="t" l="l"/>
              <a:pathLst>
                <a:path h="4597400" w="22153879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22006813" y="0"/>
                  </a:lnTo>
                  <a:cubicBezTo>
                    <a:pt x="22088094" y="0"/>
                    <a:pt x="22153879" y="65913"/>
                    <a:pt x="22153879" y="147066"/>
                  </a:cubicBezTo>
                  <a:lnTo>
                    <a:pt x="22153879" y="4450334"/>
                  </a:lnTo>
                  <a:cubicBezTo>
                    <a:pt x="22153879" y="4531614"/>
                    <a:pt x="22087967" y="4597400"/>
                    <a:pt x="22006813" y="4597400"/>
                  </a:cubicBezTo>
                  <a:lnTo>
                    <a:pt x="147066" y="4597400"/>
                  </a:lnTo>
                  <a:cubicBezTo>
                    <a:pt x="65913" y="4597400"/>
                    <a:pt x="0" y="4531487"/>
                    <a:pt x="0" y="445033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03020" y="6172200"/>
            <a:ext cx="6858000" cy="438912"/>
            <a:chOff x="0" y="0"/>
            <a:chExt cx="9144000" cy="585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0" cy="585216"/>
            </a:xfrm>
            <a:custGeom>
              <a:avLst/>
              <a:gdLst/>
              <a:ahLst/>
              <a:cxnLst/>
              <a:rect r="r" b="b" t="t" l="l"/>
              <a:pathLst>
                <a:path h="58521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91440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 Purpose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03020" y="6693408"/>
            <a:ext cx="15636240" cy="1234440"/>
            <a:chOff x="0" y="0"/>
            <a:chExt cx="20848320" cy="16459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848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2084832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1"/>
                </a:lnSpc>
              </a:pPr>
              <a:r>
                <a:rPr lang="en-US" sz="1924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Separating symptom collection, reasoning, knowledge storage and output generation keeps each part easy to test and maintain. The web front end never reimplements diagnostic logic — it drives the same inference engine as the console application through the input adapter, so the two interfaces cannot disagree.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03020" y="7982712"/>
            <a:ext cx="7818120" cy="384048"/>
            <a:chOff x="0" y="0"/>
            <a:chExt cx="10424160" cy="5120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• Flask web front end + console front end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03020" y="8339328"/>
            <a:ext cx="7818120" cy="384048"/>
            <a:chOff x="0" y="0"/>
            <a:chExt cx="10424160" cy="5120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• DiagnosisFlow — session &amp; question controller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25880" y="8723376"/>
            <a:ext cx="7818120" cy="384048"/>
            <a:chOff x="0" y="0"/>
            <a:chExt cx="10424160" cy="512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• MedicalExpert — Experta engine, 46 rules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258300" y="7982712"/>
            <a:ext cx="7818120" cy="384048"/>
            <a:chOff x="0" y="0"/>
            <a:chExt cx="10424160" cy="5120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• EngineIOAdapter — stateless replay &amp; pause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258300" y="8339328"/>
            <a:ext cx="7818120" cy="384048"/>
            <a:chOff x="0" y="0"/>
            <a:chExt cx="10424160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• symptoms.ods + diseases_list.txt knowledge base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258300" y="8695944"/>
            <a:ext cx="7818120" cy="384048"/>
            <a:chOff x="0" y="0"/>
            <a:chExt cx="10424160" cy="51206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• Markdown/HTML treatment docs + PDF writer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b="true">
                  <a:solidFill>
                    <a:srgbClr val="666B7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Medical Diagnosis Expert System</a:t>
              </a:r>
              <a:r>
                <a:rPr lang="en-US" sz="1399" b="true">
                  <a:solidFill>
                    <a:srgbClr val="666B7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| CSE440          Group No.3          Abid | Gazi | Apurbo | Fiad 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Inference 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Forward-chaining reasoning from patient answers to a matched, threshold-checked disease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2556510" cy="1322070"/>
            <a:chOff x="0" y="0"/>
            <a:chExt cx="3408680" cy="1762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086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34086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260217" y="0"/>
                  </a:lnTo>
                  <a:cubicBezTo>
                    <a:pt x="3342259" y="0"/>
                    <a:pt x="3408680" y="66421"/>
                    <a:pt x="3408680" y="148463"/>
                  </a:cubicBezTo>
                  <a:lnTo>
                    <a:pt x="3408680" y="1614297"/>
                  </a:lnTo>
                  <a:cubicBezTo>
                    <a:pt x="3408680" y="1696339"/>
                    <a:pt x="3342259" y="1762760"/>
                    <a:pt x="32602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674620"/>
            <a:ext cx="2537460" cy="1303020"/>
            <a:chOff x="0" y="0"/>
            <a:chExt cx="3383280" cy="1737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383280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Start</a:t>
              </a:r>
            </a:p>
            <a:p>
              <a:pPr algn="ctr">
                <a:lnSpc>
                  <a:spcPts val="2267"/>
                </a:lnSpc>
              </a:pPr>
              <a:r>
                <a:rPr lang="en-US" sz="1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Consultation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323340">
            <a:off x="3345456" y="3316605"/>
            <a:ext cx="304238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3625215" y="2665095"/>
            <a:ext cx="2556510" cy="1322070"/>
            <a:chOff x="0" y="0"/>
            <a:chExt cx="3408680" cy="1762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086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34086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260217" y="0"/>
                  </a:lnTo>
                  <a:cubicBezTo>
                    <a:pt x="3342259" y="0"/>
                    <a:pt x="3408680" y="66421"/>
                    <a:pt x="3408680" y="148463"/>
                  </a:cubicBezTo>
                  <a:lnTo>
                    <a:pt x="3408680" y="1614297"/>
                  </a:lnTo>
                  <a:cubicBezTo>
                    <a:pt x="3408680" y="1696339"/>
                    <a:pt x="3342259" y="1762760"/>
                    <a:pt x="32602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634740" y="2674620"/>
            <a:ext cx="2537460" cy="1303020"/>
            <a:chOff x="0" y="0"/>
            <a:chExt cx="3383280" cy="1737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383280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Collect</a:t>
              </a:r>
            </a:p>
            <a:p>
              <a:pPr algn="ctr">
                <a:lnSpc>
                  <a:spcPts val="2267"/>
                </a:lnSpc>
              </a:pPr>
              <a:r>
                <a:rPr lang="en-US" sz="17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History &amp; Symptoms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323340">
            <a:off x="6157236" y="3316605"/>
            <a:ext cx="304238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6436995" y="2665095"/>
            <a:ext cx="2556510" cy="1322070"/>
            <a:chOff x="0" y="0"/>
            <a:chExt cx="3408680" cy="1762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086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34086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260217" y="0"/>
                  </a:lnTo>
                  <a:cubicBezTo>
                    <a:pt x="3342259" y="0"/>
                    <a:pt x="3408680" y="66421"/>
                    <a:pt x="3408680" y="148463"/>
                  </a:cubicBezTo>
                  <a:lnTo>
                    <a:pt x="3408680" y="1614297"/>
                  </a:lnTo>
                  <a:cubicBezTo>
                    <a:pt x="3408680" y="1696339"/>
                    <a:pt x="3342259" y="1762760"/>
                    <a:pt x="32602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46520" y="2674620"/>
            <a:ext cx="2537460" cy="1303020"/>
            <a:chOff x="0" y="0"/>
            <a:chExt cx="3383280" cy="1737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38328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Store Answers</a:t>
              </a:r>
            </a:p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 Facts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323340">
            <a:off x="8969016" y="3316605"/>
            <a:ext cx="304238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9248775" y="2665095"/>
            <a:ext cx="2556510" cy="1322070"/>
            <a:chOff x="0" y="0"/>
            <a:chExt cx="3408680" cy="1762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086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34086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260217" y="0"/>
                  </a:lnTo>
                  <a:cubicBezTo>
                    <a:pt x="3342259" y="0"/>
                    <a:pt x="3408680" y="66421"/>
                    <a:pt x="3408680" y="148463"/>
                  </a:cubicBezTo>
                  <a:lnTo>
                    <a:pt x="3408680" y="1614297"/>
                  </a:lnTo>
                  <a:cubicBezTo>
                    <a:pt x="3408680" y="1696339"/>
                    <a:pt x="3342259" y="1762760"/>
                    <a:pt x="32602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258300" y="2674620"/>
            <a:ext cx="2537460" cy="1303020"/>
            <a:chOff x="0" y="0"/>
            <a:chExt cx="3383280" cy="1737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38328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Activate Branch</a:t>
              </a:r>
            </a:p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by Salience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323340">
            <a:off x="11780796" y="3316605"/>
            <a:ext cx="304238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12060555" y="2665095"/>
            <a:ext cx="2556510" cy="1322070"/>
            <a:chOff x="0" y="0"/>
            <a:chExt cx="3408680" cy="1762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086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34086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260217" y="0"/>
                  </a:lnTo>
                  <a:cubicBezTo>
                    <a:pt x="3342259" y="0"/>
                    <a:pt x="3408680" y="66421"/>
                    <a:pt x="3408680" y="148463"/>
                  </a:cubicBezTo>
                  <a:lnTo>
                    <a:pt x="3408680" y="1614297"/>
                  </a:lnTo>
                  <a:cubicBezTo>
                    <a:pt x="3408680" y="1696339"/>
                    <a:pt x="3342259" y="1762760"/>
                    <a:pt x="32602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070080" y="2674620"/>
            <a:ext cx="2537460" cy="1303020"/>
            <a:chOff x="0" y="0"/>
            <a:chExt cx="3383280" cy="173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38328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Evaluate</a:t>
              </a:r>
            </a:p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Gate + Threshold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323340">
            <a:off x="14592576" y="3316605"/>
            <a:ext cx="304238" cy="0"/>
          </a:xfrm>
          <a:prstGeom prst="line">
            <a:avLst/>
          </a:prstGeom>
          <a:ln cap="rnd" w="19050">
            <a:solidFill>
              <a:srgbClr val="C7BF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4872335" y="2665095"/>
            <a:ext cx="2556510" cy="1322070"/>
            <a:chOff x="0" y="0"/>
            <a:chExt cx="3408680" cy="1762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086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34086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260217" y="0"/>
                  </a:lnTo>
                  <a:cubicBezTo>
                    <a:pt x="3342259" y="0"/>
                    <a:pt x="3408680" y="66421"/>
                    <a:pt x="3408680" y="148463"/>
                  </a:cubicBezTo>
                  <a:lnTo>
                    <a:pt x="3408680" y="1614297"/>
                  </a:lnTo>
                  <a:cubicBezTo>
                    <a:pt x="3408680" y="1696339"/>
                    <a:pt x="3342259" y="1762760"/>
                    <a:pt x="32602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B08D3E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881860" y="2674620"/>
            <a:ext cx="2537460" cy="1303020"/>
            <a:chOff x="0" y="0"/>
            <a:chExt cx="3383280" cy="1737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338328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Explainable</a:t>
              </a:r>
            </a:p>
            <a:p>
              <a:pPr algn="ctr">
                <a:lnSpc>
                  <a:spcPts val="2393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13435" y="4311015"/>
            <a:ext cx="8042910" cy="5250724"/>
            <a:chOff x="0" y="0"/>
            <a:chExt cx="10723880" cy="700096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23880" cy="7000966"/>
            </a:xfrm>
            <a:custGeom>
              <a:avLst/>
              <a:gdLst/>
              <a:ahLst/>
              <a:cxnLst/>
              <a:rect r="r" b="b" t="t" l="l"/>
              <a:pathLst>
                <a:path h="7000966" w="10723880">
                  <a:moveTo>
                    <a:pt x="0" y="155517"/>
                  </a:moveTo>
                  <a:cubicBezTo>
                    <a:pt x="0" y="69687"/>
                    <a:pt x="65786" y="0"/>
                    <a:pt x="146812" y="0"/>
                  </a:cubicBezTo>
                  <a:lnTo>
                    <a:pt x="10577068" y="0"/>
                  </a:lnTo>
                  <a:cubicBezTo>
                    <a:pt x="10658222" y="0"/>
                    <a:pt x="10723880" y="69687"/>
                    <a:pt x="10723880" y="155517"/>
                  </a:cubicBezTo>
                  <a:lnTo>
                    <a:pt x="10723880" y="6845449"/>
                  </a:lnTo>
                  <a:cubicBezTo>
                    <a:pt x="10723880" y="6931413"/>
                    <a:pt x="10658094" y="7000966"/>
                    <a:pt x="10577068" y="7000966"/>
                  </a:cubicBezTo>
                  <a:lnTo>
                    <a:pt x="146812" y="7000966"/>
                  </a:lnTo>
                  <a:cubicBezTo>
                    <a:pt x="65786" y="7000966"/>
                    <a:pt x="0" y="6931278"/>
                    <a:pt x="0" y="68454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03020" y="4636008"/>
            <a:ext cx="7132320" cy="480060"/>
            <a:chOff x="0" y="0"/>
            <a:chExt cx="950976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950976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Diagnostic Criterion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03020" y="5280660"/>
            <a:ext cx="7132320" cy="1165860"/>
            <a:chOff x="0" y="0"/>
            <a:chExt cx="9509760" cy="15544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50976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418320" y="0"/>
                  </a:lnTo>
                  <a:cubicBezTo>
                    <a:pt x="9468865" y="0"/>
                    <a:pt x="9509760" y="40894"/>
                    <a:pt x="9509760" y="91440"/>
                  </a:cubicBezTo>
                  <a:lnTo>
                    <a:pt x="9509760" y="1463040"/>
                  </a:lnTo>
                  <a:cubicBezTo>
                    <a:pt x="9509760" y="1513586"/>
                    <a:pt x="9468865" y="1554480"/>
                    <a:pt x="9418320" y="1554480"/>
                  </a:cubicBezTo>
                  <a:lnTo>
                    <a:pt x="91440" y="1554480"/>
                  </a:lnTo>
                  <a:cubicBezTo>
                    <a:pt x="40894" y="1554480"/>
                    <a:pt x="0" y="1513586"/>
                    <a:pt x="0" y="1463040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77340" y="5280660"/>
            <a:ext cx="6583680" cy="1165860"/>
            <a:chOff x="0" y="0"/>
            <a:chExt cx="8778240" cy="1554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782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3" r="0" b="-6003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877824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 i="true">
                  <a:solidFill>
                    <a:srgbClr val="FFFF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A disease d is reported when its gate symptoms G(d) are all present</a:t>
              </a:r>
            </a:p>
            <a:p>
              <a:pPr algn="l">
                <a:lnSpc>
                  <a:spcPts val="2376"/>
                </a:lnSpc>
              </a:pPr>
              <a:r>
                <a:rPr lang="en-US" sz="1650" i="true">
                  <a:solidFill>
                    <a:srgbClr val="FFFF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AND at least θd of its supporting symptoms S(d) are present.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03020" y="6652260"/>
            <a:ext cx="7132320" cy="1508760"/>
            <a:chOff x="0" y="0"/>
            <a:chExt cx="9509760" cy="2011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5097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950976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Example — Tuberculosis: gate = {normal fever, chest pain, fatigue, chills}, supporting set has 4 symptoms, θ = 2. The gate keeps the branch specific; the threshold stops a diagnosis being issued on one generic symptom.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03020" y="8229600"/>
            <a:ext cx="7132320" cy="822960"/>
            <a:chOff x="0" y="0"/>
            <a:chExt cx="950976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95097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Example — Dengue: high fever gate, 7-symptom supporting set, θ = 5.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111615" y="4311015"/>
            <a:ext cx="8317230" cy="5250724"/>
            <a:chOff x="0" y="0"/>
            <a:chExt cx="11089640" cy="700096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089640" cy="7000966"/>
            </a:xfrm>
            <a:custGeom>
              <a:avLst/>
              <a:gdLst/>
              <a:ahLst/>
              <a:cxnLst/>
              <a:rect r="r" b="b" t="t" l="l"/>
              <a:pathLst>
                <a:path h="7000966" w="11089640">
                  <a:moveTo>
                    <a:pt x="0" y="155517"/>
                  </a:moveTo>
                  <a:cubicBezTo>
                    <a:pt x="0" y="69687"/>
                    <a:pt x="65786" y="0"/>
                    <a:pt x="146812" y="0"/>
                  </a:cubicBezTo>
                  <a:lnTo>
                    <a:pt x="10942828" y="0"/>
                  </a:lnTo>
                  <a:cubicBezTo>
                    <a:pt x="11023981" y="0"/>
                    <a:pt x="11089640" y="69687"/>
                    <a:pt x="11089640" y="155517"/>
                  </a:cubicBezTo>
                  <a:lnTo>
                    <a:pt x="11089640" y="6845449"/>
                  </a:lnTo>
                  <a:cubicBezTo>
                    <a:pt x="11089640" y="6931413"/>
                    <a:pt x="11023854" y="7000966"/>
                    <a:pt x="10942828" y="7000966"/>
                  </a:cubicBezTo>
                  <a:lnTo>
                    <a:pt x="146812" y="7000966"/>
                  </a:lnTo>
                  <a:cubicBezTo>
                    <a:pt x="65786" y="7000966"/>
                    <a:pt x="0" y="6931278"/>
                    <a:pt x="0" y="68454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601200" y="4636008"/>
            <a:ext cx="7543800" cy="480060"/>
            <a:chOff x="0" y="0"/>
            <a:chExt cx="10058400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0058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Salience Resolves Shared Branches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01200" y="5212080"/>
            <a:ext cx="7543800" cy="960120"/>
            <a:chOff x="0" y="0"/>
            <a:chExt cx="10058400" cy="12801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058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1005840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Several diseases live in the same question branch. Salience orders which is tested first, so the more specific disease is offered before the general one.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601200" y="6309360"/>
            <a:ext cx="7338060" cy="850392"/>
            <a:chOff x="0" y="0"/>
            <a:chExt cx="9784080" cy="11338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7840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784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692640" y="0"/>
                  </a:lnTo>
                  <a:cubicBezTo>
                    <a:pt x="9743186" y="0"/>
                    <a:pt x="9784080" y="40894"/>
                    <a:pt x="9784080" y="91440"/>
                  </a:cubicBezTo>
                  <a:lnTo>
                    <a:pt x="9784080" y="1042416"/>
                  </a:lnTo>
                  <a:cubicBezTo>
                    <a:pt x="9784080" y="1092962"/>
                    <a:pt x="9743186" y="1133856"/>
                    <a:pt x="9692640" y="1133856"/>
                  </a:cubicBezTo>
                  <a:lnTo>
                    <a:pt x="91440" y="1133856"/>
                  </a:lnTo>
                  <a:cubicBezTo>
                    <a:pt x="40894" y="1133856"/>
                    <a:pt x="0" y="1092962"/>
                    <a:pt x="0" y="1042416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06940" y="6391656"/>
            <a:ext cx="1920240" cy="685800"/>
            <a:chOff x="0" y="0"/>
            <a:chExt cx="256032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60320" cy="914400"/>
            </a:xfrm>
            <a:custGeom>
              <a:avLst/>
              <a:gdLst/>
              <a:ahLst/>
              <a:cxnLst/>
              <a:rect r="r" b="b" t="t" l="l"/>
              <a:pathLst>
                <a:path h="9144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25603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 fever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198039" y="6391656"/>
            <a:ext cx="5535481" cy="685800"/>
            <a:chOff x="0" y="0"/>
            <a:chExt cx="7380641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80642" cy="914400"/>
            </a:xfrm>
            <a:custGeom>
              <a:avLst/>
              <a:gdLst/>
              <a:ahLst/>
              <a:cxnLst/>
              <a:rect r="r" b="b" t="t" l="l"/>
              <a:pathLst>
                <a:path h="914400" w="7380642">
                  <a:moveTo>
                    <a:pt x="0" y="0"/>
                  </a:moveTo>
                  <a:lnTo>
                    <a:pt x="7380642" y="0"/>
                  </a:lnTo>
                  <a:lnTo>
                    <a:pt x="738064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10798" b="-9029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7380641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Dengue (0) → Typhoid (–10) → Chikungunya (–20)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601200" y="7324344"/>
            <a:ext cx="7338060" cy="850392"/>
            <a:chOff x="0" y="0"/>
            <a:chExt cx="9784080" cy="113385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7840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784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692640" y="0"/>
                  </a:lnTo>
                  <a:cubicBezTo>
                    <a:pt x="9743186" y="0"/>
                    <a:pt x="9784080" y="40894"/>
                    <a:pt x="9784080" y="91440"/>
                  </a:cubicBezTo>
                  <a:lnTo>
                    <a:pt x="9784080" y="1042416"/>
                  </a:lnTo>
                  <a:cubicBezTo>
                    <a:pt x="9784080" y="1092962"/>
                    <a:pt x="9743186" y="1133856"/>
                    <a:pt x="9692640" y="1133856"/>
                  </a:cubicBezTo>
                  <a:lnTo>
                    <a:pt x="91440" y="1133856"/>
                  </a:lnTo>
                  <a:cubicBezTo>
                    <a:pt x="40894" y="1133856"/>
                    <a:pt x="0" y="1092962"/>
                    <a:pt x="0" y="1042416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806940" y="7406640"/>
            <a:ext cx="1920240" cy="685800"/>
            <a:chOff x="0" y="0"/>
            <a:chExt cx="2560320" cy="914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560320" cy="914400"/>
            </a:xfrm>
            <a:custGeom>
              <a:avLst/>
              <a:gdLst/>
              <a:ahLst/>
              <a:cxnLst/>
              <a:rect r="r" b="b" t="t" l="l"/>
              <a:pathLst>
                <a:path h="9144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25603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Low fever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198039" y="7406640"/>
            <a:ext cx="5535481" cy="685800"/>
            <a:chOff x="0" y="0"/>
            <a:chExt cx="7380641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80642" cy="914400"/>
            </a:xfrm>
            <a:custGeom>
              <a:avLst/>
              <a:gdLst/>
              <a:ahLst/>
              <a:cxnLst/>
              <a:rect r="r" b="b" t="t" l="l"/>
              <a:pathLst>
                <a:path h="914400" w="7380642">
                  <a:moveTo>
                    <a:pt x="0" y="0"/>
                  </a:moveTo>
                  <a:lnTo>
                    <a:pt x="7380642" y="0"/>
                  </a:lnTo>
                  <a:lnTo>
                    <a:pt x="738064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10798" b="-9029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7380641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Bronchitis (0) → Sinusitis (–10) → Common cold (–20)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01200" y="8339328"/>
            <a:ext cx="7338060" cy="850392"/>
            <a:chOff x="0" y="0"/>
            <a:chExt cx="9784080" cy="113385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7840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7840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692640" y="0"/>
                  </a:lnTo>
                  <a:cubicBezTo>
                    <a:pt x="9743186" y="0"/>
                    <a:pt x="9784080" y="40894"/>
                    <a:pt x="9784080" y="91440"/>
                  </a:cubicBezTo>
                  <a:lnTo>
                    <a:pt x="9784080" y="1042416"/>
                  </a:lnTo>
                  <a:cubicBezTo>
                    <a:pt x="9784080" y="1092962"/>
                    <a:pt x="9743186" y="1133856"/>
                    <a:pt x="9692640" y="1133856"/>
                  </a:cubicBezTo>
                  <a:lnTo>
                    <a:pt x="91440" y="1133856"/>
                  </a:lnTo>
                  <a:cubicBezTo>
                    <a:pt x="40894" y="1133856"/>
                    <a:pt x="0" y="1092962"/>
                    <a:pt x="0" y="1042416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806940" y="8421624"/>
            <a:ext cx="1920240" cy="685800"/>
            <a:chOff x="0" y="0"/>
            <a:chExt cx="2560320" cy="914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560320" cy="914400"/>
            </a:xfrm>
            <a:custGeom>
              <a:avLst/>
              <a:gdLst/>
              <a:ahLst/>
              <a:cxnLst/>
              <a:rect r="r" b="b" t="t" l="l"/>
              <a:pathLst>
                <a:path h="9144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25603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Breathlessness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386793" y="8421624"/>
            <a:ext cx="5346727" cy="685800"/>
            <a:chOff x="0" y="0"/>
            <a:chExt cx="7128969" cy="914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128970" cy="914400"/>
            </a:xfrm>
            <a:custGeom>
              <a:avLst/>
              <a:gdLst/>
              <a:ahLst/>
              <a:cxnLst/>
              <a:rect r="r" b="b" t="t" l="l"/>
              <a:pathLst>
                <a:path h="914400" w="7128970">
                  <a:moveTo>
                    <a:pt x="0" y="0"/>
                  </a:moveTo>
                  <a:lnTo>
                    <a:pt x="7128970" y="0"/>
                  </a:lnTo>
                  <a:lnTo>
                    <a:pt x="712897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7648" b="-9029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7128969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Asthma (0) → COPD (–10)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666B7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Medical Diagnosis Expert System</a:t>
              </a:r>
              <a:r>
                <a:rPr lang="en-US" b="true" sz="1399">
                  <a:solidFill>
                    <a:srgbClr val="666B7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| CSE440          Group No.3          Abid | Gazi | Apurbo | Fiad 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Implementation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One rule base drives a console engine and a Flask web app through stateless replay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8111490" cy="2967990"/>
            <a:chOff x="0" y="0"/>
            <a:chExt cx="10815320" cy="395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53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3810127"/>
                  </a:lnTo>
                  <a:cubicBezTo>
                    <a:pt x="10815320" y="3891407"/>
                    <a:pt x="10749407" y="3957320"/>
                    <a:pt x="106681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086100"/>
            <a:ext cx="617220" cy="109728"/>
            <a:chOff x="0" y="0"/>
            <a:chExt cx="822960" cy="1463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3332988"/>
            <a:ext cx="7269480" cy="548640"/>
            <a:chOff x="0" y="0"/>
            <a:chExt cx="969264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Console Diagnosis Engine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3977640"/>
            <a:ext cx="7269480" cy="1440180"/>
            <a:chOff x="0" y="0"/>
            <a:chExt cx="9692640" cy="192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926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3" r="0" b="-483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69264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4"/>
                </a:lnSpc>
              </a:pPr>
              <a:r>
                <a:rPr lang="en-US" sz="21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expert.py holds the MedicalExpert knowledge engine with all 46 rules and prints a full terminal consultation.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17355" y="2665095"/>
            <a:ext cx="8111490" cy="2967990"/>
            <a:chOff x="0" y="0"/>
            <a:chExt cx="10815320" cy="3957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153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3810127"/>
                  </a:lnTo>
                  <a:cubicBezTo>
                    <a:pt x="10815320" y="3891407"/>
                    <a:pt x="10749407" y="3957320"/>
                    <a:pt x="106681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738360" y="3086100"/>
            <a:ext cx="617220" cy="109728"/>
            <a:chOff x="0" y="0"/>
            <a:chExt cx="822960" cy="1463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38360" y="3332988"/>
            <a:ext cx="7269480" cy="548640"/>
            <a:chOff x="0" y="0"/>
            <a:chExt cx="96926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Web-Based Interface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38360" y="3977640"/>
            <a:ext cx="7269480" cy="1440180"/>
            <a:chOff x="0" y="0"/>
            <a:chExt cx="9692640" cy="1920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926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3" r="0" b="-483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69264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4"/>
                </a:lnSpc>
              </a:pPr>
              <a:r>
                <a:rPr lang="en-US" sz="21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web.py built in Flask. 10 routes render questions, store answers and return early predictions as HTML fragments.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3435" y="6025515"/>
            <a:ext cx="8111490" cy="2967990"/>
            <a:chOff x="0" y="0"/>
            <a:chExt cx="10815320" cy="3957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153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3810127"/>
                  </a:lnTo>
                  <a:cubicBezTo>
                    <a:pt x="10815320" y="3891407"/>
                    <a:pt x="10749407" y="3957320"/>
                    <a:pt x="106681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" y="6446520"/>
            <a:ext cx="617220" cy="109728"/>
            <a:chOff x="0" y="0"/>
            <a:chExt cx="822960" cy="1463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" y="6693408"/>
            <a:ext cx="7269480" cy="548640"/>
            <a:chOff x="0" y="0"/>
            <a:chExt cx="96926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Stateless Engine Replay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" y="7338060"/>
            <a:ext cx="7269480" cy="1440180"/>
            <a:chOff x="0" y="0"/>
            <a:chExt cx="9692640" cy="1920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926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3" r="0" b="-4835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69264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4"/>
                </a:lnSpc>
              </a:pPr>
              <a:r>
                <a:rPr lang="en-US" sz="21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EngineIOAdapter re-runs the console engine on every request and pauses on the first unanswered question — the web layer holds no diagnostic logic of its own.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17355" y="6025515"/>
            <a:ext cx="8111490" cy="2967990"/>
            <a:chOff x="0" y="0"/>
            <a:chExt cx="10815320" cy="3957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153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3810127"/>
                  </a:lnTo>
                  <a:cubicBezTo>
                    <a:pt x="10815320" y="3891407"/>
                    <a:pt x="10749407" y="3957320"/>
                    <a:pt x="106681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738360" y="6446520"/>
            <a:ext cx="617220" cy="109728"/>
            <a:chOff x="0" y="0"/>
            <a:chExt cx="822960" cy="1463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738360" y="6693408"/>
            <a:ext cx="7269480" cy="548640"/>
            <a:chOff x="0" y="0"/>
            <a:chExt cx="969264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9692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Treatment &amp; PDF Module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38360" y="7338060"/>
            <a:ext cx="7269480" cy="1440180"/>
            <a:chOff x="0" y="0"/>
            <a:chExt cx="9692640" cy="1920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926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3" r="0" b="-4835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969264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4"/>
                </a:lnSpc>
              </a:pPr>
              <a:r>
                <a:rPr lang="en-US" sz="21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Per-disease Markdown/HTML treatment files, plus a from-scratch PDF writer that lays out a report with no external PDF library.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9121140"/>
            <a:ext cx="16596360" cy="480060"/>
            <a:chOff x="0" y="0"/>
            <a:chExt cx="2212848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128480" cy="640080"/>
            </a:xfrm>
            <a:custGeom>
              <a:avLst/>
              <a:gdLst/>
              <a:ahLst/>
              <a:cxnLst/>
              <a:rect r="r" b="b" t="t" l="l"/>
              <a:pathLst>
                <a:path h="6400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625" r="0" b="-62362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221284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666B7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Main tools:  Python 3.8+  •  Experta 1.9.4  •  Flask 3.1.3  •  HTML/CSS/JS  •  Custom PDF writer  •  LibreOffice (.ods)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</a:t>
              </a: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 | CSE440         Group No.3        Abid | Gazi | Apurbo | Fiad 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Disease Knowledge Base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31 supported diseases organized into 7 clinical symptom groups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743200"/>
            <a:ext cx="2276856" cy="2125980"/>
            <a:chOff x="0" y="0"/>
            <a:chExt cx="3035808" cy="2834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990088"/>
            <a:ext cx="2276856" cy="822960"/>
            <a:chOff x="0" y="0"/>
            <a:chExt cx="3035808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2688" y="3977640"/>
            <a:ext cx="2057400" cy="754380"/>
            <a:chOff x="0" y="0"/>
            <a:chExt cx="274320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Respiratory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291840" y="2743200"/>
            <a:ext cx="2276856" cy="2125980"/>
            <a:chOff x="0" y="0"/>
            <a:chExt cx="3035808" cy="2834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291840" y="2990088"/>
            <a:ext cx="2276856" cy="822960"/>
            <a:chOff x="0" y="0"/>
            <a:chExt cx="3035808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401568" y="3977640"/>
            <a:ext cx="2057400" cy="754380"/>
            <a:chOff x="0" y="0"/>
            <a:chExt cx="274320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Vector-borne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760720" y="2743200"/>
            <a:ext cx="2276856" cy="2125980"/>
            <a:chOff x="0" y="0"/>
            <a:chExt cx="3035808" cy="2834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760720" y="2990088"/>
            <a:ext cx="2276856" cy="822960"/>
            <a:chOff x="0" y="0"/>
            <a:chExt cx="3035808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870448" y="3977640"/>
            <a:ext cx="2057400" cy="754380"/>
            <a:chOff x="0" y="0"/>
            <a:chExt cx="27432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 / Hepatic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0" y="2743200"/>
            <a:ext cx="2276856" cy="2125980"/>
            <a:chOff x="0" y="0"/>
            <a:chExt cx="3035808" cy="2834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9C835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0" y="2990088"/>
            <a:ext cx="2276856" cy="822960"/>
            <a:chOff x="0" y="0"/>
            <a:chExt cx="3035808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339328" y="3977640"/>
            <a:ext cx="2057400" cy="754380"/>
            <a:chOff x="0" y="0"/>
            <a:chExt cx="274320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Metabolic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698480" y="2743200"/>
            <a:ext cx="2276856" cy="2125980"/>
            <a:chOff x="0" y="0"/>
            <a:chExt cx="3035808" cy="2834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A65D7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698480" y="2990088"/>
            <a:ext cx="2276856" cy="822960"/>
            <a:chOff x="0" y="0"/>
            <a:chExt cx="3035808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808208" y="3977640"/>
            <a:ext cx="2057400" cy="754380"/>
            <a:chOff x="0" y="0"/>
            <a:chExt cx="274320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Eye-related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167360" y="2743200"/>
            <a:ext cx="2276856" cy="2125980"/>
            <a:chOff x="0" y="0"/>
            <a:chExt cx="3035808" cy="2834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5B5A7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167360" y="2990088"/>
            <a:ext cx="2276856" cy="822960"/>
            <a:chOff x="0" y="0"/>
            <a:chExt cx="3035808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277088" y="3977640"/>
            <a:ext cx="2057400" cy="754380"/>
            <a:chOff x="0" y="0"/>
            <a:chExt cx="2743200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Cardiovascular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636240" y="2743200"/>
            <a:ext cx="2276856" cy="2125980"/>
            <a:chOff x="0" y="0"/>
            <a:chExt cx="3035808" cy="2834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35808" cy="2834640"/>
            </a:xfrm>
            <a:custGeom>
              <a:avLst/>
              <a:gdLst/>
              <a:ahLst/>
              <a:cxnLst/>
              <a:rect r="r" b="b" t="t" l="l"/>
              <a:pathLst>
                <a:path h="2834640" w="30358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9504" y="0"/>
                  </a:lnTo>
                  <a:cubicBezTo>
                    <a:pt x="2970276" y="0"/>
                    <a:pt x="3035808" y="65532"/>
                    <a:pt x="3035808" y="146304"/>
                  </a:cubicBezTo>
                  <a:lnTo>
                    <a:pt x="3035808" y="2688336"/>
                  </a:lnTo>
                  <a:cubicBezTo>
                    <a:pt x="3035808" y="2769108"/>
                    <a:pt x="2970276" y="2834640"/>
                    <a:pt x="2889504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8C6C4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5636240" y="2990088"/>
            <a:ext cx="2276856" cy="822960"/>
            <a:chOff x="0" y="0"/>
            <a:chExt cx="3035808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358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8" r="0" b="-390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0358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745968" y="3977640"/>
            <a:ext cx="2057400" cy="754380"/>
            <a:chOff x="0" y="0"/>
            <a:chExt cx="2743200" cy="10058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7432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Musculoskeletal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32688" y="5511165"/>
            <a:ext cx="16615410" cy="3928110"/>
            <a:chOff x="0" y="0"/>
            <a:chExt cx="22153880" cy="52374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153879" cy="5237480"/>
            </a:xfrm>
            <a:custGeom>
              <a:avLst/>
              <a:gdLst/>
              <a:ahLst/>
              <a:cxnLst/>
              <a:rect r="r" b="b" t="t" l="l"/>
              <a:pathLst>
                <a:path h="5237480" w="22153879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22006813" y="0"/>
                  </a:lnTo>
                  <a:cubicBezTo>
                    <a:pt x="22087967" y="0"/>
                    <a:pt x="22153879" y="65786"/>
                    <a:pt x="22153879" y="147066"/>
                  </a:cubicBezTo>
                  <a:lnTo>
                    <a:pt x="22153879" y="5090414"/>
                  </a:lnTo>
                  <a:cubicBezTo>
                    <a:pt x="22153879" y="5171567"/>
                    <a:pt x="22088094" y="5237480"/>
                    <a:pt x="22006813" y="5237480"/>
                  </a:cubicBezTo>
                  <a:lnTo>
                    <a:pt x="147066" y="5237480"/>
                  </a:lnTo>
                  <a:cubicBezTo>
                    <a:pt x="65786" y="5237480"/>
                    <a:pt x="0" y="5171694"/>
                    <a:pt x="0" y="509041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03020" y="5596128"/>
            <a:ext cx="15636240" cy="493663"/>
            <a:chOff x="0" y="0"/>
            <a:chExt cx="20848320" cy="65821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848320" cy="658217"/>
            </a:xfrm>
            <a:custGeom>
              <a:avLst/>
              <a:gdLst/>
              <a:ahLst/>
              <a:cxnLst/>
              <a:rect r="r" b="b" t="t" l="l"/>
              <a:pathLst>
                <a:path h="658217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58217"/>
                  </a:lnTo>
                  <a:lnTo>
                    <a:pt x="0" y="658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545" r="0" b="-56578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20848320" cy="667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Category Distribution Highlights the Prototype's Breadth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03020" y="6240780"/>
            <a:ext cx="15636240" cy="548640"/>
            <a:chOff x="0" y="0"/>
            <a:chExt cx="2084832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84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208483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1 Diabetes  2 Coronary Arteriosclerosis  3 Pneumonia  4 Asthma  5 Anemia  6 Hypothyroidism  7 AIDS  8 Dehydration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03020" y="6858000"/>
            <a:ext cx="15636240" cy="548640"/>
            <a:chOff x="0" y="0"/>
            <a:chExt cx="2084832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084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08483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9 Obesity  10 Arthritis  11 Bronchitis  12 Pancreatitis  13 Peptic Ulcer  14 Gastritis  15 Hepatitis  16 Influenza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03020" y="7475220"/>
            <a:ext cx="15636240" cy="548640"/>
            <a:chOff x="0" y="0"/>
            <a:chExt cx="2084832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84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08483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17 Tuberculosis  18 Malaria  19 Dengue  20 Corona Virus  21 Conjunctivitis  22 Eye Allergy  23 Typhoid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03020" y="8092440"/>
            <a:ext cx="15636240" cy="548640"/>
            <a:chOff x="0" y="0"/>
            <a:chExt cx="2084832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84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208483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24 Chikungunya  25 Sinusitis  26 Common Cold  27 UTI  28 Gastroenteritis  29 COPD  30 Hyperthyroidism  31 Dry Eye Syndrome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85800" y="9848088"/>
            <a:ext cx="9601200" cy="495932"/>
            <a:chOff x="0" y="0"/>
            <a:chExt cx="12801600" cy="66124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2801600" cy="661243"/>
            </a:xfrm>
            <a:custGeom>
              <a:avLst/>
              <a:gdLst/>
              <a:ahLst/>
              <a:cxnLst/>
              <a:rect r="r" b="b" t="t" l="l"/>
              <a:pathLst>
                <a:path h="661243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61243"/>
                  </a:lnTo>
                  <a:lnTo>
                    <a:pt x="0" y="6612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508" r="0" b="-31594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2801600" cy="680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| CSE440          Group No.3          Abid | Gazi | Apurbo | Fiad</a:t>
              </a:r>
            </a:p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Symptom Categories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The 172 symptom questions are organized into 8 clinical categories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3996690" cy="2967990"/>
            <a:chOff x="0" y="0"/>
            <a:chExt cx="5328920" cy="395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3017520"/>
            <a:ext cx="548640" cy="96012"/>
            <a:chOff x="0" y="0"/>
            <a:chExt cx="731520" cy="128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3223260"/>
            <a:ext cx="3291840" cy="754380"/>
            <a:chOff x="0" y="0"/>
            <a:chExt cx="438912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3891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1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Respiratory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" y="4018788"/>
            <a:ext cx="3291840" cy="1440180"/>
            <a:chOff x="0" y="0"/>
            <a:chExt cx="4389120" cy="192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cough, chest pain, wheezing, breathlessness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65395" y="2665095"/>
            <a:ext cx="3996690" cy="2967990"/>
            <a:chOff x="0" y="0"/>
            <a:chExt cx="5328920" cy="3957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417820" y="3017520"/>
            <a:ext cx="548640" cy="96012"/>
            <a:chOff x="0" y="0"/>
            <a:chExt cx="731520" cy="1280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17820" y="3223260"/>
            <a:ext cx="3291840" cy="754380"/>
            <a:chOff x="0" y="0"/>
            <a:chExt cx="438912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43891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1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Gastrointestinal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17820" y="4018788"/>
            <a:ext cx="3291840" cy="1440180"/>
            <a:chOff x="0" y="0"/>
            <a:chExt cx="4389120" cy="1920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nausea, vomiting, abdominal pain, bloating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17355" y="2665095"/>
            <a:ext cx="3996690" cy="2967990"/>
            <a:chOff x="0" y="0"/>
            <a:chExt cx="5328920" cy="3957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669780" y="3017520"/>
            <a:ext cx="548640" cy="96012"/>
            <a:chOff x="0" y="0"/>
            <a:chExt cx="731520" cy="1280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69780" y="3223260"/>
            <a:ext cx="3291840" cy="754380"/>
            <a:chOff x="0" y="0"/>
            <a:chExt cx="438912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3891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1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Hepatic / Urinary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69780" y="4018788"/>
            <a:ext cx="3291840" cy="1440180"/>
            <a:chOff x="0" y="0"/>
            <a:chExt cx="4389120" cy="1920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dark urine, pale stool, jaundice, burning urination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569315" y="2665095"/>
            <a:ext cx="3996690" cy="2967990"/>
            <a:chOff x="0" y="0"/>
            <a:chExt cx="5328920" cy="3957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921740" y="3017520"/>
            <a:ext cx="548640" cy="96012"/>
            <a:chOff x="0" y="0"/>
            <a:chExt cx="731520" cy="1280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921740" y="3223260"/>
            <a:ext cx="3291840" cy="754380"/>
            <a:chOff x="0" y="0"/>
            <a:chExt cx="4389120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43891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1"/>
                </a:lnSpc>
              </a:pPr>
              <a:r>
                <a:rPr lang="en-US" sz="2199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Vector-borne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921740" y="4018788"/>
            <a:ext cx="3291840" cy="1440180"/>
            <a:chOff x="0" y="0"/>
            <a:chExt cx="4389120" cy="1920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high fever, rash, retro-orbital pain, joint pain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13435" y="5956935"/>
            <a:ext cx="3996690" cy="2967990"/>
            <a:chOff x="0" y="0"/>
            <a:chExt cx="5328920" cy="39573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65860" y="6309360"/>
            <a:ext cx="548640" cy="96012"/>
            <a:chOff x="0" y="0"/>
            <a:chExt cx="731520" cy="1280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65860" y="6515100"/>
            <a:ext cx="3291840" cy="754380"/>
            <a:chOff x="0" y="0"/>
            <a:chExt cx="4389120" cy="1005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389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875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Metabolic / Endocrine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65860" y="7310628"/>
            <a:ext cx="3291840" cy="1440180"/>
            <a:chOff x="0" y="0"/>
            <a:chExt cx="4389120" cy="1920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thirst, frequent urination, weight change, heat intolerance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065395" y="5956935"/>
            <a:ext cx="3996690" cy="2967990"/>
            <a:chOff x="0" y="0"/>
            <a:chExt cx="5328920" cy="39573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5417820" y="6309360"/>
            <a:ext cx="548640" cy="96012"/>
            <a:chOff x="0" y="0"/>
            <a:chExt cx="731520" cy="1280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417820" y="6515100"/>
            <a:ext cx="3291840" cy="754380"/>
            <a:chOff x="0" y="0"/>
            <a:chExt cx="4389120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389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875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Cardiovascular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417820" y="7310628"/>
            <a:ext cx="3291840" cy="1440180"/>
            <a:chOff x="0" y="0"/>
            <a:chExt cx="4389120" cy="19202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chest heaviness, arm pain, irregular heartbeat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17355" y="5956935"/>
            <a:ext cx="3996690" cy="2967990"/>
            <a:chOff x="0" y="0"/>
            <a:chExt cx="5328920" cy="39573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669780" y="6309360"/>
            <a:ext cx="548640" cy="96012"/>
            <a:chOff x="0" y="0"/>
            <a:chExt cx="731520" cy="1280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69780" y="6515100"/>
            <a:ext cx="3291840" cy="754380"/>
            <a:chOff x="0" y="0"/>
            <a:chExt cx="4389120" cy="10058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389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875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Eye-related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669780" y="7310628"/>
            <a:ext cx="3291840" cy="1440180"/>
            <a:chOff x="0" y="0"/>
            <a:chExt cx="4389120" cy="19202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redness, crusting, irritation, gritty feeling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569315" y="5956935"/>
            <a:ext cx="3996690" cy="2967990"/>
            <a:chOff x="0" y="0"/>
            <a:chExt cx="5328920" cy="39573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2892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3289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81727" y="0"/>
                  </a:lnTo>
                  <a:cubicBezTo>
                    <a:pt x="5263007" y="0"/>
                    <a:pt x="5328920" y="65913"/>
                    <a:pt x="5328920" y="147193"/>
                  </a:cubicBezTo>
                  <a:lnTo>
                    <a:pt x="5328920" y="3810127"/>
                  </a:lnTo>
                  <a:cubicBezTo>
                    <a:pt x="5328920" y="3891407"/>
                    <a:pt x="5263007" y="3957320"/>
                    <a:pt x="518172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3921740" y="6309360"/>
            <a:ext cx="548640" cy="96012"/>
            <a:chOff x="0" y="0"/>
            <a:chExt cx="731520" cy="1280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1520" cy="128016"/>
            </a:xfrm>
            <a:custGeom>
              <a:avLst/>
              <a:gdLst/>
              <a:ahLst/>
              <a:cxnLst/>
              <a:rect r="r" b="b" t="t" l="l"/>
              <a:pathLst>
                <a:path h="1280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921740" y="6515100"/>
            <a:ext cx="3291840" cy="754380"/>
            <a:chOff x="0" y="0"/>
            <a:chExt cx="4389120" cy="10058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389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875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General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921740" y="7310628"/>
            <a:ext cx="3291840" cy="1440180"/>
            <a:chOff x="0" y="0"/>
            <a:chExt cx="4389120" cy="19202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3891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43891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fatigue, chills, night sweats, appetite loss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22960" y="9121140"/>
            <a:ext cx="16596360" cy="480060"/>
            <a:chOff x="0" y="0"/>
            <a:chExt cx="22128480" cy="6400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2128480" cy="640080"/>
            </a:xfrm>
            <a:custGeom>
              <a:avLst/>
              <a:gdLst/>
              <a:ahLst/>
              <a:cxnLst/>
              <a:rect r="r" b="b" t="t" l="l"/>
              <a:pathLst>
                <a:path h="6400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625" r="0" b="-62362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221284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i="true">
                  <a:solidFill>
                    <a:srgbClr val="666B7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Example symptoms shown per category; the full reference table lives in symptoms.ods (246 disease-symptom entries).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85800" y="9848088"/>
            <a:ext cx="9601200" cy="495932"/>
            <a:chOff x="0" y="0"/>
            <a:chExt cx="12801600" cy="66124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801600" cy="661243"/>
            </a:xfrm>
            <a:custGeom>
              <a:avLst/>
              <a:gdLst/>
              <a:ahLst/>
              <a:cxnLst/>
              <a:rect r="r" b="b" t="t" l="l"/>
              <a:pathLst>
                <a:path h="661243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61243"/>
                  </a:lnTo>
                  <a:lnTo>
                    <a:pt x="0" y="6612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508" r="0" b="-31594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12801600" cy="680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| CSE440          Group No.3         AbId | Gazi | Apurbo | Fiad</a:t>
              </a:r>
            </a:p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68673"/>
            <a:chOff x="0" y="0"/>
            <a:chExt cx="22128480" cy="1158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58230"/>
            </a:xfrm>
            <a:custGeom>
              <a:avLst/>
              <a:gdLst/>
              <a:ahLst/>
              <a:cxnLst/>
              <a:rect r="r" b="b" t="t" l="l"/>
              <a:pathLst>
                <a:path h="115823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58230"/>
                  </a:lnTo>
                  <a:lnTo>
                    <a:pt x="0" y="1158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901" r="0" b="-31963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Supported Diseases by Category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Respiratory and vector-borne conditions form the largest groups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848088"/>
            <a:ext cx="9601200" cy="495932"/>
            <a:chOff x="0" y="0"/>
            <a:chExt cx="12801600" cy="6612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00" cy="661243"/>
            </a:xfrm>
            <a:custGeom>
              <a:avLst/>
              <a:gdLst/>
              <a:ahLst/>
              <a:cxnLst/>
              <a:rect r="r" b="b" t="t" l="l"/>
              <a:pathLst>
                <a:path h="661243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61243"/>
                  </a:lnTo>
                  <a:lnTo>
                    <a:pt x="0" y="6612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508" r="0" b="-31594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2801600" cy="680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| CSE440       Group No.3        Abid | Gazi | Apurbo | Fiad</a:t>
              </a:r>
            </a:p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5800" y="2416849"/>
            <a:ext cx="16596360" cy="6603968"/>
          </a:xfrm>
          <a:custGeom>
            <a:avLst/>
            <a:gdLst/>
            <a:ahLst/>
            <a:cxnLst/>
            <a:rect r="r" b="b" t="t" l="l"/>
            <a:pathLst>
              <a:path h="6603968" w="16596360">
                <a:moveTo>
                  <a:pt x="0" y="0"/>
                </a:moveTo>
                <a:lnTo>
                  <a:pt x="16596360" y="0"/>
                </a:lnTo>
                <a:lnTo>
                  <a:pt x="16596360" y="6603968"/>
                </a:lnTo>
                <a:lnTo>
                  <a:pt x="0" y="6603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Testing and Evaluation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Scenario-based tests verify software behavior, not clinical accuracy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27935"/>
            <a:ext cx="5299710" cy="6739890"/>
            <a:chOff x="0" y="0"/>
            <a:chExt cx="7066280" cy="8986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8986520"/>
            </a:xfrm>
            <a:custGeom>
              <a:avLst/>
              <a:gdLst/>
              <a:ahLst/>
              <a:cxnLst/>
              <a:rect r="r" b="b" t="t" l="l"/>
              <a:pathLst>
                <a:path h="898652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839708"/>
                  </a:lnTo>
                  <a:cubicBezTo>
                    <a:pt x="7066280" y="8920861"/>
                    <a:pt x="7000494" y="8986520"/>
                    <a:pt x="6919468" y="8986520"/>
                  </a:cubicBezTo>
                  <a:lnTo>
                    <a:pt x="146812" y="8986520"/>
                  </a:lnTo>
                  <a:cubicBezTo>
                    <a:pt x="65786" y="8986520"/>
                    <a:pt x="0" y="8920734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852928"/>
            <a:ext cx="4526280" cy="480060"/>
            <a:chOff x="0" y="0"/>
            <a:chExt cx="603504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35040" cy="640080"/>
            </a:xfrm>
            <a:custGeom>
              <a:avLst/>
              <a:gdLst/>
              <a:ahLst/>
              <a:cxnLst/>
              <a:rect r="r" b="b" t="t" l="l"/>
              <a:pathLst>
                <a:path h="6400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03504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Functional Cases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497580"/>
            <a:ext cx="4457700" cy="1577340"/>
            <a:chOff x="0" y="0"/>
            <a:chExt cx="5943600" cy="2103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833872" y="0"/>
                  </a:lnTo>
                  <a:cubicBezTo>
                    <a:pt x="5894451" y="0"/>
                    <a:pt x="5943600" y="49149"/>
                    <a:pt x="5943600" y="109728"/>
                  </a:cubicBezTo>
                  <a:lnTo>
                    <a:pt x="5943600" y="1993392"/>
                  </a:lnTo>
                  <a:cubicBezTo>
                    <a:pt x="5943600" y="2053971"/>
                    <a:pt x="5894451" y="2103120"/>
                    <a:pt x="5833872" y="2103120"/>
                  </a:cubicBezTo>
                  <a:lnTo>
                    <a:pt x="109728" y="2103120"/>
                  </a:lnTo>
                  <a:cubicBezTo>
                    <a:pt x="49149" y="2103120"/>
                    <a:pt x="0" y="2053971"/>
                    <a:pt x="0" y="199339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40180" y="3607308"/>
            <a:ext cx="4046220" cy="1371600"/>
            <a:chOff x="0" y="0"/>
            <a:chExt cx="539496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4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0" r="0" b="-74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39496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Pneumonia, Dengue, Diabetes,</a:t>
              </a:r>
            </a:p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Asthma, TB and more —</a:t>
              </a:r>
            </a:p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disease reached matches</a:t>
              </a:r>
            </a:p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expected output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5280660"/>
            <a:ext cx="4457700" cy="1577340"/>
            <a:chOff x="0" y="0"/>
            <a:chExt cx="5943600" cy="2103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833872" y="0"/>
                  </a:lnTo>
                  <a:cubicBezTo>
                    <a:pt x="5894451" y="0"/>
                    <a:pt x="5943600" y="49149"/>
                    <a:pt x="5943600" y="109728"/>
                  </a:cubicBezTo>
                  <a:lnTo>
                    <a:pt x="5943600" y="1993392"/>
                  </a:lnTo>
                  <a:cubicBezTo>
                    <a:pt x="5943600" y="2053971"/>
                    <a:pt x="5894451" y="2103120"/>
                    <a:pt x="5833872" y="2103120"/>
                  </a:cubicBezTo>
                  <a:lnTo>
                    <a:pt x="109728" y="2103120"/>
                  </a:lnTo>
                  <a:cubicBezTo>
                    <a:pt x="49149" y="2103120"/>
                    <a:pt x="0" y="2053971"/>
                    <a:pt x="0" y="199339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40180" y="5383530"/>
            <a:ext cx="4046220" cy="1371600"/>
            <a:chOff x="0" y="0"/>
            <a:chExt cx="539496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94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0" r="0" b="-74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39496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Threshold tests: below-threshold</a:t>
              </a:r>
            </a:p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case yields no diagnosis; at-</a:t>
              </a:r>
            </a:p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threshold case yields it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" y="7063740"/>
            <a:ext cx="4457700" cy="1577340"/>
            <a:chOff x="0" y="0"/>
            <a:chExt cx="5943600" cy="2103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833872" y="0"/>
                  </a:lnTo>
                  <a:cubicBezTo>
                    <a:pt x="5894451" y="0"/>
                    <a:pt x="5943600" y="49149"/>
                    <a:pt x="5943600" y="109728"/>
                  </a:cubicBezTo>
                  <a:lnTo>
                    <a:pt x="5943600" y="1993392"/>
                  </a:lnTo>
                  <a:cubicBezTo>
                    <a:pt x="5943600" y="2053971"/>
                    <a:pt x="5894451" y="2103120"/>
                    <a:pt x="5833872" y="2103120"/>
                  </a:cubicBezTo>
                  <a:lnTo>
                    <a:pt x="109728" y="2103120"/>
                  </a:lnTo>
                  <a:cubicBezTo>
                    <a:pt x="49149" y="2103120"/>
                    <a:pt x="0" y="2053971"/>
                    <a:pt x="0" y="1993392"/>
                  </a:cubicBezTo>
                  <a:close/>
                </a:path>
              </a:pathLst>
            </a:custGeom>
            <a:solidFill>
              <a:srgbClr val="F8F2E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40180" y="7173468"/>
            <a:ext cx="4046220" cy="1371600"/>
            <a:chOff x="0" y="0"/>
            <a:chExt cx="539496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94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0" r="0" b="-748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539496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History tests: relaxation fires</a:t>
              </a:r>
            </a:p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only when the condition was</a:t>
              </a:r>
            </a:p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actually declared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68415" y="2527935"/>
            <a:ext cx="5505450" cy="6739890"/>
            <a:chOff x="0" y="0"/>
            <a:chExt cx="7340600" cy="8986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40600" cy="8986520"/>
            </a:xfrm>
            <a:custGeom>
              <a:avLst/>
              <a:gdLst/>
              <a:ahLst/>
              <a:cxnLst/>
              <a:rect r="r" b="b" t="t" l="l"/>
              <a:pathLst>
                <a:path h="8986520" w="73406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193788" y="0"/>
                  </a:lnTo>
                  <a:cubicBezTo>
                    <a:pt x="7274814" y="0"/>
                    <a:pt x="7340600" y="65786"/>
                    <a:pt x="7340600" y="146812"/>
                  </a:cubicBezTo>
                  <a:lnTo>
                    <a:pt x="7340600" y="8839708"/>
                  </a:lnTo>
                  <a:cubicBezTo>
                    <a:pt x="7340600" y="8920734"/>
                    <a:pt x="7274814" y="8986520"/>
                    <a:pt x="7193788" y="8986520"/>
                  </a:cubicBezTo>
                  <a:lnTo>
                    <a:pt x="146812" y="8986520"/>
                  </a:lnTo>
                  <a:cubicBezTo>
                    <a:pt x="65786" y="8986520"/>
                    <a:pt x="0" y="8920734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789420" y="2852928"/>
            <a:ext cx="4663440" cy="480060"/>
            <a:chOff x="0" y="0"/>
            <a:chExt cx="621792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2179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Sample Trace — Asthma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652260" y="3332988"/>
            <a:ext cx="4663440" cy="5582412"/>
            <a:chOff x="0" y="0"/>
            <a:chExt cx="6217920" cy="7443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17920" cy="7443216"/>
            </a:xfrm>
            <a:custGeom>
              <a:avLst/>
              <a:gdLst/>
              <a:ahLst/>
              <a:cxnLst/>
              <a:rect r="r" b="b" t="t" l="l"/>
              <a:pathLst>
                <a:path h="7443216" w="6217920">
                  <a:moveTo>
                    <a:pt x="0" y="120052"/>
                  </a:moveTo>
                  <a:cubicBezTo>
                    <a:pt x="0" y="53690"/>
                    <a:pt x="40894" y="0"/>
                    <a:pt x="91440" y="0"/>
                  </a:cubicBezTo>
                  <a:lnTo>
                    <a:pt x="6126480" y="0"/>
                  </a:lnTo>
                  <a:cubicBezTo>
                    <a:pt x="6177026" y="0"/>
                    <a:pt x="6217920" y="53690"/>
                    <a:pt x="6217920" y="120052"/>
                  </a:cubicBezTo>
                  <a:lnTo>
                    <a:pt x="6217920" y="7323165"/>
                  </a:lnTo>
                  <a:cubicBezTo>
                    <a:pt x="6217920" y="7389526"/>
                    <a:pt x="6177026" y="7443216"/>
                    <a:pt x="6126480" y="7443216"/>
                  </a:cubicBezTo>
                  <a:lnTo>
                    <a:pt x="91440" y="7443216"/>
                  </a:lnTo>
                  <a:cubicBezTo>
                    <a:pt x="40894" y="7443216"/>
                    <a:pt x="0" y="7389526"/>
                    <a:pt x="0" y="7323165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063740" y="3675888"/>
            <a:ext cx="4106946" cy="4129451"/>
            <a:chOff x="0" y="0"/>
            <a:chExt cx="5486400" cy="551646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5516465"/>
            </a:xfrm>
            <a:custGeom>
              <a:avLst/>
              <a:gdLst/>
              <a:ahLst/>
              <a:cxnLst/>
              <a:rect r="r" b="b" t="t" l="l"/>
              <a:pathLst>
                <a:path h="551646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516465"/>
                  </a:lnTo>
                  <a:lnTo>
                    <a:pt x="0" y="5516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t="0" r="-71888" b="551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486400" cy="5554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Red eyes? No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Fatigue? No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Shortness of breath? Yes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Appetite loss? No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Fever? None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Back/joint pain? No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Chest pain? Yes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Cough frequently? Yes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Wheeze on exhale? Yes</a:t>
              </a:r>
            </a:p>
            <a:p>
              <a:pPr algn="l">
                <a:lnSpc>
                  <a:spcPts val="2414"/>
                </a:lnSpc>
              </a:pP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→ Diagnosis: Asthma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Evidence: breathlessness,</a:t>
              </a:r>
            </a:p>
            <a:p>
              <a:pPr algn="l">
                <a:lnSpc>
                  <a:spcPts val="2414"/>
                </a:lnSpc>
              </a:pPr>
              <a:r>
                <a:rPr lang="en-US" sz="1749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chest pain, cough, wheezing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60555" y="2527935"/>
            <a:ext cx="5368290" cy="6739890"/>
            <a:chOff x="0" y="0"/>
            <a:chExt cx="7157720" cy="8986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57720" cy="8986520"/>
            </a:xfrm>
            <a:custGeom>
              <a:avLst/>
              <a:gdLst/>
              <a:ahLst/>
              <a:cxnLst/>
              <a:rect r="r" b="b" t="t" l="l"/>
              <a:pathLst>
                <a:path h="8986520" w="715772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010908" y="0"/>
                  </a:lnTo>
                  <a:cubicBezTo>
                    <a:pt x="7091934" y="0"/>
                    <a:pt x="7157720" y="65786"/>
                    <a:pt x="7157720" y="146812"/>
                  </a:cubicBezTo>
                  <a:lnTo>
                    <a:pt x="7157720" y="8839708"/>
                  </a:lnTo>
                  <a:cubicBezTo>
                    <a:pt x="7157720" y="8920734"/>
                    <a:pt x="7091934" y="8986520"/>
                    <a:pt x="7010908" y="8986520"/>
                  </a:cubicBezTo>
                  <a:lnTo>
                    <a:pt x="146812" y="8986520"/>
                  </a:lnTo>
                  <a:cubicBezTo>
                    <a:pt x="65786" y="8986520"/>
                    <a:pt x="0" y="8920734"/>
                    <a:pt x="0" y="8839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481560" y="2852928"/>
            <a:ext cx="4663440" cy="480060"/>
            <a:chOff x="0" y="0"/>
            <a:chExt cx="621792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2179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Evaluation Limitation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481560" y="3497580"/>
            <a:ext cx="4663440" cy="1371600"/>
            <a:chOff x="0" y="0"/>
            <a:chExt cx="6217920" cy="1828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62179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Testing confirms the software logic behaves as specified, thresholds are enforced, and console and web paths agree.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481560" y="4937760"/>
            <a:ext cx="4663440" cy="2057400"/>
            <a:chOff x="0" y="0"/>
            <a:chExt cx="6217920" cy="2743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17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6217920" cy="2800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It does not prove clinical accuracy. Real medical validation would need expert-reviewed cases and metrics such as sensitivity and specificity — no such evaluation was performed, and none should be inferred.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81560" y="7200900"/>
            <a:ext cx="4663440" cy="1851660"/>
            <a:chOff x="0" y="0"/>
            <a:chExt cx="6217920" cy="2468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2179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62179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108192" y="0"/>
                  </a:lnTo>
                  <a:cubicBezTo>
                    <a:pt x="6168771" y="0"/>
                    <a:pt x="6217920" y="49149"/>
                    <a:pt x="6217920" y="109728"/>
                  </a:cubicBezTo>
                  <a:lnTo>
                    <a:pt x="6217920" y="2359152"/>
                  </a:lnTo>
                  <a:cubicBezTo>
                    <a:pt x="6217920" y="2419731"/>
                    <a:pt x="6168771" y="2468880"/>
                    <a:pt x="6108192" y="2468880"/>
                  </a:cubicBezTo>
                  <a:lnTo>
                    <a:pt x="109728" y="2468880"/>
                  </a:lnTo>
                  <a:cubicBezTo>
                    <a:pt x="49149" y="2468880"/>
                    <a:pt x="0" y="2419731"/>
                    <a:pt x="0" y="2359152"/>
                  </a:cubicBezTo>
                  <a:close/>
                </a:path>
              </a:pathLst>
            </a:custGeom>
            <a:solidFill>
              <a:srgbClr val="F2E7ED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687300" y="7338060"/>
            <a:ext cx="4251960" cy="1577340"/>
            <a:chOff x="0" y="0"/>
            <a:chExt cx="5669280" cy="2103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692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4" r="0" b="-252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566928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6"/>
                </a:lnSpc>
              </a:pPr>
              <a:r>
                <a:rPr lang="en-US" sz="1700" i="true">
                  <a:solidFill>
                    <a:srgbClr val="1F243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INTERNIST-1 held a far larger knowledge base and was still reported unsuitable for clinical use — a passing test suite says nothing about diagnostic accuracy.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85800" y="9848088"/>
            <a:ext cx="9601200" cy="495932"/>
            <a:chOff x="0" y="0"/>
            <a:chExt cx="12801600" cy="66124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801600" cy="661243"/>
            </a:xfrm>
            <a:custGeom>
              <a:avLst/>
              <a:gdLst/>
              <a:ahLst/>
              <a:cxnLst/>
              <a:rect r="r" b="b" t="t" l="l"/>
              <a:pathLst>
                <a:path h="661243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61243"/>
                  </a:lnTo>
                  <a:lnTo>
                    <a:pt x="0" y="6612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508" r="0" b="-31594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2801600" cy="680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| CSE440       Group No.3          Abid | Gazi | Apurbo | Fiad</a:t>
              </a:r>
            </a:p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66466" y="110214"/>
            <a:ext cx="10872113" cy="9606830"/>
          </a:xfrm>
          <a:custGeom>
            <a:avLst/>
            <a:gdLst/>
            <a:ahLst/>
            <a:cxnLst/>
            <a:rect r="r" b="b" t="t" l="l"/>
            <a:pathLst>
              <a:path h="9606830" w="10872113">
                <a:moveTo>
                  <a:pt x="0" y="0"/>
                </a:moveTo>
                <a:lnTo>
                  <a:pt x="10872113" y="0"/>
                </a:lnTo>
                <a:lnTo>
                  <a:pt x="10872113" y="9606830"/>
                </a:lnTo>
                <a:lnTo>
                  <a:pt x="0" y="9606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9" r="-823" b="-6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2456" y="9859194"/>
            <a:ext cx="9601200" cy="495932"/>
            <a:chOff x="0" y="0"/>
            <a:chExt cx="12801600" cy="6612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00" cy="661243"/>
            </a:xfrm>
            <a:custGeom>
              <a:avLst/>
              <a:gdLst/>
              <a:ahLst/>
              <a:cxnLst/>
              <a:rect r="r" b="b" t="t" l="l"/>
              <a:pathLst>
                <a:path h="661243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61243"/>
                  </a:lnTo>
                  <a:lnTo>
                    <a:pt x="0" y="66124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6461" r="0" b="-3239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2801600" cy="680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| CSE440           Group No.3           Abid | Gazi | Apurbo | Fiad</a:t>
              </a:r>
            </a:p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Discussion and Future Improvements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335405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Where the prototype is strong, where it is limited, and what comes next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5299710" cy="6465570"/>
            <a:chOff x="0" y="0"/>
            <a:chExt cx="7066280" cy="8620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8620760"/>
            </a:xfrm>
            <a:custGeom>
              <a:avLst/>
              <a:gdLst/>
              <a:ahLst/>
              <a:cxnLst/>
              <a:rect r="r" b="b" t="t" l="l"/>
              <a:pathLst>
                <a:path h="862076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473948"/>
                  </a:lnTo>
                  <a:cubicBezTo>
                    <a:pt x="7066280" y="8555101"/>
                    <a:pt x="7000494" y="8620760"/>
                    <a:pt x="6919468" y="8620760"/>
                  </a:cubicBezTo>
                  <a:lnTo>
                    <a:pt x="146812" y="8620760"/>
                  </a:lnTo>
                  <a:cubicBezTo>
                    <a:pt x="65786" y="8620760"/>
                    <a:pt x="0" y="8554974"/>
                    <a:pt x="0" y="84739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113532"/>
            <a:ext cx="685800" cy="109728"/>
            <a:chOff x="0" y="0"/>
            <a:chExt cx="914400" cy="1463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3360420"/>
            <a:ext cx="4457700" cy="548640"/>
            <a:chOff x="0" y="0"/>
            <a:chExt cx="5943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943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Strengths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4197096"/>
            <a:ext cx="150876" cy="150876"/>
            <a:chOff x="0" y="0"/>
            <a:chExt cx="201168" cy="2011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36192" y="4014597"/>
            <a:ext cx="4114800" cy="891540"/>
            <a:chOff x="0" y="0"/>
            <a:chExt cx="5486400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Transparent reasoning — rules are easy to inspect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4440" y="5390388"/>
            <a:ext cx="150876" cy="150876"/>
            <a:chOff x="0" y="0"/>
            <a:chExt cx="201168" cy="2011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36192" y="5198364"/>
            <a:ext cx="4114800" cy="891540"/>
            <a:chOff x="0" y="0"/>
            <a:chExt cx="5486400" cy="1188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Console &amp; web interfaces cannot diverge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4440" y="6583680"/>
            <a:ext cx="150876" cy="150876"/>
            <a:chOff x="0" y="0"/>
            <a:chExt cx="201168" cy="2011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36192" y="6391656"/>
            <a:ext cx="4114800" cy="891540"/>
            <a:chOff x="0" y="0"/>
            <a:chExt cx="5486400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Treatment content lives outside the engine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4440" y="7776972"/>
            <a:ext cx="150876" cy="150876"/>
            <a:chOff x="0" y="0"/>
            <a:chExt cx="201168" cy="2011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36192" y="7584948"/>
            <a:ext cx="4114800" cy="891540"/>
            <a:chOff x="0" y="0"/>
            <a:chExt cx="5486400" cy="1188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No external PDF dependency required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05575" y="2665095"/>
            <a:ext cx="5299710" cy="6465570"/>
            <a:chOff x="0" y="0"/>
            <a:chExt cx="7066280" cy="86207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66280" cy="8620760"/>
            </a:xfrm>
            <a:custGeom>
              <a:avLst/>
              <a:gdLst/>
              <a:ahLst/>
              <a:cxnLst/>
              <a:rect r="r" b="b" t="t" l="l"/>
              <a:pathLst>
                <a:path h="862076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473948"/>
                  </a:lnTo>
                  <a:cubicBezTo>
                    <a:pt x="7066280" y="8555101"/>
                    <a:pt x="7000494" y="8620760"/>
                    <a:pt x="6919468" y="8620760"/>
                  </a:cubicBezTo>
                  <a:lnTo>
                    <a:pt x="146812" y="8620760"/>
                  </a:lnTo>
                  <a:cubicBezTo>
                    <a:pt x="65786" y="8620760"/>
                    <a:pt x="0" y="8554974"/>
                    <a:pt x="0" y="84739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926580" y="3113532"/>
            <a:ext cx="685800" cy="109728"/>
            <a:chOff x="0" y="0"/>
            <a:chExt cx="914400" cy="1463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926580" y="3360420"/>
            <a:ext cx="4457700" cy="548640"/>
            <a:chOff x="0" y="0"/>
            <a:chExt cx="59436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943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Limitations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926580" y="4201287"/>
            <a:ext cx="150876" cy="150876"/>
            <a:chOff x="0" y="0"/>
            <a:chExt cx="201168" cy="2011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228332" y="4005072"/>
            <a:ext cx="4114800" cy="891540"/>
            <a:chOff x="0" y="0"/>
            <a:chExt cx="5486400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Rules hand-authored, not clinician-reviewed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926580" y="5390388"/>
            <a:ext cx="150876" cy="150876"/>
            <a:chOff x="0" y="0"/>
            <a:chExt cx="201168" cy="2011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228332" y="5198364"/>
            <a:ext cx="4114800" cy="891540"/>
            <a:chOff x="0" y="0"/>
            <a:chExt cx="5486400" cy="1188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No lab, imaging or vital-sign data used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926580" y="6583680"/>
            <a:ext cx="150876" cy="150876"/>
            <a:chOff x="0" y="0"/>
            <a:chExt cx="201168" cy="2011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228332" y="6391656"/>
            <a:ext cx="4114800" cy="891540"/>
            <a:chOff x="0" y="0"/>
            <a:chExt cx="5486400" cy="1188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Only one disease reported per consultation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926580" y="7955280"/>
            <a:ext cx="150876" cy="150876"/>
            <a:chOff x="0" y="0"/>
            <a:chExt cx="201168" cy="20116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7A436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228332" y="7584948"/>
            <a:ext cx="4114800" cy="891540"/>
            <a:chOff x="0" y="0"/>
            <a:chExt cx="5486400" cy="1188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Sessions held in memory only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197715" y="2665095"/>
            <a:ext cx="5299710" cy="6465570"/>
            <a:chOff x="0" y="0"/>
            <a:chExt cx="7066280" cy="86207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66280" cy="8620760"/>
            </a:xfrm>
            <a:custGeom>
              <a:avLst/>
              <a:gdLst/>
              <a:ahLst/>
              <a:cxnLst/>
              <a:rect r="r" b="b" t="t" l="l"/>
              <a:pathLst>
                <a:path h="862076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8473948"/>
                  </a:lnTo>
                  <a:cubicBezTo>
                    <a:pt x="7066280" y="8555101"/>
                    <a:pt x="7000494" y="8620760"/>
                    <a:pt x="6919468" y="8620760"/>
                  </a:cubicBezTo>
                  <a:lnTo>
                    <a:pt x="146812" y="8620760"/>
                  </a:lnTo>
                  <a:cubicBezTo>
                    <a:pt x="65786" y="8620760"/>
                    <a:pt x="0" y="8554974"/>
                    <a:pt x="0" y="84739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6E1D3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618720" y="3113532"/>
            <a:ext cx="685800" cy="109728"/>
            <a:chOff x="0" y="0"/>
            <a:chExt cx="914400" cy="14630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618720" y="3360420"/>
            <a:ext cx="4457700" cy="548640"/>
            <a:chOff x="0" y="0"/>
            <a:chExt cx="594360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5943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Future Work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618720" y="4197096"/>
            <a:ext cx="150876" cy="150876"/>
            <a:chOff x="0" y="0"/>
            <a:chExt cx="201168" cy="20116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920472" y="4005072"/>
            <a:ext cx="4114800" cy="891540"/>
            <a:chOff x="0" y="0"/>
            <a:chExt cx="5486400" cy="11887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Move rules into a declarative JSON/YAML file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618720" y="5390388"/>
            <a:ext cx="150876" cy="150876"/>
            <a:chOff x="0" y="0"/>
            <a:chExt cx="201168" cy="2011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920472" y="5198364"/>
            <a:ext cx="4114800" cy="891540"/>
            <a:chOff x="0" y="0"/>
            <a:chExt cx="5486400" cy="11887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Add red-flag detection for urgent symptoms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618720" y="6583680"/>
            <a:ext cx="150876" cy="150876"/>
            <a:chOff x="0" y="0"/>
            <a:chExt cx="201168" cy="20116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920472" y="6391656"/>
            <a:ext cx="4114800" cy="891540"/>
            <a:chOff x="0" y="0"/>
            <a:chExt cx="5486400" cy="11887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Rank multiple diseases with a probabilistic score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618720" y="7776972"/>
            <a:ext cx="150876" cy="150876"/>
            <a:chOff x="0" y="0"/>
            <a:chExt cx="201168" cy="2011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920472" y="7584948"/>
            <a:ext cx="4114800" cy="891540"/>
            <a:chOff x="0" y="0"/>
            <a:chExt cx="5486400" cy="11887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486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548640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Add multilingual support, starting with Bangla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85800" y="9848088"/>
            <a:ext cx="9601200" cy="495932"/>
            <a:chOff x="0" y="0"/>
            <a:chExt cx="12801600" cy="66124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801600" cy="661243"/>
            </a:xfrm>
            <a:custGeom>
              <a:avLst/>
              <a:gdLst/>
              <a:ahLst/>
              <a:cxnLst/>
              <a:rect r="r" b="b" t="t" l="l"/>
              <a:pathLst>
                <a:path h="661243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61243"/>
                  </a:lnTo>
                  <a:lnTo>
                    <a:pt x="0" y="6612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508" r="0" b="-31594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12801600" cy="680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| CSE440          Group No.3         Abid | Gazi | Apurbo | Fiad</a:t>
              </a:r>
            </a:p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822960"/>
            <a:chOff x="0" y="0"/>
            <a:chExt cx="221284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F24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Final takeaway from the rule-based medical diagnosis expert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80360"/>
            <a:ext cx="16596360" cy="1371600"/>
            <a:chOff x="0" y="0"/>
            <a:chExt cx="2212848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682496"/>
                  </a:lnTo>
                  <a:cubicBezTo>
                    <a:pt x="22128480" y="1763268"/>
                    <a:pt x="22062948" y="1828800"/>
                    <a:pt x="2198217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2B2F3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880360"/>
            <a:ext cx="15636240" cy="1371600"/>
            <a:chOff x="0" y="0"/>
            <a:chExt cx="2084832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48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8483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project demonstrates a medical diagnosis expert system built on logic programming and rule-based knowledge representation.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4800600"/>
            <a:ext cx="493776" cy="493776"/>
            <a:chOff x="0" y="0"/>
            <a:chExt cx="658368" cy="6583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4800600"/>
            <a:ext cx="493776" cy="493776"/>
            <a:chOff x="0" y="0"/>
            <a:chExt cx="658368" cy="6583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88820" y="4773168"/>
            <a:ext cx="14813280" cy="548640"/>
            <a:chOff x="0" y="0"/>
            <a:chExt cx="197510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975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Converts patient answers into structured facts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5650992"/>
            <a:ext cx="493776" cy="493776"/>
            <a:chOff x="0" y="0"/>
            <a:chExt cx="658368" cy="6583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4440" y="5650992"/>
            <a:ext cx="493776" cy="493776"/>
            <a:chOff x="0" y="0"/>
            <a:chExt cx="658368" cy="6583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88820" y="5623560"/>
            <a:ext cx="14813280" cy="548640"/>
            <a:chOff x="0" y="0"/>
            <a:chExt cx="197510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975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Applies disease rules to infer a possible diagnosis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4440" y="6501384"/>
            <a:ext cx="493776" cy="493776"/>
            <a:chOff x="0" y="0"/>
            <a:chExt cx="658368" cy="658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34440" y="6501384"/>
            <a:ext cx="493776" cy="493776"/>
            <a:chOff x="0" y="0"/>
            <a:chExt cx="658368" cy="6583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988820" y="6473952"/>
            <a:ext cx="14813280" cy="548640"/>
            <a:chOff x="0" y="0"/>
            <a:chExt cx="1975104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975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Explains output using the matched symptoms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4440" y="7351776"/>
            <a:ext cx="493776" cy="493776"/>
            <a:chOff x="0" y="0"/>
            <a:chExt cx="658368" cy="658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" y="7351776"/>
            <a:ext cx="493776" cy="493776"/>
            <a:chOff x="0" y="0"/>
            <a:chExt cx="658368" cy="6583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988820" y="7324344"/>
            <a:ext cx="14813280" cy="548640"/>
            <a:chOff x="0" y="0"/>
            <a:chExt cx="1975104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975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Connects diagnosis to treatment info and a PDF report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34440" y="8202168"/>
            <a:ext cx="493776" cy="493776"/>
            <a:chOff x="0" y="0"/>
            <a:chExt cx="658368" cy="6583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B08D3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34440" y="8202168"/>
            <a:ext cx="493776" cy="493776"/>
            <a:chOff x="0" y="0"/>
            <a:chExt cx="658368" cy="6583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988820" y="8174736"/>
            <a:ext cx="14813280" cy="548640"/>
            <a:chOff x="0" y="0"/>
            <a:chExt cx="1975104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9751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F2430"/>
                  </a:solidFill>
                  <a:latin typeface="Arial"/>
                  <a:ea typeface="Arial"/>
                  <a:cs typeface="Arial"/>
                  <a:sym typeface="Arial"/>
                </a:rPr>
                <a:t>Designed for education and preliminary decision support only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85800" y="9848088"/>
            <a:ext cx="9601200" cy="495932"/>
            <a:chOff x="0" y="0"/>
            <a:chExt cx="12801600" cy="66124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801600" cy="661243"/>
            </a:xfrm>
            <a:custGeom>
              <a:avLst/>
              <a:gdLst/>
              <a:ahLst/>
              <a:cxnLst/>
              <a:rect r="r" b="b" t="t" l="l"/>
              <a:pathLst>
                <a:path h="661243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61243"/>
                  </a:lnTo>
                  <a:lnTo>
                    <a:pt x="0" y="6612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508" r="0" b="-31594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2801600" cy="680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| CSE440         Group No.3             Abid | Gazi | Apurbo | Fiad</a:t>
              </a:r>
            </a:p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2647" y="4242435"/>
            <a:ext cx="10991850" cy="1802130"/>
            <a:chOff x="0" y="0"/>
            <a:chExt cx="14655800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55800" cy="2402840"/>
            </a:xfrm>
            <a:custGeom>
              <a:avLst/>
              <a:gdLst/>
              <a:ahLst/>
              <a:cxnLst/>
              <a:rect r="r" b="b" t="t" l="l"/>
              <a:pathLst>
                <a:path h="2402840" w="14655800">
                  <a:moveTo>
                    <a:pt x="0" y="184785"/>
                  </a:moveTo>
                  <a:cubicBezTo>
                    <a:pt x="0" y="82804"/>
                    <a:pt x="82804" y="0"/>
                    <a:pt x="184785" y="0"/>
                  </a:cubicBezTo>
                  <a:lnTo>
                    <a:pt x="14471014" y="0"/>
                  </a:lnTo>
                  <a:cubicBezTo>
                    <a:pt x="14573123" y="0"/>
                    <a:pt x="14655800" y="82804"/>
                    <a:pt x="14655800" y="184785"/>
                  </a:cubicBezTo>
                  <a:lnTo>
                    <a:pt x="14655800" y="2218055"/>
                  </a:lnTo>
                  <a:cubicBezTo>
                    <a:pt x="14655800" y="2320163"/>
                    <a:pt x="14572996" y="2402840"/>
                    <a:pt x="14471014" y="2402840"/>
                  </a:cubicBezTo>
                  <a:lnTo>
                    <a:pt x="184785" y="2402840"/>
                  </a:lnTo>
                  <a:cubicBezTo>
                    <a:pt x="82804" y="2402840"/>
                    <a:pt x="0" y="2320036"/>
                    <a:pt x="0" y="2218055"/>
                  </a:cubicBezTo>
                  <a:close/>
                </a:path>
              </a:pathLst>
            </a:custGeom>
            <a:solidFill>
              <a:srgbClr val="F8F2E3"/>
            </a:solidFill>
            <a:ln w="19050" cap="sq">
              <a:solidFill>
                <a:srgbClr val="E0DAC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62172" y="4251960"/>
            <a:ext cx="10972800" cy="1783080"/>
            <a:chOff x="0" y="0"/>
            <a:chExt cx="14630400" cy="2377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4630400" cy="2406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b="true" sz="5100" spc="299">
                  <a:solidFill>
                    <a:srgbClr val="B08D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62172" y="6240780"/>
            <a:ext cx="10972800" cy="548640"/>
            <a:chOff x="0" y="0"/>
            <a:chExt cx="146304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Questions and discussion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9848088"/>
            <a:ext cx="9601200" cy="384048"/>
            <a:chOff x="0" y="0"/>
            <a:chExt cx="1280160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8016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Medical Diagnosis Expert System  |  CSE440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145000" y="9848088"/>
            <a:ext cx="548640" cy="384048"/>
            <a:chOff x="0" y="0"/>
            <a:chExt cx="731520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7315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66B78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DAHTXhq1xXA</dc:identifier>
  <dcterms:modified xsi:type="dcterms:W3CDTF">2011-08-01T06:04:30Z</dcterms:modified>
  <cp:revision>1</cp:revision>
  <dc:title>CSE440 Updated</dc:title>
</cp:coreProperties>
</file>