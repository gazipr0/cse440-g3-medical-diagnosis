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0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6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notesMasterIdLst>
    <p:notesMasterId r:id="rId22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</p:sldIdLst>
  <p:sldSz cx="18288000" cy="10287000"/>
  <p:notesSz cx="6858000" cy="9144000"/>
  <p:embeddedFontLst>
    <p:embeddedFont>
      <p:font typeface="Arial Bold" charset="1" panose="020B0704020202020204"/>
      <p:regular r:id="rId25"/>
    </p:embeddedFont>
    <p:embeddedFont>
      <p:font typeface="Arial" charset="1" panose="020B0604020202020204"/>
      <p:regular r:id="rId26"/>
    </p:embeddedFont>
    <p:embeddedFont>
      <p:font typeface="Arial Bold Italics" charset="1" panose="020B0704020202090204"/>
      <p:regular r:id="rId28"/>
    </p:embeddedFont>
    <p:embeddedFont>
      <p:font typeface="Arial Italics" charset="1" panose="020B0604020202090204"/>
      <p:regular r:id="rId34"/>
    </p:embeddedFont>
    <p:embeddedFont>
      <p:font typeface="Courier New" charset="1" panose="02070309020205020404"/>
      <p:regular r:id="rId4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notesMasters/notesMaster1.xml" Type="http://schemas.openxmlformats.org/officeDocument/2006/relationships/notesMaster"/><Relationship Id="rId23" Target="theme/theme2.xml" Type="http://schemas.openxmlformats.org/officeDocument/2006/relationships/theme"/><Relationship Id="rId24" Target="notesSlides/notesSlide1.xml" Type="http://schemas.openxmlformats.org/officeDocument/2006/relationships/notesSlide"/><Relationship Id="rId25" Target="fonts/font25.fntdata" Type="http://schemas.openxmlformats.org/officeDocument/2006/relationships/font"/><Relationship Id="rId26" Target="fonts/font26.fntdata" Type="http://schemas.openxmlformats.org/officeDocument/2006/relationships/font"/><Relationship Id="rId27" Target="notesSlides/notesSlide2.xml" Type="http://schemas.openxmlformats.org/officeDocument/2006/relationships/notesSlide"/><Relationship Id="rId28" Target="fonts/font28.fntdata" Type="http://schemas.openxmlformats.org/officeDocument/2006/relationships/font"/><Relationship Id="rId29" Target="notesSlides/notesSlide3.xml" Type="http://schemas.openxmlformats.org/officeDocument/2006/relationships/notesSlide"/><Relationship Id="rId3" Target="viewProps.xml" Type="http://schemas.openxmlformats.org/officeDocument/2006/relationships/viewProps"/><Relationship Id="rId30" Target="notesSlides/notesSlide4.xml" Type="http://schemas.openxmlformats.org/officeDocument/2006/relationships/notesSlide"/><Relationship Id="rId31" Target="notesSlides/notesSlide5.xml" Type="http://schemas.openxmlformats.org/officeDocument/2006/relationships/notesSlide"/><Relationship Id="rId32" Target="notesSlides/notesSlide6.xml" Type="http://schemas.openxmlformats.org/officeDocument/2006/relationships/notesSlide"/><Relationship Id="rId33" Target="notesSlides/notesSlide7.xml" Type="http://schemas.openxmlformats.org/officeDocument/2006/relationships/notesSlide"/><Relationship Id="rId34" Target="fonts/font34.fntdata" Type="http://schemas.openxmlformats.org/officeDocument/2006/relationships/font"/><Relationship Id="rId35" Target="notesSlides/notesSlide8.xml" Type="http://schemas.openxmlformats.org/officeDocument/2006/relationships/notesSlide"/><Relationship Id="rId36" Target="notesSlides/notesSlide9.xml" Type="http://schemas.openxmlformats.org/officeDocument/2006/relationships/notesSlide"/><Relationship Id="rId37" Target="notesSlides/notesSlide10.xml" Type="http://schemas.openxmlformats.org/officeDocument/2006/relationships/notesSlide"/><Relationship Id="rId38" Target="notesSlides/notesSlide11.xml" Type="http://schemas.openxmlformats.org/officeDocument/2006/relationships/notesSlide"/><Relationship Id="rId39" Target="notesSlides/notesSlide12.xml" Type="http://schemas.openxmlformats.org/officeDocument/2006/relationships/notesSlide"/><Relationship Id="rId4" Target="theme/theme1.xml" Type="http://schemas.openxmlformats.org/officeDocument/2006/relationships/theme"/><Relationship Id="rId40" Target="fonts/font40.fntdata" Type="http://schemas.openxmlformats.org/officeDocument/2006/relationships/font"/><Relationship Id="rId41" Target="notesSlides/notesSlide13.xml" Type="http://schemas.openxmlformats.org/officeDocument/2006/relationships/notesSlide"/><Relationship Id="rId42" Target="notesSlides/notesSlide14.xml" Type="http://schemas.openxmlformats.org/officeDocument/2006/relationships/notesSlide"/><Relationship Id="rId43" Target="notesSlides/notesSlide15.xml" Type="http://schemas.openxmlformats.org/officeDocument/2006/relationships/notesSlide"/><Relationship Id="rId44" Target="notesSlides/notesSlide16.xml" Type="http://schemas.openxmlformats.org/officeDocument/2006/relationships/notesSlid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_rels/notesSlide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_rels/notesSlide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.xml" Type="http://schemas.openxmlformats.org/officeDocument/2006/relationships/slide"/></Relationships>
</file>

<file path=ppt/notesSlides/_rels/notesSlide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7.xml" Type="http://schemas.openxmlformats.org/officeDocument/2006/relationships/slide"/></Relationships>
</file>

<file path=ppt/notesSlides/_rels/notesSlide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8.xml" Type="http://schemas.openxmlformats.org/officeDocument/2006/relationships/slide"/></Relationships>
</file>

<file path=ppt/notesSlides/_rels/notesSlide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9.xml" Type="http://schemas.openxmlformats.org/officeDocument/2006/relationships/slide"/></Relationships>
</file>

<file path=ppt/notesSlides/_rels/notesSlide10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0.xml" Type="http://schemas.openxmlformats.org/officeDocument/2006/relationships/slide"/></Relationships>
</file>

<file path=ppt/notesSlides/_rels/notesSlide1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1.xml" Type="http://schemas.openxmlformats.org/officeDocument/2006/relationships/slide"/></Relationships>
</file>

<file path=ppt/notesSlides/_rels/notesSlide1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2.xml" Type="http://schemas.openxmlformats.org/officeDocument/2006/relationships/slide"/></Relationships>
</file>

<file path=ppt/notesSlides/_rels/notesSlide1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3.xml" Type="http://schemas.openxmlformats.org/officeDocument/2006/relationships/slide"/></Relationships>
</file>

<file path=ppt/notesSlides/_rels/notesSlide1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4.xml" Type="http://schemas.openxmlformats.org/officeDocument/2006/relationships/slide"/></Relationships>
</file>

<file path=ppt/notesSlides/_rels/notesSlide1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5.xml" Type="http://schemas.openxmlformats.org/officeDocument/2006/relationships/slide"/></Relationships>
</file>

<file path=ppt/notesSlides/_rels/notesSlide1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6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3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4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5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6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7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8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9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10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11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12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13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14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15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16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3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4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5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6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7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8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9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0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1.xml" Type="http://schemas.openxmlformats.org/officeDocument/2006/relationships/notesSlide"/><Relationship Id="rId3" Target="../media/image1.jpeg" Type="http://schemas.openxmlformats.org/officeDocument/2006/relationships/image"/><Relationship Id="rId4" Target="../media/image2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2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3.xml" Type="http://schemas.openxmlformats.org/officeDocument/2006/relationships/notesSlide"/><Relationship Id="rId3" Target="../media/image3.png" Type="http://schemas.openxmlformats.org/officeDocument/2006/relationships/image"/><Relationship Id="rId4" Target="../media/image1.jpeg" Type="http://schemas.openxmlformats.org/officeDocument/2006/relationships/image"/><Relationship Id="rId5" Target="../media/image4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4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5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6.xml" Type="http://schemas.openxmlformats.org/officeDocument/2006/relationships/notesSlide"/><Relationship Id="rId3" Target="../media/image1.jpe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6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234440" y="2125980"/>
            <a:ext cx="10972800" cy="480060"/>
            <a:chOff x="0" y="0"/>
            <a:chExt cx="14630400" cy="64008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4630400" cy="640080"/>
            </a:xfrm>
            <a:custGeom>
              <a:avLst/>
              <a:gdLst/>
              <a:ahLst/>
              <a:cxnLst/>
              <a:rect r="r" b="b" t="t" l="l"/>
              <a:pathLst>
                <a:path h="640080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95372" r="0" b="-395372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19050"/>
              <a:ext cx="14630400" cy="6591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b="true" sz="1950" spc="180">
                  <a:solidFill>
                    <a:srgbClr val="B08D3E"/>
                  </a:solidFill>
                  <a:latin typeface="Arial Bold"/>
                  <a:ea typeface="Arial Bold"/>
                  <a:cs typeface="Arial Bold"/>
                  <a:sym typeface="Arial Bold"/>
                </a:rPr>
                <a:t>CSE440 PROJECT PRESENTATION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234440" y="2674620"/>
            <a:ext cx="14813280" cy="2057400"/>
            <a:chOff x="0" y="0"/>
            <a:chExt cx="19751040" cy="27432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9751039" cy="2743200"/>
            </a:xfrm>
            <a:custGeom>
              <a:avLst/>
              <a:gdLst/>
              <a:ahLst/>
              <a:cxnLst/>
              <a:rect r="r" b="b" t="t" l="l"/>
              <a:pathLst>
                <a:path h="2743200" w="19751039">
                  <a:moveTo>
                    <a:pt x="0" y="0"/>
                  </a:moveTo>
                  <a:lnTo>
                    <a:pt x="19751039" y="0"/>
                  </a:lnTo>
                  <a:lnTo>
                    <a:pt x="19751039" y="2743200"/>
                  </a:lnTo>
                  <a:lnTo>
                    <a:pt x="0" y="2743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0292" r="0" b="-90292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57150"/>
              <a:ext cx="19751040" cy="28003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7182"/>
                </a:lnSpc>
              </a:pPr>
              <a:r>
                <a:rPr lang="en-US" sz="5700" b="true">
                  <a:solidFill>
                    <a:srgbClr val="1F243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A Rule-Based Medical Diagnosis</a:t>
              </a:r>
            </a:p>
            <a:p>
              <a:pPr algn="l">
                <a:lnSpc>
                  <a:spcPts val="7182"/>
                </a:lnSpc>
              </a:pPr>
              <a:r>
                <a:rPr lang="en-US" sz="5700" b="true">
                  <a:solidFill>
                    <a:srgbClr val="1F243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Expert System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234440" y="4594860"/>
            <a:ext cx="14401800" cy="685800"/>
            <a:chOff x="0" y="0"/>
            <a:chExt cx="19202400" cy="9144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9202400" cy="914400"/>
            </a:xfrm>
            <a:custGeom>
              <a:avLst/>
              <a:gdLst/>
              <a:ahLst/>
              <a:cxnLst/>
              <a:rect r="r" b="b" t="t" l="l"/>
              <a:pathLst>
                <a:path h="914400" w="19202400">
                  <a:moveTo>
                    <a:pt x="0" y="0"/>
                  </a:moveTo>
                  <a:lnTo>
                    <a:pt x="19202400" y="0"/>
                  </a:lnTo>
                  <a:lnTo>
                    <a:pt x="1920240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59185" r="0" b="-359185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9525"/>
              <a:ext cx="19202400" cy="9239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>
                  <a:solidFill>
                    <a:srgbClr val="666B78"/>
                  </a:solidFill>
                  <a:latin typeface="Arial"/>
                  <a:ea typeface="Arial"/>
                  <a:cs typeface="Arial"/>
                  <a:sym typeface="Arial"/>
                </a:rPr>
                <a:t>Stateless Engine Replay and History-Aware Inference over 31 Diseases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028700" y="5868416"/>
            <a:ext cx="16390620" cy="3365119"/>
            <a:chOff x="0" y="0"/>
            <a:chExt cx="21056600" cy="432308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1056600" cy="4323080"/>
            </a:xfrm>
            <a:custGeom>
              <a:avLst/>
              <a:gdLst/>
              <a:ahLst/>
              <a:cxnLst/>
              <a:rect r="r" b="b" t="t" l="l"/>
              <a:pathLst>
                <a:path h="4323080" w="21056600">
                  <a:moveTo>
                    <a:pt x="0" y="147193"/>
                  </a:moveTo>
                  <a:cubicBezTo>
                    <a:pt x="0" y="65913"/>
                    <a:pt x="65913" y="0"/>
                    <a:pt x="147193" y="0"/>
                  </a:cubicBezTo>
                  <a:lnTo>
                    <a:pt x="20909407" y="0"/>
                  </a:lnTo>
                  <a:cubicBezTo>
                    <a:pt x="20990688" y="0"/>
                    <a:pt x="21056600" y="65913"/>
                    <a:pt x="21056600" y="147193"/>
                  </a:cubicBezTo>
                  <a:lnTo>
                    <a:pt x="21056600" y="4175887"/>
                  </a:lnTo>
                  <a:cubicBezTo>
                    <a:pt x="21056600" y="4257167"/>
                    <a:pt x="20990688" y="4323080"/>
                    <a:pt x="20909407" y="4323080"/>
                  </a:cubicBezTo>
                  <a:lnTo>
                    <a:pt x="147193" y="4323080"/>
                  </a:lnTo>
                  <a:cubicBezTo>
                    <a:pt x="65913" y="4323080"/>
                    <a:pt x="0" y="4257167"/>
                    <a:pt x="0" y="4175887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E6E1D3"/>
              </a:solidFill>
              <a:prstDash val="solid"/>
              <a:miter/>
            </a:ln>
          </p:spPr>
        </p:sp>
      </p:grpSp>
      <p:grpSp>
        <p:nvGrpSpPr>
          <p:cNvPr name="Group 13" id="13"/>
          <p:cNvGrpSpPr/>
          <p:nvPr/>
        </p:nvGrpSpPr>
        <p:grpSpPr>
          <a:xfrm rot="0">
            <a:off x="1714500" y="6240780"/>
            <a:ext cx="6858000" cy="411480"/>
            <a:chOff x="0" y="0"/>
            <a:chExt cx="9144000" cy="54864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9144000" cy="548640"/>
            </a:xfrm>
            <a:custGeom>
              <a:avLst/>
              <a:gdLst/>
              <a:ahLst/>
              <a:cxnLst/>
              <a:rect r="r" b="b" t="t" l="l"/>
              <a:pathLst>
                <a:path h="548640" w="9144000">
                  <a:moveTo>
                    <a:pt x="0" y="0"/>
                  </a:moveTo>
                  <a:lnTo>
                    <a:pt x="9144000" y="0"/>
                  </a:lnTo>
                  <a:lnTo>
                    <a:pt x="91440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74750" r="0" b="-274750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19050"/>
              <a:ext cx="9144000" cy="5676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b="true" sz="1650" spc="150">
                  <a:solidFill>
                    <a:srgbClr val="B08D3E"/>
                  </a:solidFill>
                  <a:latin typeface="Arial Bold"/>
                  <a:ea typeface="Arial Bold"/>
                  <a:cs typeface="Arial Bold"/>
                  <a:sym typeface="Arial Bold"/>
                </a:rPr>
                <a:t>GROUP MEMBERS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1714500" y="6858000"/>
            <a:ext cx="3703320" cy="2057400"/>
            <a:chOff x="0" y="0"/>
            <a:chExt cx="4937760" cy="27432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4937760" cy="2743200"/>
            </a:xfrm>
            <a:custGeom>
              <a:avLst/>
              <a:gdLst/>
              <a:ahLst/>
              <a:cxnLst/>
              <a:rect r="r" b="b" t="t" l="l"/>
              <a:pathLst>
                <a:path h="2743200" w="4937760">
                  <a:moveTo>
                    <a:pt x="0" y="109728"/>
                  </a:moveTo>
                  <a:cubicBezTo>
                    <a:pt x="0" y="49149"/>
                    <a:pt x="49149" y="0"/>
                    <a:pt x="109728" y="0"/>
                  </a:cubicBezTo>
                  <a:lnTo>
                    <a:pt x="4828032" y="0"/>
                  </a:lnTo>
                  <a:cubicBezTo>
                    <a:pt x="4888611" y="0"/>
                    <a:pt x="4937760" y="49149"/>
                    <a:pt x="4937760" y="109728"/>
                  </a:cubicBezTo>
                  <a:lnTo>
                    <a:pt x="4937760" y="2633472"/>
                  </a:lnTo>
                  <a:cubicBezTo>
                    <a:pt x="4937760" y="2694051"/>
                    <a:pt x="4888611" y="2743200"/>
                    <a:pt x="4828032" y="2743200"/>
                  </a:cubicBezTo>
                  <a:lnTo>
                    <a:pt x="109728" y="2743200"/>
                  </a:lnTo>
                  <a:cubicBezTo>
                    <a:pt x="49149" y="2743200"/>
                    <a:pt x="0" y="2694051"/>
                    <a:pt x="0" y="2633472"/>
                  </a:cubicBezTo>
                  <a:close/>
                </a:path>
              </a:pathLst>
            </a:custGeom>
            <a:solidFill>
              <a:srgbClr val="F8F2E3"/>
            </a:solid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1961388" y="7063740"/>
            <a:ext cx="548640" cy="548640"/>
            <a:chOff x="0" y="0"/>
            <a:chExt cx="731520" cy="73152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731520" cy="731520"/>
            </a:xfrm>
            <a:custGeom>
              <a:avLst/>
              <a:gdLst/>
              <a:ahLst/>
              <a:cxnLst/>
              <a:rect r="r" b="b" t="t" l="l"/>
              <a:pathLst>
                <a:path h="731520" w="731520">
                  <a:moveTo>
                    <a:pt x="0" y="365760"/>
                  </a:moveTo>
                  <a:cubicBezTo>
                    <a:pt x="0" y="163703"/>
                    <a:pt x="163703" y="0"/>
                    <a:pt x="365760" y="0"/>
                  </a:cubicBezTo>
                  <a:cubicBezTo>
                    <a:pt x="567817" y="0"/>
                    <a:pt x="731520" y="163703"/>
                    <a:pt x="731520" y="365760"/>
                  </a:cubicBezTo>
                  <a:cubicBezTo>
                    <a:pt x="731520" y="567817"/>
                    <a:pt x="567817" y="731520"/>
                    <a:pt x="365760" y="731520"/>
                  </a:cubicBezTo>
                  <a:cubicBezTo>
                    <a:pt x="163703" y="731520"/>
                    <a:pt x="0" y="567817"/>
                    <a:pt x="0" y="365760"/>
                  </a:cubicBezTo>
                  <a:close/>
                </a:path>
              </a:pathLst>
            </a:custGeom>
            <a:solidFill>
              <a:srgbClr val="2B2F3D"/>
            </a:solid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1961388" y="7063740"/>
            <a:ext cx="548640" cy="548640"/>
            <a:chOff x="0" y="0"/>
            <a:chExt cx="731520" cy="73152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731520" cy="731520"/>
            </a:xfrm>
            <a:custGeom>
              <a:avLst/>
              <a:gdLst/>
              <a:ahLst/>
              <a:cxnLst/>
              <a:rect r="r" b="b" t="t" l="l"/>
              <a:pathLst>
                <a:path h="731520" w="731520">
                  <a:moveTo>
                    <a:pt x="0" y="0"/>
                  </a:moveTo>
                  <a:lnTo>
                    <a:pt x="731520" y="0"/>
                  </a:lnTo>
                  <a:lnTo>
                    <a:pt x="73152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19050"/>
              <a:ext cx="731520" cy="7505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 b="true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AS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1920240" y="7708392"/>
            <a:ext cx="3291840" cy="480060"/>
            <a:chOff x="0" y="0"/>
            <a:chExt cx="4389120" cy="64008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4389120" cy="640080"/>
            </a:xfrm>
            <a:custGeom>
              <a:avLst/>
              <a:gdLst/>
              <a:ahLst/>
              <a:cxnLst/>
              <a:rect r="r" b="b" t="t" l="l"/>
              <a:pathLst>
                <a:path h="640080" w="4389120">
                  <a:moveTo>
                    <a:pt x="0" y="0"/>
                  </a:moveTo>
                  <a:lnTo>
                    <a:pt x="4389120" y="0"/>
                  </a:lnTo>
                  <a:lnTo>
                    <a:pt x="438912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3611" r="0" b="-83611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19050"/>
              <a:ext cx="4389120" cy="6591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sz="1650" b="true">
                  <a:solidFill>
                    <a:srgbClr val="1F243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Abid Shahoriar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1920240" y="8202168"/>
            <a:ext cx="3291840" cy="342900"/>
            <a:chOff x="0" y="0"/>
            <a:chExt cx="4389120" cy="45720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4389120" cy="457200"/>
            </a:xfrm>
            <a:custGeom>
              <a:avLst/>
              <a:gdLst/>
              <a:ahLst/>
              <a:cxnLst/>
              <a:rect r="r" b="b" t="t" l="l"/>
              <a:pathLst>
                <a:path h="457200" w="4389120">
                  <a:moveTo>
                    <a:pt x="0" y="0"/>
                  </a:moveTo>
                  <a:lnTo>
                    <a:pt x="4389120" y="0"/>
                  </a:lnTo>
                  <a:lnTo>
                    <a:pt x="4389120" y="457200"/>
                  </a:lnTo>
                  <a:lnTo>
                    <a:pt x="0" y="457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7056" r="0" b="-137056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19050"/>
              <a:ext cx="4389120" cy="4762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09"/>
                </a:lnSpc>
              </a:pPr>
              <a:r>
                <a:rPr lang="en-US" sz="1425">
                  <a:solidFill>
                    <a:srgbClr val="666B78"/>
                  </a:solidFill>
                  <a:latin typeface="Arial"/>
                  <a:ea typeface="Arial"/>
                  <a:cs typeface="Arial"/>
                  <a:sym typeface="Arial"/>
                </a:rPr>
                <a:t>2211967042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1920240" y="8558784"/>
            <a:ext cx="3291840" cy="301752"/>
            <a:chOff x="0" y="0"/>
            <a:chExt cx="4389120" cy="402336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4389120" cy="402336"/>
            </a:xfrm>
            <a:custGeom>
              <a:avLst/>
              <a:gdLst/>
              <a:ahLst/>
              <a:cxnLst/>
              <a:rect r="r" b="b" t="t" l="l"/>
              <a:pathLst>
                <a:path h="402336" w="4389120">
                  <a:moveTo>
                    <a:pt x="0" y="0"/>
                  </a:moveTo>
                  <a:lnTo>
                    <a:pt x="4389120" y="0"/>
                  </a:lnTo>
                  <a:lnTo>
                    <a:pt x="4389120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2564" r="0" b="-162564"/>
              </a:stretch>
            </a:blip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9525"/>
              <a:ext cx="4389120" cy="41186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170"/>
                </a:lnSpc>
              </a:pPr>
              <a:r>
                <a:rPr lang="en-US" sz="975">
                  <a:solidFill>
                    <a:srgbClr val="666B78"/>
                  </a:solidFill>
                  <a:latin typeface="Arial"/>
                  <a:ea typeface="Arial"/>
                  <a:cs typeface="Arial"/>
                  <a:sym typeface="Arial"/>
                </a:rPr>
                <a:t>Dept. of Electrical and Computer Engineering, NSU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5623560" y="6858000"/>
            <a:ext cx="3703320" cy="2057400"/>
            <a:chOff x="0" y="0"/>
            <a:chExt cx="4937760" cy="274320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4937760" cy="2743200"/>
            </a:xfrm>
            <a:custGeom>
              <a:avLst/>
              <a:gdLst/>
              <a:ahLst/>
              <a:cxnLst/>
              <a:rect r="r" b="b" t="t" l="l"/>
              <a:pathLst>
                <a:path h="2743200" w="4937760">
                  <a:moveTo>
                    <a:pt x="0" y="109728"/>
                  </a:moveTo>
                  <a:cubicBezTo>
                    <a:pt x="0" y="49149"/>
                    <a:pt x="49149" y="0"/>
                    <a:pt x="109728" y="0"/>
                  </a:cubicBezTo>
                  <a:lnTo>
                    <a:pt x="4828032" y="0"/>
                  </a:lnTo>
                  <a:cubicBezTo>
                    <a:pt x="4888611" y="0"/>
                    <a:pt x="4937760" y="49149"/>
                    <a:pt x="4937760" y="109728"/>
                  </a:cubicBezTo>
                  <a:lnTo>
                    <a:pt x="4937760" y="2633472"/>
                  </a:lnTo>
                  <a:cubicBezTo>
                    <a:pt x="4937760" y="2694051"/>
                    <a:pt x="4888611" y="2743200"/>
                    <a:pt x="4828032" y="2743200"/>
                  </a:cubicBezTo>
                  <a:lnTo>
                    <a:pt x="109728" y="2743200"/>
                  </a:lnTo>
                  <a:cubicBezTo>
                    <a:pt x="49149" y="2743200"/>
                    <a:pt x="0" y="2694051"/>
                    <a:pt x="0" y="2633472"/>
                  </a:cubicBezTo>
                  <a:close/>
                </a:path>
              </a:pathLst>
            </a:custGeom>
            <a:solidFill>
              <a:srgbClr val="F8F2E3"/>
            </a:solidFill>
          </p:spPr>
        </p:sp>
      </p:grpSp>
      <p:grpSp>
        <p:nvGrpSpPr>
          <p:cNvPr name="Group 34" id="34"/>
          <p:cNvGrpSpPr/>
          <p:nvPr/>
        </p:nvGrpSpPr>
        <p:grpSpPr>
          <a:xfrm rot="0">
            <a:off x="5870448" y="7063740"/>
            <a:ext cx="548640" cy="548640"/>
            <a:chOff x="0" y="0"/>
            <a:chExt cx="731520" cy="73152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731520" cy="731520"/>
            </a:xfrm>
            <a:custGeom>
              <a:avLst/>
              <a:gdLst/>
              <a:ahLst/>
              <a:cxnLst/>
              <a:rect r="r" b="b" t="t" l="l"/>
              <a:pathLst>
                <a:path h="731520" w="731520">
                  <a:moveTo>
                    <a:pt x="0" y="365760"/>
                  </a:moveTo>
                  <a:cubicBezTo>
                    <a:pt x="0" y="163703"/>
                    <a:pt x="163703" y="0"/>
                    <a:pt x="365760" y="0"/>
                  </a:cubicBezTo>
                  <a:cubicBezTo>
                    <a:pt x="567817" y="0"/>
                    <a:pt x="731520" y="163703"/>
                    <a:pt x="731520" y="365760"/>
                  </a:cubicBezTo>
                  <a:cubicBezTo>
                    <a:pt x="731520" y="567817"/>
                    <a:pt x="567817" y="731520"/>
                    <a:pt x="365760" y="731520"/>
                  </a:cubicBezTo>
                  <a:cubicBezTo>
                    <a:pt x="163703" y="731520"/>
                    <a:pt x="0" y="567817"/>
                    <a:pt x="0" y="365760"/>
                  </a:cubicBezTo>
                  <a:close/>
                </a:path>
              </a:pathLst>
            </a:custGeom>
            <a:solidFill>
              <a:srgbClr val="2B2F3D"/>
            </a:solidFill>
          </p:spPr>
        </p:sp>
      </p:grpSp>
      <p:grpSp>
        <p:nvGrpSpPr>
          <p:cNvPr name="Group 36" id="36"/>
          <p:cNvGrpSpPr/>
          <p:nvPr/>
        </p:nvGrpSpPr>
        <p:grpSpPr>
          <a:xfrm rot="0">
            <a:off x="5870448" y="7063740"/>
            <a:ext cx="548640" cy="548640"/>
            <a:chOff x="0" y="0"/>
            <a:chExt cx="731520" cy="731520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731520" cy="731520"/>
            </a:xfrm>
            <a:custGeom>
              <a:avLst/>
              <a:gdLst/>
              <a:ahLst/>
              <a:cxnLst/>
              <a:rect r="r" b="b" t="t" l="l"/>
              <a:pathLst>
                <a:path h="731520" w="731520">
                  <a:moveTo>
                    <a:pt x="0" y="0"/>
                  </a:moveTo>
                  <a:lnTo>
                    <a:pt x="731520" y="0"/>
                  </a:lnTo>
                  <a:lnTo>
                    <a:pt x="73152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38" id="38"/>
            <p:cNvSpPr txBox="true"/>
            <p:nvPr/>
          </p:nvSpPr>
          <p:spPr>
            <a:xfrm>
              <a:off x="0" y="-19050"/>
              <a:ext cx="731520" cy="7505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 b="true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GN</a:t>
              </a:r>
            </a:p>
          </p:txBody>
        </p:sp>
      </p:grpSp>
      <p:grpSp>
        <p:nvGrpSpPr>
          <p:cNvPr name="Group 39" id="39"/>
          <p:cNvGrpSpPr/>
          <p:nvPr/>
        </p:nvGrpSpPr>
        <p:grpSpPr>
          <a:xfrm rot="0">
            <a:off x="5829300" y="7708392"/>
            <a:ext cx="3291840" cy="480060"/>
            <a:chOff x="0" y="0"/>
            <a:chExt cx="4389120" cy="640080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4389120" cy="640080"/>
            </a:xfrm>
            <a:custGeom>
              <a:avLst/>
              <a:gdLst/>
              <a:ahLst/>
              <a:cxnLst/>
              <a:rect r="r" b="b" t="t" l="l"/>
              <a:pathLst>
                <a:path h="640080" w="4389120">
                  <a:moveTo>
                    <a:pt x="0" y="0"/>
                  </a:moveTo>
                  <a:lnTo>
                    <a:pt x="4389120" y="0"/>
                  </a:lnTo>
                  <a:lnTo>
                    <a:pt x="438912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3611" r="0" b="-83611"/>
              </a:stretch>
            </a:blipFill>
          </p:spPr>
        </p:sp>
        <p:sp>
          <p:nvSpPr>
            <p:cNvPr name="TextBox 41" id="41"/>
            <p:cNvSpPr txBox="true"/>
            <p:nvPr/>
          </p:nvSpPr>
          <p:spPr>
            <a:xfrm>
              <a:off x="0" y="-19050"/>
              <a:ext cx="4389120" cy="6591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sz="1650" b="true">
                  <a:solidFill>
                    <a:srgbClr val="1F243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Gazi Nihal</a:t>
              </a:r>
            </a:p>
          </p:txBody>
        </p:sp>
      </p:grpSp>
      <p:grpSp>
        <p:nvGrpSpPr>
          <p:cNvPr name="Group 42" id="42"/>
          <p:cNvGrpSpPr/>
          <p:nvPr/>
        </p:nvGrpSpPr>
        <p:grpSpPr>
          <a:xfrm rot="0">
            <a:off x="5829300" y="8202168"/>
            <a:ext cx="3291840" cy="342900"/>
            <a:chOff x="0" y="0"/>
            <a:chExt cx="4389120" cy="457200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4389120" cy="457200"/>
            </a:xfrm>
            <a:custGeom>
              <a:avLst/>
              <a:gdLst/>
              <a:ahLst/>
              <a:cxnLst/>
              <a:rect r="r" b="b" t="t" l="l"/>
              <a:pathLst>
                <a:path h="457200" w="4389120">
                  <a:moveTo>
                    <a:pt x="0" y="0"/>
                  </a:moveTo>
                  <a:lnTo>
                    <a:pt x="4389120" y="0"/>
                  </a:lnTo>
                  <a:lnTo>
                    <a:pt x="4389120" y="457200"/>
                  </a:lnTo>
                  <a:lnTo>
                    <a:pt x="0" y="457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7056" r="0" b="-137056"/>
              </a:stretch>
            </a:blipFill>
          </p:spPr>
        </p:sp>
        <p:sp>
          <p:nvSpPr>
            <p:cNvPr name="TextBox 44" id="44"/>
            <p:cNvSpPr txBox="true"/>
            <p:nvPr/>
          </p:nvSpPr>
          <p:spPr>
            <a:xfrm>
              <a:off x="0" y="-19050"/>
              <a:ext cx="4389120" cy="4762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09"/>
                </a:lnSpc>
              </a:pPr>
              <a:r>
                <a:rPr lang="en-US" sz="1425">
                  <a:solidFill>
                    <a:srgbClr val="666B78"/>
                  </a:solidFill>
                  <a:latin typeface="Arial"/>
                  <a:ea typeface="Arial"/>
                  <a:cs typeface="Arial"/>
                  <a:sym typeface="Arial"/>
                </a:rPr>
                <a:t>2112140642</a:t>
              </a:r>
            </a:p>
          </p:txBody>
        </p:sp>
      </p:grpSp>
      <p:grpSp>
        <p:nvGrpSpPr>
          <p:cNvPr name="Group 45" id="45"/>
          <p:cNvGrpSpPr/>
          <p:nvPr/>
        </p:nvGrpSpPr>
        <p:grpSpPr>
          <a:xfrm rot="0">
            <a:off x="5829300" y="8558784"/>
            <a:ext cx="3291840" cy="301752"/>
            <a:chOff x="0" y="0"/>
            <a:chExt cx="4389120" cy="402336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4389120" cy="402336"/>
            </a:xfrm>
            <a:custGeom>
              <a:avLst/>
              <a:gdLst/>
              <a:ahLst/>
              <a:cxnLst/>
              <a:rect r="r" b="b" t="t" l="l"/>
              <a:pathLst>
                <a:path h="402336" w="4389120">
                  <a:moveTo>
                    <a:pt x="0" y="0"/>
                  </a:moveTo>
                  <a:lnTo>
                    <a:pt x="4389120" y="0"/>
                  </a:lnTo>
                  <a:lnTo>
                    <a:pt x="4389120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2564" r="0" b="-162564"/>
              </a:stretch>
            </a:blipFill>
          </p:spPr>
        </p:sp>
        <p:sp>
          <p:nvSpPr>
            <p:cNvPr name="TextBox 47" id="47"/>
            <p:cNvSpPr txBox="true"/>
            <p:nvPr/>
          </p:nvSpPr>
          <p:spPr>
            <a:xfrm>
              <a:off x="0" y="-9525"/>
              <a:ext cx="4389120" cy="41186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170"/>
                </a:lnSpc>
              </a:pPr>
              <a:r>
                <a:rPr lang="en-US" sz="975">
                  <a:solidFill>
                    <a:srgbClr val="666B78"/>
                  </a:solidFill>
                  <a:latin typeface="Arial"/>
                  <a:ea typeface="Arial"/>
                  <a:cs typeface="Arial"/>
                  <a:sym typeface="Arial"/>
                </a:rPr>
                <a:t>Dept. of Electrical and Computer Engineering, NSU</a:t>
              </a:r>
            </a:p>
          </p:txBody>
        </p:sp>
      </p:grpSp>
      <p:grpSp>
        <p:nvGrpSpPr>
          <p:cNvPr name="Group 48" id="48"/>
          <p:cNvGrpSpPr/>
          <p:nvPr/>
        </p:nvGrpSpPr>
        <p:grpSpPr>
          <a:xfrm rot="0">
            <a:off x="9532620" y="6858000"/>
            <a:ext cx="3703320" cy="2057400"/>
            <a:chOff x="0" y="0"/>
            <a:chExt cx="4937760" cy="2743200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4937760" cy="2743200"/>
            </a:xfrm>
            <a:custGeom>
              <a:avLst/>
              <a:gdLst/>
              <a:ahLst/>
              <a:cxnLst/>
              <a:rect r="r" b="b" t="t" l="l"/>
              <a:pathLst>
                <a:path h="2743200" w="4937760">
                  <a:moveTo>
                    <a:pt x="0" y="109728"/>
                  </a:moveTo>
                  <a:cubicBezTo>
                    <a:pt x="0" y="49149"/>
                    <a:pt x="49149" y="0"/>
                    <a:pt x="109728" y="0"/>
                  </a:cubicBezTo>
                  <a:lnTo>
                    <a:pt x="4828032" y="0"/>
                  </a:lnTo>
                  <a:cubicBezTo>
                    <a:pt x="4888611" y="0"/>
                    <a:pt x="4937760" y="49149"/>
                    <a:pt x="4937760" y="109728"/>
                  </a:cubicBezTo>
                  <a:lnTo>
                    <a:pt x="4937760" y="2633472"/>
                  </a:lnTo>
                  <a:cubicBezTo>
                    <a:pt x="4937760" y="2694051"/>
                    <a:pt x="4888611" y="2743200"/>
                    <a:pt x="4828032" y="2743200"/>
                  </a:cubicBezTo>
                  <a:lnTo>
                    <a:pt x="109728" y="2743200"/>
                  </a:lnTo>
                  <a:cubicBezTo>
                    <a:pt x="49149" y="2743200"/>
                    <a:pt x="0" y="2694051"/>
                    <a:pt x="0" y="2633472"/>
                  </a:cubicBezTo>
                  <a:close/>
                </a:path>
              </a:pathLst>
            </a:custGeom>
            <a:solidFill>
              <a:srgbClr val="F8F2E3"/>
            </a:solidFill>
          </p:spPr>
        </p:sp>
      </p:grpSp>
      <p:grpSp>
        <p:nvGrpSpPr>
          <p:cNvPr name="Group 50" id="50"/>
          <p:cNvGrpSpPr/>
          <p:nvPr/>
        </p:nvGrpSpPr>
        <p:grpSpPr>
          <a:xfrm rot="0">
            <a:off x="9779508" y="7063740"/>
            <a:ext cx="548640" cy="548640"/>
            <a:chOff x="0" y="0"/>
            <a:chExt cx="731520" cy="731520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731520" cy="731520"/>
            </a:xfrm>
            <a:custGeom>
              <a:avLst/>
              <a:gdLst/>
              <a:ahLst/>
              <a:cxnLst/>
              <a:rect r="r" b="b" t="t" l="l"/>
              <a:pathLst>
                <a:path h="731520" w="731520">
                  <a:moveTo>
                    <a:pt x="0" y="365760"/>
                  </a:moveTo>
                  <a:cubicBezTo>
                    <a:pt x="0" y="163703"/>
                    <a:pt x="163703" y="0"/>
                    <a:pt x="365760" y="0"/>
                  </a:cubicBezTo>
                  <a:cubicBezTo>
                    <a:pt x="567817" y="0"/>
                    <a:pt x="731520" y="163703"/>
                    <a:pt x="731520" y="365760"/>
                  </a:cubicBezTo>
                  <a:cubicBezTo>
                    <a:pt x="731520" y="567817"/>
                    <a:pt x="567817" y="731520"/>
                    <a:pt x="365760" y="731520"/>
                  </a:cubicBezTo>
                  <a:cubicBezTo>
                    <a:pt x="163703" y="731520"/>
                    <a:pt x="0" y="567817"/>
                    <a:pt x="0" y="365760"/>
                  </a:cubicBezTo>
                  <a:close/>
                </a:path>
              </a:pathLst>
            </a:custGeom>
            <a:solidFill>
              <a:srgbClr val="2B2F3D"/>
            </a:solidFill>
          </p:spPr>
        </p:sp>
      </p:grpSp>
      <p:grpSp>
        <p:nvGrpSpPr>
          <p:cNvPr name="Group 52" id="52"/>
          <p:cNvGrpSpPr/>
          <p:nvPr/>
        </p:nvGrpSpPr>
        <p:grpSpPr>
          <a:xfrm rot="0">
            <a:off x="9779508" y="7063740"/>
            <a:ext cx="548640" cy="548640"/>
            <a:chOff x="0" y="0"/>
            <a:chExt cx="731520" cy="731520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731520" cy="731520"/>
            </a:xfrm>
            <a:custGeom>
              <a:avLst/>
              <a:gdLst/>
              <a:ahLst/>
              <a:cxnLst/>
              <a:rect r="r" b="b" t="t" l="l"/>
              <a:pathLst>
                <a:path h="731520" w="731520">
                  <a:moveTo>
                    <a:pt x="0" y="0"/>
                  </a:moveTo>
                  <a:lnTo>
                    <a:pt x="731520" y="0"/>
                  </a:lnTo>
                  <a:lnTo>
                    <a:pt x="73152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54" id="54"/>
            <p:cNvSpPr txBox="true"/>
            <p:nvPr/>
          </p:nvSpPr>
          <p:spPr>
            <a:xfrm>
              <a:off x="0" y="-19050"/>
              <a:ext cx="731520" cy="7505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 b="true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SA</a:t>
              </a:r>
            </a:p>
          </p:txBody>
        </p:sp>
      </p:grpSp>
      <p:grpSp>
        <p:nvGrpSpPr>
          <p:cNvPr name="Group 55" id="55"/>
          <p:cNvGrpSpPr/>
          <p:nvPr/>
        </p:nvGrpSpPr>
        <p:grpSpPr>
          <a:xfrm rot="0">
            <a:off x="9738360" y="7708392"/>
            <a:ext cx="3291840" cy="480060"/>
            <a:chOff x="0" y="0"/>
            <a:chExt cx="4389120" cy="640080"/>
          </a:xfrm>
        </p:grpSpPr>
        <p:sp>
          <p:nvSpPr>
            <p:cNvPr name="Freeform 56" id="56"/>
            <p:cNvSpPr/>
            <p:nvPr/>
          </p:nvSpPr>
          <p:spPr>
            <a:xfrm flipH="false" flipV="false" rot="0">
              <a:off x="0" y="0"/>
              <a:ext cx="4389120" cy="640080"/>
            </a:xfrm>
            <a:custGeom>
              <a:avLst/>
              <a:gdLst/>
              <a:ahLst/>
              <a:cxnLst/>
              <a:rect r="r" b="b" t="t" l="l"/>
              <a:pathLst>
                <a:path h="640080" w="4389120">
                  <a:moveTo>
                    <a:pt x="0" y="0"/>
                  </a:moveTo>
                  <a:lnTo>
                    <a:pt x="4389120" y="0"/>
                  </a:lnTo>
                  <a:lnTo>
                    <a:pt x="438912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3611" r="0" b="-83611"/>
              </a:stretch>
            </a:blipFill>
          </p:spPr>
        </p:sp>
        <p:sp>
          <p:nvSpPr>
            <p:cNvPr name="TextBox 57" id="57"/>
            <p:cNvSpPr txBox="true"/>
            <p:nvPr/>
          </p:nvSpPr>
          <p:spPr>
            <a:xfrm>
              <a:off x="0" y="-19050"/>
              <a:ext cx="4389120" cy="6591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sz="1650" b="true">
                  <a:solidFill>
                    <a:srgbClr val="1F243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Syed Rakibul Hasan Apurbo</a:t>
              </a:r>
            </a:p>
          </p:txBody>
        </p:sp>
      </p:grpSp>
      <p:grpSp>
        <p:nvGrpSpPr>
          <p:cNvPr name="Group 58" id="58"/>
          <p:cNvGrpSpPr/>
          <p:nvPr/>
        </p:nvGrpSpPr>
        <p:grpSpPr>
          <a:xfrm rot="0">
            <a:off x="9738360" y="8202168"/>
            <a:ext cx="3291840" cy="342900"/>
            <a:chOff x="0" y="0"/>
            <a:chExt cx="4389120" cy="457200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4389120" cy="457200"/>
            </a:xfrm>
            <a:custGeom>
              <a:avLst/>
              <a:gdLst/>
              <a:ahLst/>
              <a:cxnLst/>
              <a:rect r="r" b="b" t="t" l="l"/>
              <a:pathLst>
                <a:path h="457200" w="4389120">
                  <a:moveTo>
                    <a:pt x="0" y="0"/>
                  </a:moveTo>
                  <a:lnTo>
                    <a:pt x="4389120" y="0"/>
                  </a:lnTo>
                  <a:lnTo>
                    <a:pt x="4389120" y="457200"/>
                  </a:lnTo>
                  <a:lnTo>
                    <a:pt x="0" y="457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7056" r="0" b="-137056"/>
              </a:stretch>
            </a:blipFill>
          </p:spPr>
        </p:sp>
        <p:sp>
          <p:nvSpPr>
            <p:cNvPr name="TextBox 60" id="60"/>
            <p:cNvSpPr txBox="true"/>
            <p:nvPr/>
          </p:nvSpPr>
          <p:spPr>
            <a:xfrm>
              <a:off x="0" y="-19050"/>
              <a:ext cx="4389120" cy="4762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09"/>
                </a:lnSpc>
              </a:pPr>
              <a:r>
                <a:rPr lang="en-US" sz="1425">
                  <a:solidFill>
                    <a:srgbClr val="666B78"/>
                  </a:solidFill>
                  <a:latin typeface="Arial"/>
                  <a:ea typeface="Arial"/>
                  <a:cs typeface="Arial"/>
                  <a:sym typeface="Arial"/>
                </a:rPr>
                <a:t>2111197642</a:t>
              </a:r>
            </a:p>
          </p:txBody>
        </p:sp>
      </p:grpSp>
      <p:grpSp>
        <p:nvGrpSpPr>
          <p:cNvPr name="Group 61" id="61"/>
          <p:cNvGrpSpPr/>
          <p:nvPr/>
        </p:nvGrpSpPr>
        <p:grpSpPr>
          <a:xfrm rot="0">
            <a:off x="9738360" y="8558784"/>
            <a:ext cx="3291840" cy="301752"/>
            <a:chOff x="0" y="0"/>
            <a:chExt cx="4389120" cy="402336"/>
          </a:xfrm>
        </p:grpSpPr>
        <p:sp>
          <p:nvSpPr>
            <p:cNvPr name="Freeform 62" id="62"/>
            <p:cNvSpPr/>
            <p:nvPr/>
          </p:nvSpPr>
          <p:spPr>
            <a:xfrm flipH="false" flipV="false" rot="0">
              <a:off x="0" y="0"/>
              <a:ext cx="4389120" cy="402336"/>
            </a:xfrm>
            <a:custGeom>
              <a:avLst/>
              <a:gdLst/>
              <a:ahLst/>
              <a:cxnLst/>
              <a:rect r="r" b="b" t="t" l="l"/>
              <a:pathLst>
                <a:path h="402336" w="4389120">
                  <a:moveTo>
                    <a:pt x="0" y="0"/>
                  </a:moveTo>
                  <a:lnTo>
                    <a:pt x="4389120" y="0"/>
                  </a:lnTo>
                  <a:lnTo>
                    <a:pt x="4389120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2564" r="0" b="-162564"/>
              </a:stretch>
            </a:blipFill>
          </p:spPr>
        </p:sp>
        <p:sp>
          <p:nvSpPr>
            <p:cNvPr name="TextBox 63" id="63"/>
            <p:cNvSpPr txBox="true"/>
            <p:nvPr/>
          </p:nvSpPr>
          <p:spPr>
            <a:xfrm>
              <a:off x="0" y="-9525"/>
              <a:ext cx="4389120" cy="41186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170"/>
                </a:lnSpc>
              </a:pPr>
              <a:r>
                <a:rPr lang="en-US" sz="975">
                  <a:solidFill>
                    <a:srgbClr val="666B78"/>
                  </a:solidFill>
                  <a:latin typeface="Arial"/>
                  <a:ea typeface="Arial"/>
                  <a:cs typeface="Arial"/>
                  <a:sym typeface="Arial"/>
                </a:rPr>
                <a:t>Dept. of Electrical and Computer Engineering, NSU</a:t>
              </a:r>
            </a:p>
          </p:txBody>
        </p:sp>
      </p:grpSp>
      <p:grpSp>
        <p:nvGrpSpPr>
          <p:cNvPr name="Group 64" id="64"/>
          <p:cNvGrpSpPr/>
          <p:nvPr/>
        </p:nvGrpSpPr>
        <p:grpSpPr>
          <a:xfrm rot="0">
            <a:off x="13441680" y="6858000"/>
            <a:ext cx="3703320" cy="2057400"/>
            <a:chOff x="0" y="0"/>
            <a:chExt cx="4937760" cy="2743200"/>
          </a:xfrm>
        </p:grpSpPr>
        <p:sp>
          <p:nvSpPr>
            <p:cNvPr name="Freeform 65" id="65"/>
            <p:cNvSpPr/>
            <p:nvPr/>
          </p:nvSpPr>
          <p:spPr>
            <a:xfrm flipH="false" flipV="false" rot="0">
              <a:off x="0" y="0"/>
              <a:ext cx="4937760" cy="2743200"/>
            </a:xfrm>
            <a:custGeom>
              <a:avLst/>
              <a:gdLst/>
              <a:ahLst/>
              <a:cxnLst/>
              <a:rect r="r" b="b" t="t" l="l"/>
              <a:pathLst>
                <a:path h="2743200" w="4937760">
                  <a:moveTo>
                    <a:pt x="0" y="109728"/>
                  </a:moveTo>
                  <a:cubicBezTo>
                    <a:pt x="0" y="49149"/>
                    <a:pt x="49149" y="0"/>
                    <a:pt x="109728" y="0"/>
                  </a:cubicBezTo>
                  <a:lnTo>
                    <a:pt x="4828032" y="0"/>
                  </a:lnTo>
                  <a:cubicBezTo>
                    <a:pt x="4888611" y="0"/>
                    <a:pt x="4937760" y="49149"/>
                    <a:pt x="4937760" y="109728"/>
                  </a:cubicBezTo>
                  <a:lnTo>
                    <a:pt x="4937760" y="2633472"/>
                  </a:lnTo>
                  <a:cubicBezTo>
                    <a:pt x="4937760" y="2694051"/>
                    <a:pt x="4888611" y="2743200"/>
                    <a:pt x="4828032" y="2743200"/>
                  </a:cubicBezTo>
                  <a:lnTo>
                    <a:pt x="109728" y="2743200"/>
                  </a:lnTo>
                  <a:cubicBezTo>
                    <a:pt x="49149" y="2743200"/>
                    <a:pt x="0" y="2694051"/>
                    <a:pt x="0" y="2633472"/>
                  </a:cubicBezTo>
                  <a:close/>
                </a:path>
              </a:pathLst>
            </a:custGeom>
            <a:solidFill>
              <a:srgbClr val="F8F2E3"/>
            </a:solidFill>
          </p:spPr>
        </p:sp>
      </p:grpSp>
      <p:grpSp>
        <p:nvGrpSpPr>
          <p:cNvPr name="Group 66" id="66"/>
          <p:cNvGrpSpPr/>
          <p:nvPr/>
        </p:nvGrpSpPr>
        <p:grpSpPr>
          <a:xfrm rot="0">
            <a:off x="13688568" y="7063740"/>
            <a:ext cx="548640" cy="548640"/>
            <a:chOff x="0" y="0"/>
            <a:chExt cx="731520" cy="731520"/>
          </a:xfrm>
        </p:grpSpPr>
        <p:sp>
          <p:nvSpPr>
            <p:cNvPr name="Freeform 67" id="67"/>
            <p:cNvSpPr/>
            <p:nvPr/>
          </p:nvSpPr>
          <p:spPr>
            <a:xfrm flipH="false" flipV="false" rot="0">
              <a:off x="0" y="0"/>
              <a:ext cx="731520" cy="731520"/>
            </a:xfrm>
            <a:custGeom>
              <a:avLst/>
              <a:gdLst/>
              <a:ahLst/>
              <a:cxnLst/>
              <a:rect r="r" b="b" t="t" l="l"/>
              <a:pathLst>
                <a:path h="731520" w="731520">
                  <a:moveTo>
                    <a:pt x="0" y="365760"/>
                  </a:moveTo>
                  <a:cubicBezTo>
                    <a:pt x="0" y="163703"/>
                    <a:pt x="163703" y="0"/>
                    <a:pt x="365760" y="0"/>
                  </a:cubicBezTo>
                  <a:cubicBezTo>
                    <a:pt x="567817" y="0"/>
                    <a:pt x="731520" y="163703"/>
                    <a:pt x="731520" y="365760"/>
                  </a:cubicBezTo>
                  <a:cubicBezTo>
                    <a:pt x="731520" y="567817"/>
                    <a:pt x="567817" y="731520"/>
                    <a:pt x="365760" y="731520"/>
                  </a:cubicBezTo>
                  <a:cubicBezTo>
                    <a:pt x="163703" y="731520"/>
                    <a:pt x="0" y="567817"/>
                    <a:pt x="0" y="365760"/>
                  </a:cubicBezTo>
                  <a:close/>
                </a:path>
              </a:pathLst>
            </a:custGeom>
            <a:solidFill>
              <a:srgbClr val="2B2F3D"/>
            </a:solidFill>
          </p:spPr>
        </p:sp>
      </p:grpSp>
      <p:grpSp>
        <p:nvGrpSpPr>
          <p:cNvPr name="Group 68" id="68"/>
          <p:cNvGrpSpPr/>
          <p:nvPr/>
        </p:nvGrpSpPr>
        <p:grpSpPr>
          <a:xfrm rot="0">
            <a:off x="13688568" y="7063740"/>
            <a:ext cx="548640" cy="548640"/>
            <a:chOff x="0" y="0"/>
            <a:chExt cx="731520" cy="731520"/>
          </a:xfrm>
        </p:grpSpPr>
        <p:sp>
          <p:nvSpPr>
            <p:cNvPr name="Freeform 69" id="69"/>
            <p:cNvSpPr/>
            <p:nvPr/>
          </p:nvSpPr>
          <p:spPr>
            <a:xfrm flipH="false" flipV="false" rot="0">
              <a:off x="0" y="0"/>
              <a:ext cx="731520" cy="731520"/>
            </a:xfrm>
            <a:custGeom>
              <a:avLst/>
              <a:gdLst/>
              <a:ahLst/>
              <a:cxnLst/>
              <a:rect r="r" b="b" t="t" l="l"/>
              <a:pathLst>
                <a:path h="731520" w="731520">
                  <a:moveTo>
                    <a:pt x="0" y="0"/>
                  </a:moveTo>
                  <a:lnTo>
                    <a:pt x="731520" y="0"/>
                  </a:lnTo>
                  <a:lnTo>
                    <a:pt x="73152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70" id="70"/>
            <p:cNvSpPr txBox="true"/>
            <p:nvPr/>
          </p:nvSpPr>
          <p:spPr>
            <a:xfrm>
              <a:off x="0" y="-19050"/>
              <a:ext cx="731520" cy="7505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 b="true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FS</a:t>
              </a:r>
            </a:p>
          </p:txBody>
        </p:sp>
      </p:grpSp>
      <p:grpSp>
        <p:nvGrpSpPr>
          <p:cNvPr name="Group 71" id="71"/>
          <p:cNvGrpSpPr/>
          <p:nvPr/>
        </p:nvGrpSpPr>
        <p:grpSpPr>
          <a:xfrm rot="0">
            <a:off x="13647420" y="7708392"/>
            <a:ext cx="3291840" cy="480060"/>
            <a:chOff x="0" y="0"/>
            <a:chExt cx="4389120" cy="640080"/>
          </a:xfrm>
        </p:grpSpPr>
        <p:sp>
          <p:nvSpPr>
            <p:cNvPr name="Freeform 72" id="72"/>
            <p:cNvSpPr/>
            <p:nvPr/>
          </p:nvSpPr>
          <p:spPr>
            <a:xfrm flipH="false" flipV="false" rot="0">
              <a:off x="0" y="0"/>
              <a:ext cx="4389120" cy="640080"/>
            </a:xfrm>
            <a:custGeom>
              <a:avLst/>
              <a:gdLst/>
              <a:ahLst/>
              <a:cxnLst/>
              <a:rect r="r" b="b" t="t" l="l"/>
              <a:pathLst>
                <a:path h="640080" w="4389120">
                  <a:moveTo>
                    <a:pt x="0" y="0"/>
                  </a:moveTo>
                  <a:lnTo>
                    <a:pt x="4389120" y="0"/>
                  </a:lnTo>
                  <a:lnTo>
                    <a:pt x="438912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3611" r="0" b="-83611"/>
              </a:stretch>
            </a:blipFill>
          </p:spPr>
        </p:sp>
        <p:sp>
          <p:nvSpPr>
            <p:cNvPr name="TextBox 73" id="73"/>
            <p:cNvSpPr txBox="true"/>
            <p:nvPr/>
          </p:nvSpPr>
          <p:spPr>
            <a:xfrm>
              <a:off x="0" y="-19050"/>
              <a:ext cx="4389120" cy="6591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sz="1650" b="true">
                  <a:solidFill>
                    <a:srgbClr val="1F243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Fiad Sarowar </a:t>
              </a:r>
            </a:p>
          </p:txBody>
        </p:sp>
      </p:grpSp>
      <p:grpSp>
        <p:nvGrpSpPr>
          <p:cNvPr name="Group 74" id="74"/>
          <p:cNvGrpSpPr/>
          <p:nvPr/>
        </p:nvGrpSpPr>
        <p:grpSpPr>
          <a:xfrm rot="0">
            <a:off x="13647420" y="8202168"/>
            <a:ext cx="3291840" cy="342900"/>
            <a:chOff x="0" y="0"/>
            <a:chExt cx="4389120" cy="457200"/>
          </a:xfrm>
        </p:grpSpPr>
        <p:sp>
          <p:nvSpPr>
            <p:cNvPr name="Freeform 75" id="75"/>
            <p:cNvSpPr/>
            <p:nvPr/>
          </p:nvSpPr>
          <p:spPr>
            <a:xfrm flipH="false" flipV="false" rot="0">
              <a:off x="0" y="0"/>
              <a:ext cx="4389120" cy="457200"/>
            </a:xfrm>
            <a:custGeom>
              <a:avLst/>
              <a:gdLst/>
              <a:ahLst/>
              <a:cxnLst/>
              <a:rect r="r" b="b" t="t" l="l"/>
              <a:pathLst>
                <a:path h="457200" w="4389120">
                  <a:moveTo>
                    <a:pt x="0" y="0"/>
                  </a:moveTo>
                  <a:lnTo>
                    <a:pt x="4389120" y="0"/>
                  </a:lnTo>
                  <a:lnTo>
                    <a:pt x="4389120" y="457200"/>
                  </a:lnTo>
                  <a:lnTo>
                    <a:pt x="0" y="457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7056" r="0" b="-137056"/>
              </a:stretch>
            </a:blipFill>
          </p:spPr>
        </p:sp>
        <p:sp>
          <p:nvSpPr>
            <p:cNvPr name="TextBox 76" id="76"/>
            <p:cNvSpPr txBox="true"/>
            <p:nvPr/>
          </p:nvSpPr>
          <p:spPr>
            <a:xfrm>
              <a:off x="0" y="-19050"/>
              <a:ext cx="4389120" cy="4762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09"/>
                </a:lnSpc>
              </a:pPr>
              <a:r>
                <a:rPr lang="en-US" sz="1425">
                  <a:solidFill>
                    <a:srgbClr val="666B78"/>
                  </a:solidFill>
                  <a:latin typeface="Arial"/>
                  <a:ea typeface="Arial"/>
                  <a:cs typeface="Arial"/>
                  <a:sym typeface="Arial"/>
                </a:rPr>
                <a:t>2121365642</a:t>
              </a:r>
            </a:p>
          </p:txBody>
        </p:sp>
      </p:grpSp>
      <p:grpSp>
        <p:nvGrpSpPr>
          <p:cNvPr name="Group 77" id="77"/>
          <p:cNvGrpSpPr/>
          <p:nvPr/>
        </p:nvGrpSpPr>
        <p:grpSpPr>
          <a:xfrm rot="0">
            <a:off x="13647420" y="8558784"/>
            <a:ext cx="3291840" cy="301752"/>
            <a:chOff x="0" y="0"/>
            <a:chExt cx="4389120" cy="402336"/>
          </a:xfrm>
        </p:grpSpPr>
        <p:sp>
          <p:nvSpPr>
            <p:cNvPr name="Freeform 78" id="78"/>
            <p:cNvSpPr/>
            <p:nvPr/>
          </p:nvSpPr>
          <p:spPr>
            <a:xfrm flipH="false" flipV="false" rot="0">
              <a:off x="0" y="0"/>
              <a:ext cx="4389120" cy="402336"/>
            </a:xfrm>
            <a:custGeom>
              <a:avLst/>
              <a:gdLst/>
              <a:ahLst/>
              <a:cxnLst/>
              <a:rect r="r" b="b" t="t" l="l"/>
              <a:pathLst>
                <a:path h="402336" w="4389120">
                  <a:moveTo>
                    <a:pt x="0" y="0"/>
                  </a:moveTo>
                  <a:lnTo>
                    <a:pt x="4389120" y="0"/>
                  </a:lnTo>
                  <a:lnTo>
                    <a:pt x="4389120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2564" r="0" b="-162564"/>
              </a:stretch>
            </a:blipFill>
          </p:spPr>
        </p:sp>
        <p:sp>
          <p:nvSpPr>
            <p:cNvPr name="TextBox 79" id="79"/>
            <p:cNvSpPr txBox="true"/>
            <p:nvPr/>
          </p:nvSpPr>
          <p:spPr>
            <a:xfrm>
              <a:off x="0" y="-9525"/>
              <a:ext cx="4389120" cy="41186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170"/>
                </a:lnSpc>
              </a:pPr>
              <a:r>
                <a:rPr lang="en-US" sz="975">
                  <a:solidFill>
                    <a:srgbClr val="666B78"/>
                  </a:solidFill>
                  <a:latin typeface="Arial"/>
                  <a:ea typeface="Arial"/>
                  <a:cs typeface="Arial"/>
                  <a:sym typeface="Arial"/>
                </a:rPr>
                <a:t>Dept. of Electrical and Computer Engineering, NSU</a:t>
              </a:r>
            </a:p>
          </p:txBody>
        </p:sp>
      </p:grpSp>
      <p:grpSp>
        <p:nvGrpSpPr>
          <p:cNvPr name="Group 80" id="80"/>
          <p:cNvGrpSpPr/>
          <p:nvPr/>
        </p:nvGrpSpPr>
        <p:grpSpPr>
          <a:xfrm rot="0">
            <a:off x="685800" y="9848088"/>
            <a:ext cx="9601200" cy="384048"/>
            <a:chOff x="0" y="0"/>
            <a:chExt cx="12801600" cy="512064"/>
          </a:xfrm>
        </p:grpSpPr>
        <p:sp>
          <p:nvSpPr>
            <p:cNvPr name="Freeform 81" id="81"/>
            <p:cNvSpPr/>
            <p:nvPr/>
          </p:nvSpPr>
          <p:spPr>
            <a:xfrm flipH="false" flipV="false" rot="0">
              <a:off x="0" y="0"/>
              <a:ext cx="12801600" cy="512064"/>
            </a:xfrm>
            <a:custGeom>
              <a:avLst/>
              <a:gdLst/>
              <a:ahLst/>
              <a:cxnLst/>
              <a:rect r="r" b="b" t="t" l="l"/>
              <a:pathLst>
                <a:path h="512064" w="12801600">
                  <a:moveTo>
                    <a:pt x="0" y="0"/>
                  </a:moveTo>
                  <a:lnTo>
                    <a:pt x="12801600" y="0"/>
                  </a:lnTo>
                  <a:lnTo>
                    <a:pt x="12801600" y="512064"/>
                  </a:lnTo>
                  <a:lnTo>
                    <a:pt x="0" y="5120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37125" r="0" b="-437125"/>
              </a:stretch>
            </a:blipFill>
          </p:spPr>
        </p:sp>
        <p:sp>
          <p:nvSpPr>
            <p:cNvPr name="TextBox 82" id="82"/>
            <p:cNvSpPr txBox="true"/>
            <p:nvPr/>
          </p:nvSpPr>
          <p:spPr>
            <a:xfrm>
              <a:off x="0" y="-19050"/>
              <a:ext cx="12801600" cy="53111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439"/>
                </a:lnSpc>
              </a:pPr>
              <a:r>
                <a:rPr lang="en-US" sz="1200">
                  <a:solidFill>
                    <a:srgbClr val="666B78"/>
                  </a:solidFill>
                  <a:latin typeface="Arial"/>
                  <a:ea typeface="Arial"/>
                  <a:cs typeface="Arial"/>
                  <a:sym typeface="Arial"/>
                </a:rPr>
                <a:t>Medical Diagnosis Expert System  |  CSE440</a:t>
              </a:r>
            </a:p>
          </p:txBody>
        </p:sp>
      </p:grpSp>
      <p:grpSp>
        <p:nvGrpSpPr>
          <p:cNvPr name="Group 83" id="83"/>
          <p:cNvGrpSpPr/>
          <p:nvPr/>
        </p:nvGrpSpPr>
        <p:grpSpPr>
          <a:xfrm rot="0">
            <a:off x="17145000" y="9848088"/>
            <a:ext cx="548640" cy="384048"/>
            <a:chOff x="0" y="0"/>
            <a:chExt cx="731520" cy="512064"/>
          </a:xfrm>
        </p:grpSpPr>
        <p:sp>
          <p:nvSpPr>
            <p:cNvPr name="Freeform 84" id="84"/>
            <p:cNvSpPr/>
            <p:nvPr/>
          </p:nvSpPr>
          <p:spPr>
            <a:xfrm flipH="false" flipV="false" rot="0">
              <a:off x="0" y="0"/>
              <a:ext cx="731520" cy="512064"/>
            </a:xfrm>
            <a:custGeom>
              <a:avLst/>
              <a:gdLst/>
              <a:ahLst/>
              <a:cxnLst/>
              <a:rect r="r" b="b" t="t" l="l"/>
              <a:pathLst>
                <a:path h="512064" w="731520">
                  <a:moveTo>
                    <a:pt x="0" y="0"/>
                  </a:moveTo>
                  <a:lnTo>
                    <a:pt x="731520" y="0"/>
                  </a:lnTo>
                  <a:lnTo>
                    <a:pt x="731520" y="512064"/>
                  </a:lnTo>
                  <a:lnTo>
                    <a:pt x="0" y="5120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39812" t="0" r="-39812" b="0"/>
              </a:stretch>
            </a:blipFill>
          </p:spPr>
        </p:sp>
        <p:sp>
          <p:nvSpPr>
            <p:cNvPr name="TextBox 85" id="85"/>
            <p:cNvSpPr txBox="true"/>
            <p:nvPr/>
          </p:nvSpPr>
          <p:spPr>
            <a:xfrm>
              <a:off x="0" y="-19050"/>
              <a:ext cx="731520" cy="53111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439"/>
                </a:lnSpc>
              </a:pPr>
              <a:r>
                <a:rPr lang="en-US" sz="1200">
                  <a:solidFill>
                    <a:srgbClr val="666B78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</a:p>
          </p:txBody>
        </p:sp>
      </p:grp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6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22960" y="685800"/>
            <a:ext cx="16596360" cy="822960"/>
            <a:chOff x="0" y="0"/>
            <a:chExt cx="22128480" cy="109728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2128480" cy="1097280"/>
            </a:xfrm>
            <a:custGeom>
              <a:avLst/>
              <a:gdLst/>
              <a:ahLst/>
              <a:cxnLst/>
              <a:rect r="r" b="b" t="t" l="l"/>
              <a:pathLst>
                <a:path h="1097280" w="22128480">
                  <a:moveTo>
                    <a:pt x="0" y="0"/>
                  </a:moveTo>
                  <a:lnTo>
                    <a:pt x="22128480" y="0"/>
                  </a:lnTo>
                  <a:lnTo>
                    <a:pt x="2212848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42948" r="0" b="-342948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19050"/>
              <a:ext cx="22128480" cy="11163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040"/>
                </a:lnSpc>
              </a:pPr>
              <a:r>
                <a:rPr lang="en-US" sz="4200" b="true">
                  <a:solidFill>
                    <a:srgbClr val="1F243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Introduction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822960" y="1508760"/>
            <a:ext cx="16596360" cy="548640"/>
            <a:chOff x="0" y="0"/>
            <a:chExt cx="22128480" cy="73152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2128480" cy="731520"/>
            </a:xfrm>
            <a:custGeom>
              <a:avLst/>
              <a:gdLst/>
              <a:ahLst/>
              <a:cxnLst/>
              <a:rect r="r" b="b" t="t" l="l"/>
              <a:pathLst>
                <a:path h="731520" w="22128480">
                  <a:moveTo>
                    <a:pt x="0" y="0"/>
                  </a:moveTo>
                  <a:lnTo>
                    <a:pt x="22128480" y="0"/>
                  </a:lnTo>
                  <a:lnTo>
                    <a:pt x="2212848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39422" r="0" b="-539422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19050"/>
              <a:ext cx="22128480" cy="7505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sz="1950">
                  <a:solidFill>
                    <a:srgbClr val="666B78"/>
                  </a:solidFill>
                  <a:latin typeface="Arial"/>
                  <a:ea typeface="Arial"/>
                  <a:cs typeface="Arial"/>
                  <a:sym typeface="Arial"/>
                </a:rPr>
                <a:t>A transparent, rule-based diagnosis assistant driven by symptoms and medical history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813435" y="2527935"/>
            <a:ext cx="8042910" cy="6739890"/>
            <a:chOff x="0" y="0"/>
            <a:chExt cx="10723880" cy="898652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0723880" cy="8986520"/>
            </a:xfrm>
            <a:custGeom>
              <a:avLst/>
              <a:gdLst/>
              <a:ahLst/>
              <a:cxnLst/>
              <a:rect r="r" b="b" t="t" l="l"/>
              <a:pathLst>
                <a:path h="8986520" w="10723880">
                  <a:moveTo>
                    <a:pt x="0" y="146812"/>
                  </a:moveTo>
                  <a:cubicBezTo>
                    <a:pt x="0" y="65659"/>
                    <a:pt x="65659" y="0"/>
                    <a:pt x="146812" y="0"/>
                  </a:cubicBezTo>
                  <a:lnTo>
                    <a:pt x="10577068" y="0"/>
                  </a:lnTo>
                  <a:cubicBezTo>
                    <a:pt x="10658094" y="0"/>
                    <a:pt x="10723880" y="65659"/>
                    <a:pt x="10723880" y="146812"/>
                  </a:cubicBezTo>
                  <a:lnTo>
                    <a:pt x="10723880" y="8839708"/>
                  </a:lnTo>
                  <a:cubicBezTo>
                    <a:pt x="10723880" y="8920734"/>
                    <a:pt x="10658222" y="8986520"/>
                    <a:pt x="10577068" y="8986520"/>
                  </a:cubicBezTo>
                  <a:lnTo>
                    <a:pt x="146812" y="8986520"/>
                  </a:lnTo>
                  <a:cubicBezTo>
                    <a:pt x="65659" y="8986520"/>
                    <a:pt x="0" y="8920861"/>
                    <a:pt x="0" y="8839708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E6E1D3"/>
              </a:solidFill>
              <a:prstDash val="solid"/>
              <a:miter/>
            </a:ln>
          </p:spPr>
        </p:sp>
      </p:grpSp>
      <p:grpSp>
        <p:nvGrpSpPr>
          <p:cNvPr name="Group 10" id="10"/>
          <p:cNvGrpSpPr/>
          <p:nvPr/>
        </p:nvGrpSpPr>
        <p:grpSpPr>
          <a:xfrm rot="0">
            <a:off x="1234440" y="2880360"/>
            <a:ext cx="685800" cy="685800"/>
            <a:chOff x="0" y="0"/>
            <a:chExt cx="914400" cy="9144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914400" cy="914400"/>
            </a:xfrm>
            <a:custGeom>
              <a:avLst/>
              <a:gdLst/>
              <a:ahLst/>
              <a:cxnLst/>
              <a:rect r="r" b="b" t="t" l="l"/>
              <a:pathLst>
                <a:path h="914400" w="914400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768096" y="0"/>
                  </a:lnTo>
                  <a:cubicBezTo>
                    <a:pt x="848868" y="0"/>
                    <a:pt x="914400" y="65532"/>
                    <a:pt x="914400" y="146304"/>
                  </a:cubicBezTo>
                  <a:lnTo>
                    <a:pt x="914400" y="768096"/>
                  </a:lnTo>
                  <a:cubicBezTo>
                    <a:pt x="914400" y="848868"/>
                    <a:pt x="848868" y="914400"/>
                    <a:pt x="768096" y="914400"/>
                  </a:cubicBezTo>
                  <a:lnTo>
                    <a:pt x="146304" y="914400"/>
                  </a:lnTo>
                  <a:cubicBezTo>
                    <a:pt x="65532" y="914400"/>
                    <a:pt x="0" y="848868"/>
                    <a:pt x="0" y="768096"/>
                  </a:cubicBezTo>
                  <a:close/>
                </a:path>
              </a:pathLst>
            </a:custGeom>
            <a:solidFill>
              <a:srgbClr val="B08D3E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1234440" y="2880360"/>
            <a:ext cx="685800" cy="685800"/>
            <a:chOff x="0" y="0"/>
            <a:chExt cx="914400" cy="9144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914400" cy="914400"/>
            </a:xfrm>
            <a:custGeom>
              <a:avLst/>
              <a:gdLst/>
              <a:ahLst/>
              <a:cxnLst/>
              <a:rect r="r" b="b" t="t" l="l"/>
              <a:pathLst>
                <a:path h="91440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19050"/>
              <a:ext cx="914400" cy="9334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600"/>
                </a:lnSpc>
              </a:pPr>
              <a:r>
                <a:rPr lang="en-US" b="true" sz="3000" i="true">
                  <a:solidFill>
                    <a:srgbClr val="FFFFFF"/>
                  </a:solidFill>
                  <a:latin typeface="Arial Bold Italics"/>
                  <a:ea typeface="Arial Bold Italics"/>
                  <a:cs typeface="Arial Bold Italics"/>
                  <a:sym typeface="Arial Bold Italics"/>
                </a:rPr>
                <a:t>i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2194560" y="2948940"/>
            <a:ext cx="6446520" cy="597302"/>
            <a:chOff x="0" y="0"/>
            <a:chExt cx="8595360" cy="796403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8595360" cy="796403"/>
            </a:xfrm>
            <a:custGeom>
              <a:avLst/>
              <a:gdLst/>
              <a:ahLst/>
              <a:cxnLst/>
              <a:rect r="r" b="b" t="t" l="l"/>
              <a:pathLst>
                <a:path h="796403" w="8595360">
                  <a:moveTo>
                    <a:pt x="0" y="0"/>
                  </a:moveTo>
                  <a:lnTo>
                    <a:pt x="8595360" y="0"/>
                  </a:lnTo>
                  <a:lnTo>
                    <a:pt x="8595360" y="796403"/>
                  </a:lnTo>
                  <a:lnTo>
                    <a:pt x="0" y="796403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4370" r="0" b="-156223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9525"/>
              <a:ext cx="8595360" cy="80592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479"/>
                </a:lnSpc>
              </a:pPr>
              <a:r>
                <a:rPr lang="en-US" sz="2899" b="true">
                  <a:solidFill>
                    <a:srgbClr val="1F243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Project Overview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1234440" y="3771900"/>
            <a:ext cx="7132320" cy="1515043"/>
            <a:chOff x="0" y="0"/>
            <a:chExt cx="9509760" cy="2020057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9509760" cy="2020057"/>
            </a:xfrm>
            <a:custGeom>
              <a:avLst/>
              <a:gdLst/>
              <a:ahLst/>
              <a:cxnLst/>
              <a:rect r="r" b="b" t="t" l="l"/>
              <a:pathLst>
                <a:path h="2020057" w="9509760">
                  <a:moveTo>
                    <a:pt x="0" y="0"/>
                  </a:moveTo>
                  <a:lnTo>
                    <a:pt x="9509760" y="0"/>
                  </a:lnTo>
                  <a:lnTo>
                    <a:pt x="9509760" y="2020057"/>
                  </a:lnTo>
                  <a:lnTo>
                    <a:pt x="0" y="2020057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1936" r="0" b="-41521"/>
              </a:stretch>
            </a:blip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47625"/>
              <a:ext cx="9509760" cy="206768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97"/>
                </a:lnSpc>
              </a:pPr>
              <a:r>
                <a:rPr lang="en-US" sz="2099">
                  <a:solidFill>
                    <a:srgbClr val="666B78"/>
                  </a:solidFill>
                  <a:latin typeface="Arial"/>
                  <a:ea typeface="Arial"/>
                  <a:cs typeface="Arial"/>
                  <a:sym typeface="Arial"/>
                </a:rPr>
                <a:t>The system collects patient symptoms and medical history, represents them as facts, and applies forward-chaining production rules to suggest a possible disease along with the evidence that supports it.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1234440" y="5554980"/>
            <a:ext cx="3566160" cy="1303020"/>
            <a:chOff x="0" y="0"/>
            <a:chExt cx="4754880" cy="173736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4754880" cy="1737360"/>
            </a:xfrm>
            <a:custGeom>
              <a:avLst/>
              <a:gdLst/>
              <a:ahLst/>
              <a:cxnLst/>
              <a:rect r="r" b="b" t="t" l="l"/>
              <a:pathLst>
                <a:path h="1737360" w="4754880">
                  <a:moveTo>
                    <a:pt x="0" y="109728"/>
                  </a:moveTo>
                  <a:cubicBezTo>
                    <a:pt x="0" y="49149"/>
                    <a:pt x="49149" y="0"/>
                    <a:pt x="109728" y="0"/>
                  </a:cubicBezTo>
                  <a:lnTo>
                    <a:pt x="4645152" y="0"/>
                  </a:lnTo>
                  <a:cubicBezTo>
                    <a:pt x="4705731" y="0"/>
                    <a:pt x="4754880" y="49149"/>
                    <a:pt x="4754880" y="109728"/>
                  </a:cubicBezTo>
                  <a:lnTo>
                    <a:pt x="4754880" y="1627632"/>
                  </a:lnTo>
                  <a:cubicBezTo>
                    <a:pt x="4754880" y="1688211"/>
                    <a:pt x="4705731" y="1737360"/>
                    <a:pt x="4645152" y="1737360"/>
                  </a:cubicBezTo>
                  <a:lnTo>
                    <a:pt x="109728" y="1737360"/>
                  </a:lnTo>
                  <a:cubicBezTo>
                    <a:pt x="49149" y="1737360"/>
                    <a:pt x="0" y="1688211"/>
                    <a:pt x="0" y="1627632"/>
                  </a:cubicBezTo>
                  <a:close/>
                </a:path>
              </a:pathLst>
            </a:custGeom>
            <a:solidFill>
              <a:srgbClr val="F8F2E3"/>
            </a:solidFill>
          </p:spPr>
        </p:sp>
      </p:grpSp>
      <p:grpSp>
        <p:nvGrpSpPr>
          <p:cNvPr name="Group 23" id="23"/>
          <p:cNvGrpSpPr/>
          <p:nvPr/>
        </p:nvGrpSpPr>
        <p:grpSpPr>
          <a:xfrm rot="0">
            <a:off x="1440180" y="5664708"/>
            <a:ext cx="3154680" cy="685800"/>
            <a:chOff x="0" y="0"/>
            <a:chExt cx="4206240" cy="91440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4206240" cy="914400"/>
            </a:xfrm>
            <a:custGeom>
              <a:avLst/>
              <a:gdLst/>
              <a:ahLst/>
              <a:cxnLst/>
              <a:rect r="r" b="b" t="t" l="l"/>
              <a:pathLst>
                <a:path h="914400" w="4206240">
                  <a:moveTo>
                    <a:pt x="0" y="0"/>
                  </a:moveTo>
                  <a:lnTo>
                    <a:pt x="4206240" y="0"/>
                  </a:lnTo>
                  <a:lnTo>
                    <a:pt x="420624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9631" r="0" b="-39631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28575"/>
              <a:ext cx="4206240" cy="9429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960"/>
                </a:lnSpc>
              </a:pPr>
              <a:r>
                <a:rPr lang="en-US" sz="3300" b="true">
                  <a:solidFill>
                    <a:srgbClr val="B08D3E"/>
                  </a:solidFill>
                  <a:latin typeface="Arial Bold"/>
                  <a:ea typeface="Arial Bold"/>
                  <a:cs typeface="Arial Bold"/>
                  <a:sym typeface="Arial Bold"/>
                </a:rPr>
                <a:t>46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1440180" y="6350508"/>
            <a:ext cx="3154680" cy="438912"/>
            <a:chOff x="0" y="0"/>
            <a:chExt cx="4206240" cy="585216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4206240" cy="585216"/>
            </a:xfrm>
            <a:custGeom>
              <a:avLst/>
              <a:gdLst/>
              <a:ahLst/>
              <a:cxnLst/>
              <a:rect r="r" b="b" t="t" l="l"/>
              <a:pathLst>
                <a:path h="585216" w="4206240">
                  <a:moveTo>
                    <a:pt x="0" y="0"/>
                  </a:moveTo>
                  <a:lnTo>
                    <a:pt x="4206240" y="0"/>
                  </a:lnTo>
                  <a:lnTo>
                    <a:pt x="4206240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0048" r="0" b="-90048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0"/>
              <a:ext cx="4206240" cy="5852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99"/>
                </a:lnSpc>
              </a:pPr>
              <a:r>
                <a:rPr lang="en-US" sz="1999">
                  <a:solidFill>
                    <a:srgbClr val="1F2430"/>
                  </a:solidFill>
                  <a:latin typeface="Arial"/>
                  <a:ea typeface="Arial"/>
                  <a:cs typeface="Arial"/>
                  <a:sym typeface="Arial"/>
                </a:rPr>
                <a:t>production rules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5212080" y="5554980"/>
            <a:ext cx="3566160" cy="1303020"/>
            <a:chOff x="0" y="0"/>
            <a:chExt cx="4754880" cy="173736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4754880" cy="1737360"/>
            </a:xfrm>
            <a:custGeom>
              <a:avLst/>
              <a:gdLst/>
              <a:ahLst/>
              <a:cxnLst/>
              <a:rect r="r" b="b" t="t" l="l"/>
              <a:pathLst>
                <a:path h="1737360" w="4754880">
                  <a:moveTo>
                    <a:pt x="0" y="109728"/>
                  </a:moveTo>
                  <a:cubicBezTo>
                    <a:pt x="0" y="49149"/>
                    <a:pt x="49149" y="0"/>
                    <a:pt x="109728" y="0"/>
                  </a:cubicBezTo>
                  <a:lnTo>
                    <a:pt x="4645152" y="0"/>
                  </a:lnTo>
                  <a:cubicBezTo>
                    <a:pt x="4705731" y="0"/>
                    <a:pt x="4754880" y="49149"/>
                    <a:pt x="4754880" y="109728"/>
                  </a:cubicBezTo>
                  <a:lnTo>
                    <a:pt x="4754880" y="1627632"/>
                  </a:lnTo>
                  <a:cubicBezTo>
                    <a:pt x="4754880" y="1688211"/>
                    <a:pt x="4705731" y="1737360"/>
                    <a:pt x="4645152" y="1737360"/>
                  </a:cubicBezTo>
                  <a:lnTo>
                    <a:pt x="109728" y="1737360"/>
                  </a:lnTo>
                  <a:cubicBezTo>
                    <a:pt x="49149" y="1737360"/>
                    <a:pt x="0" y="1688211"/>
                    <a:pt x="0" y="1627632"/>
                  </a:cubicBezTo>
                  <a:close/>
                </a:path>
              </a:pathLst>
            </a:custGeom>
            <a:solidFill>
              <a:srgbClr val="F8F2E3"/>
            </a:solidFill>
          </p:spPr>
        </p:sp>
      </p:grpSp>
      <p:grpSp>
        <p:nvGrpSpPr>
          <p:cNvPr name="Group 31" id="31"/>
          <p:cNvGrpSpPr/>
          <p:nvPr/>
        </p:nvGrpSpPr>
        <p:grpSpPr>
          <a:xfrm rot="0">
            <a:off x="5417820" y="5664708"/>
            <a:ext cx="3154680" cy="685800"/>
            <a:chOff x="0" y="0"/>
            <a:chExt cx="4206240" cy="91440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4206240" cy="914400"/>
            </a:xfrm>
            <a:custGeom>
              <a:avLst/>
              <a:gdLst/>
              <a:ahLst/>
              <a:cxnLst/>
              <a:rect r="r" b="b" t="t" l="l"/>
              <a:pathLst>
                <a:path h="914400" w="4206240">
                  <a:moveTo>
                    <a:pt x="0" y="0"/>
                  </a:moveTo>
                  <a:lnTo>
                    <a:pt x="4206240" y="0"/>
                  </a:lnTo>
                  <a:lnTo>
                    <a:pt x="420624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9631" r="0" b="-39631"/>
              </a:stretch>
            </a:blipFill>
          </p:spPr>
        </p:sp>
        <p:sp>
          <p:nvSpPr>
            <p:cNvPr name="TextBox 33" id="33"/>
            <p:cNvSpPr txBox="true"/>
            <p:nvPr/>
          </p:nvSpPr>
          <p:spPr>
            <a:xfrm>
              <a:off x="0" y="-28575"/>
              <a:ext cx="4206240" cy="9429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960"/>
                </a:lnSpc>
              </a:pPr>
              <a:r>
                <a:rPr lang="en-US" sz="3300" b="true">
                  <a:solidFill>
                    <a:srgbClr val="B08D3E"/>
                  </a:solidFill>
                  <a:latin typeface="Arial Bold"/>
                  <a:ea typeface="Arial Bold"/>
                  <a:cs typeface="Arial Bold"/>
                  <a:sym typeface="Arial Bold"/>
                </a:rPr>
                <a:t>31</a:t>
              </a:r>
            </a:p>
          </p:txBody>
        </p:sp>
      </p:grpSp>
      <p:grpSp>
        <p:nvGrpSpPr>
          <p:cNvPr name="Group 34" id="34"/>
          <p:cNvGrpSpPr/>
          <p:nvPr/>
        </p:nvGrpSpPr>
        <p:grpSpPr>
          <a:xfrm rot="0">
            <a:off x="5417820" y="6350508"/>
            <a:ext cx="3154680" cy="438912"/>
            <a:chOff x="0" y="0"/>
            <a:chExt cx="4206240" cy="585216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4206240" cy="585216"/>
            </a:xfrm>
            <a:custGeom>
              <a:avLst/>
              <a:gdLst/>
              <a:ahLst/>
              <a:cxnLst/>
              <a:rect r="r" b="b" t="t" l="l"/>
              <a:pathLst>
                <a:path h="585216" w="4206240">
                  <a:moveTo>
                    <a:pt x="0" y="0"/>
                  </a:moveTo>
                  <a:lnTo>
                    <a:pt x="4206240" y="0"/>
                  </a:lnTo>
                  <a:lnTo>
                    <a:pt x="4206240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0048" r="0" b="-90048"/>
              </a:stretch>
            </a:blipFill>
          </p:spPr>
        </p:sp>
        <p:sp>
          <p:nvSpPr>
            <p:cNvPr name="TextBox 36" id="36"/>
            <p:cNvSpPr txBox="true"/>
            <p:nvPr/>
          </p:nvSpPr>
          <p:spPr>
            <a:xfrm>
              <a:off x="0" y="0"/>
              <a:ext cx="4206240" cy="5852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99"/>
                </a:lnSpc>
              </a:pPr>
              <a:r>
                <a:rPr lang="en-US" sz="1999">
                  <a:solidFill>
                    <a:srgbClr val="1F2430"/>
                  </a:solidFill>
                  <a:latin typeface="Arial"/>
                  <a:ea typeface="Arial"/>
                  <a:cs typeface="Arial"/>
                  <a:sym typeface="Arial"/>
                </a:rPr>
                <a:t>diseases covered</a:t>
              </a:r>
            </a:p>
          </p:txBody>
        </p:sp>
      </p:grpSp>
      <p:grpSp>
        <p:nvGrpSpPr>
          <p:cNvPr name="Group 37" id="37"/>
          <p:cNvGrpSpPr/>
          <p:nvPr/>
        </p:nvGrpSpPr>
        <p:grpSpPr>
          <a:xfrm rot="0">
            <a:off x="1234440" y="7132320"/>
            <a:ext cx="3566160" cy="1303020"/>
            <a:chOff x="0" y="0"/>
            <a:chExt cx="4754880" cy="1737360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4754880" cy="1737360"/>
            </a:xfrm>
            <a:custGeom>
              <a:avLst/>
              <a:gdLst/>
              <a:ahLst/>
              <a:cxnLst/>
              <a:rect r="r" b="b" t="t" l="l"/>
              <a:pathLst>
                <a:path h="1737360" w="4754880">
                  <a:moveTo>
                    <a:pt x="0" y="109728"/>
                  </a:moveTo>
                  <a:cubicBezTo>
                    <a:pt x="0" y="49149"/>
                    <a:pt x="49149" y="0"/>
                    <a:pt x="109728" y="0"/>
                  </a:cubicBezTo>
                  <a:lnTo>
                    <a:pt x="4645152" y="0"/>
                  </a:lnTo>
                  <a:cubicBezTo>
                    <a:pt x="4705731" y="0"/>
                    <a:pt x="4754880" y="49149"/>
                    <a:pt x="4754880" y="109728"/>
                  </a:cubicBezTo>
                  <a:lnTo>
                    <a:pt x="4754880" y="1627632"/>
                  </a:lnTo>
                  <a:cubicBezTo>
                    <a:pt x="4754880" y="1688211"/>
                    <a:pt x="4705731" y="1737360"/>
                    <a:pt x="4645152" y="1737360"/>
                  </a:cubicBezTo>
                  <a:lnTo>
                    <a:pt x="109728" y="1737360"/>
                  </a:lnTo>
                  <a:cubicBezTo>
                    <a:pt x="49149" y="1737360"/>
                    <a:pt x="0" y="1688211"/>
                    <a:pt x="0" y="1627632"/>
                  </a:cubicBezTo>
                  <a:close/>
                </a:path>
              </a:pathLst>
            </a:custGeom>
            <a:solidFill>
              <a:srgbClr val="F8F2E3"/>
            </a:solidFill>
          </p:spPr>
        </p:sp>
      </p:grpSp>
      <p:grpSp>
        <p:nvGrpSpPr>
          <p:cNvPr name="Group 39" id="39"/>
          <p:cNvGrpSpPr/>
          <p:nvPr/>
        </p:nvGrpSpPr>
        <p:grpSpPr>
          <a:xfrm rot="0">
            <a:off x="1440180" y="7242048"/>
            <a:ext cx="3154680" cy="685800"/>
            <a:chOff x="0" y="0"/>
            <a:chExt cx="4206240" cy="914400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4206240" cy="914400"/>
            </a:xfrm>
            <a:custGeom>
              <a:avLst/>
              <a:gdLst/>
              <a:ahLst/>
              <a:cxnLst/>
              <a:rect r="r" b="b" t="t" l="l"/>
              <a:pathLst>
                <a:path h="914400" w="4206240">
                  <a:moveTo>
                    <a:pt x="0" y="0"/>
                  </a:moveTo>
                  <a:lnTo>
                    <a:pt x="4206240" y="0"/>
                  </a:lnTo>
                  <a:lnTo>
                    <a:pt x="420624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9631" r="0" b="-39631"/>
              </a:stretch>
            </a:blipFill>
          </p:spPr>
        </p:sp>
        <p:sp>
          <p:nvSpPr>
            <p:cNvPr name="TextBox 41" id="41"/>
            <p:cNvSpPr txBox="true"/>
            <p:nvPr/>
          </p:nvSpPr>
          <p:spPr>
            <a:xfrm>
              <a:off x="0" y="-28575"/>
              <a:ext cx="4206240" cy="9429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960"/>
                </a:lnSpc>
              </a:pPr>
              <a:r>
                <a:rPr lang="en-US" sz="3300" b="true">
                  <a:solidFill>
                    <a:srgbClr val="B08D3E"/>
                  </a:solidFill>
                  <a:latin typeface="Arial Bold"/>
                  <a:ea typeface="Arial Bold"/>
                  <a:cs typeface="Arial Bold"/>
                  <a:sym typeface="Arial Bold"/>
                </a:rPr>
                <a:t>172</a:t>
              </a:r>
            </a:p>
          </p:txBody>
        </p:sp>
      </p:grpSp>
      <p:grpSp>
        <p:nvGrpSpPr>
          <p:cNvPr name="Group 42" id="42"/>
          <p:cNvGrpSpPr/>
          <p:nvPr/>
        </p:nvGrpSpPr>
        <p:grpSpPr>
          <a:xfrm rot="0">
            <a:off x="1440180" y="7927848"/>
            <a:ext cx="3154680" cy="438912"/>
            <a:chOff x="0" y="0"/>
            <a:chExt cx="4206240" cy="585216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4206240" cy="585216"/>
            </a:xfrm>
            <a:custGeom>
              <a:avLst/>
              <a:gdLst/>
              <a:ahLst/>
              <a:cxnLst/>
              <a:rect r="r" b="b" t="t" l="l"/>
              <a:pathLst>
                <a:path h="585216" w="4206240">
                  <a:moveTo>
                    <a:pt x="0" y="0"/>
                  </a:moveTo>
                  <a:lnTo>
                    <a:pt x="4206240" y="0"/>
                  </a:lnTo>
                  <a:lnTo>
                    <a:pt x="4206240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0048" r="0" b="-90048"/>
              </a:stretch>
            </a:blipFill>
          </p:spPr>
        </p:sp>
        <p:sp>
          <p:nvSpPr>
            <p:cNvPr name="TextBox 44" id="44"/>
            <p:cNvSpPr txBox="true"/>
            <p:nvPr/>
          </p:nvSpPr>
          <p:spPr>
            <a:xfrm>
              <a:off x="0" y="0"/>
              <a:ext cx="4206240" cy="5852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99"/>
                </a:lnSpc>
              </a:pPr>
              <a:r>
                <a:rPr lang="en-US" sz="1999">
                  <a:solidFill>
                    <a:srgbClr val="1F2430"/>
                  </a:solidFill>
                  <a:latin typeface="Arial"/>
                  <a:ea typeface="Arial"/>
                  <a:cs typeface="Arial"/>
                  <a:sym typeface="Arial"/>
                </a:rPr>
                <a:t>symptom questions</a:t>
              </a:r>
            </a:p>
          </p:txBody>
        </p:sp>
      </p:grpSp>
      <p:grpSp>
        <p:nvGrpSpPr>
          <p:cNvPr name="Group 45" id="45"/>
          <p:cNvGrpSpPr/>
          <p:nvPr/>
        </p:nvGrpSpPr>
        <p:grpSpPr>
          <a:xfrm rot="0">
            <a:off x="5212080" y="7132320"/>
            <a:ext cx="3566160" cy="1303020"/>
            <a:chOff x="0" y="0"/>
            <a:chExt cx="4754880" cy="1737360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4754880" cy="1737360"/>
            </a:xfrm>
            <a:custGeom>
              <a:avLst/>
              <a:gdLst/>
              <a:ahLst/>
              <a:cxnLst/>
              <a:rect r="r" b="b" t="t" l="l"/>
              <a:pathLst>
                <a:path h="1737360" w="4754880">
                  <a:moveTo>
                    <a:pt x="0" y="109728"/>
                  </a:moveTo>
                  <a:cubicBezTo>
                    <a:pt x="0" y="49149"/>
                    <a:pt x="49149" y="0"/>
                    <a:pt x="109728" y="0"/>
                  </a:cubicBezTo>
                  <a:lnTo>
                    <a:pt x="4645152" y="0"/>
                  </a:lnTo>
                  <a:cubicBezTo>
                    <a:pt x="4705731" y="0"/>
                    <a:pt x="4754880" y="49149"/>
                    <a:pt x="4754880" y="109728"/>
                  </a:cubicBezTo>
                  <a:lnTo>
                    <a:pt x="4754880" y="1627632"/>
                  </a:lnTo>
                  <a:cubicBezTo>
                    <a:pt x="4754880" y="1688211"/>
                    <a:pt x="4705731" y="1737360"/>
                    <a:pt x="4645152" y="1737360"/>
                  </a:cubicBezTo>
                  <a:lnTo>
                    <a:pt x="109728" y="1737360"/>
                  </a:lnTo>
                  <a:cubicBezTo>
                    <a:pt x="49149" y="1737360"/>
                    <a:pt x="0" y="1688211"/>
                    <a:pt x="0" y="1627632"/>
                  </a:cubicBezTo>
                  <a:close/>
                </a:path>
              </a:pathLst>
            </a:custGeom>
            <a:solidFill>
              <a:srgbClr val="F8F2E3"/>
            </a:solidFill>
          </p:spPr>
        </p:sp>
      </p:grpSp>
      <p:grpSp>
        <p:nvGrpSpPr>
          <p:cNvPr name="Group 47" id="47"/>
          <p:cNvGrpSpPr/>
          <p:nvPr/>
        </p:nvGrpSpPr>
        <p:grpSpPr>
          <a:xfrm rot="0">
            <a:off x="5417820" y="7242048"/>
            <a:ext cx="3154680" cy="685800"/>
            <a:chOff x="0" y="0"/>
            <a:chExt cx="4206240" cy="914400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4206240" cy="914400"/>
            </a:xfrm>
            <a:custGeom>
              <a:avLst/>
              <a:gdLst/>
              <a:ahLst/>
              <a:cxnLst/>
              <a:rect r="r" b="b" t="t" l="l"/>
              <a:pathLst>
                <a:path h="914400" w="4206240">
                  <a:moveTo>
                    <a:pt x="0" y="0"/>
                  </a:moveTo>
                  <a:lnTo>
                    <a:pt x="4206240" y="0"/>
                  </a:lnTo>
                  <a:lnTo>
                    <a:pt x="420624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9631" r="0" b="-39631"/>
              </a:stretch>
            </a:blipFill>
          </p:spPr>
        </p:sp>
        <p:sp>
          <p:nvSpPr>
            <p:cNvPr name="TextBox 49" id="49"/>
            <p:cNvSpPr txBox="true"/>
            <p:nvPr/>
          </p:nvSpPr>
          <p:spPr>
            <a:xfrm>
              <a:off x="0" y="-28575"/>
              <a:ext cx="4206240" cy="9429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960"/>
                </a:lnSpc>
              </a:pPr>
              <a:r>
                <a:rPr lang="en-US" sz="3300" b="true">
                  <a:solidFill>
                    <a:srgbClr val="B08D3E"/>
                  </a:solidFill>
                  <a:latin typeface="Arial Bold"/>
                  <a:ea typeface="Arial Bold"/>
                  <a:cs typeface="Arial Bold"/>
                  <a:sym typeface="Arial Bold"/>
                </a:rPr>
                <a:t>2</a:t>
              </a:r>
            </a:p>
          </p:txBody>
        </p:sp>
      </p:grpSp>
      <p:grpSp>
        <p:nvGrpSpPr>
          <p:cNvPr name="Group 50" id="50"/>
          <p:cNvGrpSpPr/>
          <p:nvPr/>
        </p:nvGrpSpPr>
        <p:grpSpPr>
          <a:xfrm rot="0">
            <a:off x="5417820" y="7927848"/>
            <a:ext cx="3154680" cy="438912"/>
            <a:chOff x="0" y="0"/>
            <a:chExt cx="4206240" cy="585216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4206240" cy="585216"/>
            </a:xfrm>
            <a:custGeom>
              <a:avLst/>
              <a:gdLst/>
              <a:ahLst/>
              <a:cxnLst/>
              <a:rect r="r" b="b" t="t" l="l"/>
              <a:pathLst>
                <a:path h="585216" w="4206240">
                  <a:moveTo>
                    <a:pt x="0" y="0"/>
                  </a:moveTo>
                  <a:lnTo>
                    <a:pt x="4206240" y="0"/>
                  </a:lnTo>
                  <a:lnTo>
                    <a:pt x="4206240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0048" r="0" b="-90048"/>
              </a:stretch>
            </a:blipFill>
          </p:spPr>
        </p:sp>
        <p:sp>
          <p:nvSpPr>
            <p:cNvPr name="TextBox 52" id="52"/>
            <p:cNvSpPr txBox="true"/>
            <p:nvPr/>
          </p:nvSpPr>
          <p:spPr>
            <a:xfrm>
              <a:off x="0" y="0"/>
              <a:ext cx="4206240" cy="5852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99"/>
                </a:lnSpc>
              </a:pPr>
              <a:r>
                <a:rPr lang="en-US" sz="1999">
                  <a:solidFill>
                    <a:srgbClr val="1F2430"/>
                  </a:solidFill>
                  <a:latin typeface="Arial"/>
                  <a:ea typeface="Arial"/>
                  <a:cs typeface="Arial"/>
                  <a:sym typeface="Arial"/>
                </a:rPr>
                <a:t>interfaces, 1 engine</a:t>
              </a:r>
            </a:p>
          </p:txBody>
        </p:sp>
      </p:grpSp>
      <p:grpSp>
        <p:nvGrpSpPr>
          <p:cNvPr name="Group 53" id="53"/>
          <p:cNvGrpSpPr/>
          <p:nvPr/>
        </p:nvGrpSpPr>
        <p:grpSpPr>
          <a:xfrm rot="0">
            <a:off x="9111615" y="2527935"/>
            <a:ext cx="8317230" cy="6739890"/>
            <a:chOff x="0" y="0"/>
            <a:chExt cx="11089640" cy="8986520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11089640" cy="8986520"/>
            </a:xfrm>
            <a:custGeom>
              <a:avLst/>
              <a:gdLst/>
              <a:ahLst/>
              <a:cxnLst/>
              <a:rect r="r" b="b" t="t" l="l"/>
              <a:pathLst>
                <a:path h="8986520" w="11089640">
                  <a:moveTo>
                    <a:pt x="0" y="146812"/>
                  </a:moveTo>
                  <a:cubicBezTo>
                    <a:pt x="0" y="65659"/>
                    <a:pt x="65659" y="0"/>
                    <a:pt x="146812" y="0"/>
                  </a:cubicBezTo>
                  <a:lnTo>
                    <a:pt x="10942828" y="0"/>
                  </a:lnTo>
                  <a:cubicBezTo>
                    <a:pt x="11023854" y="0"/>
                    <a:pt x="11089640" y="65659"/>
                    <a:pt x="11089640" y="146812"/>
                  </a:cubicBezTo>
                  <a:lnTo>
                    <a:pt x="11089640" y="8839708"/>
                  </a:lnTo>
                  <a:cubicBezTo>
                    <a:pt x="11089640" y="8920734"/>
                    <a:pt x="11023981" y="8986520"/>
                    <a:pt x="10942828" y="8986520"/>
                  </a:cubicBezTo>
                  <a:lnTo>
                    <a:pt x="146812" y="8986520"/>
                  </a:lnTo>
                  <a:cubicBezTo>
                    <a:pt x="65659" y="8986520"/>
                    <a:pt x="0" y="8920861"/>
                    <a:pt x="0" y="8839708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E6E1D3"/>
              </a:solidFill>
              <a:prstDash val="solid"/>
              <a:miter/>
            </a:ln>
          </p:spPr>
        </p:sp>
      </p:grpSp>
      <p:grpSp>
        <p:nvGrpSpPr>
          <p:cNvPr name="Group 55" id="55"/>
          <p:cNvGrpSpPr/>
          <p:nvPr/>
        </p:nvGrpSpPr>
        <p:grpSpPr>
          <a:xfrm rot="0">
            <a:off x="9532620" y="2880360"/>
            <a:ext cx="685800" cy="685800"/>
            <a:chOff x="0" y="0"/>
            <a:chExt cx="914400" cy="914400"/>
          </a:xfrm>
        </p:grpSpPr>
        <p:sp>
          <p:nvSpPr>
            <p:cNvPr name="Freeform 56" id="56"/>
            <p:cNvSpPr/>
            <p:nvPr/>
          </p:nvSpPr>
          <p:spPr>
            <a:xfrm flipH="false" flipV="false" rot="0">
              <a:off x="0" y="0"/>
              <a:ext cx="914400" cy="914400"/>
            </a:xfrm>
            <a:custGeom>
              <a:avLst/>
              <a:gdLst/>
              <a:ahLst/>
              <a:cxnLst/>
              <a:rect r="r" b="b" t="t" l="l"/>
              <a:pathLst>
                <a:path h="914400" w="914400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768096" y="0"/>
                  </a:lnTo>
                  <a:cubicBezTo>
                    <a:pt x="848868" y="0"/>
                    <a:pt x="914400" y="65532"/>
                    <a:pt x="914400" y="146304"/>
                  </a:cubicBezTo>
                  <a:lnTo>
                    <a:pt x="914400" y="768096"/>
                  </a:lnTo>
                  <a:cubicBezTo>
                    <a:pt x="914400" y="848868"/>
                    <a:pt x="848868" y="914400"/>
                    <a:pt x="768096" y="914400"/>
                  </a:cubicBezTo>
                  <a:lnTo>
                    <a:pt x="146304" y="914400"/>
                  </a:lnTo>
                  <a:cubicBezTo>
                    <a:pt x="65532" y="914400"/>
                    <a:pt x="0" y="848868"/>
                    <a:pt x="0" y="768096"/>
                  </a:cubicBezTo>
                  <a:close/>
                </a:path>
              </a:pathLst>
            </a:custGeom>
            <a:solidFill>
              <a:srgbClr val="7A4360"/>
            </a:solidFill>
          </p:spPr>
        </p:sp>
      </p:grpSp>
      <p:grpSp>
        <p:nvGrpSpPr>
          <p:cNvPr name="Group 57" id="57"/>
          <p:cNvGrpSpPr/>
          <p:nvPr/>
        </p:nvGrpSpPr>
        <p:grpSpPr>
          <a:xfrm rot="0">
            <a:off x="9532620" y="2880360"/>
            <a:ext cx="685800" cy="685800"/>
            <a:chOff x="0" y="0"/>
            <a:chExt cx="914400" cy="914400"/>
          </a:xfrm>
        </p:grpSpPr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914400" cy="914400"/>
            </a:xfrm>
            <a:custGeom>
              <a:avLst/>
              <a:gdLst/>
              <a:ahLst/>
              <a:cxnLst/>
              <a:rect r="r" b="b" t="t" l="l"/>
              <a:pathLst>
                <a:path h="91440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59" id="59"/>
            <p:cNvSpPr txBox="true"/>
            <p:nvPr/>
          </p:nvSpPr>
          <p:spPr>
            <a:xfrm>
              <a:off x="0" y="-19050"/>
              <a:ext cx="914400" cy="9334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600"/>
                </a:lnSpc>
              </a:pPr>
              <a:r>
                <a:rPr lang="en-US" sz="3000" b="true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!</a:t>
              </a:r>
            </a:p>
          </p:txBody>
        </p:sp>
      </p:grpSp>
      <p:grpSp>
        <p:nvGrpSpPr>
          <p:cNvPr name="Group 60" id="60"/>
          <p:cNvGrpSpPr/>
          <p:nvPr/>
        </p:nvGrpSpPr>
        <p:grpSpPr>
          <a:xfrm rot="0">
            <a:off x="10492740" y="2948940"/>
            <a:ext cx="6720840" cy="612315"/>
            <a:chOff x="0" y="0"/>
            <a:chExt cx="8961120" cy="816420"/>
          </a:xfrm>
        </p:grpSpPr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8961120" cy="816420"/>
            </a:xfrm>
            <a:custGeom>
              <a:avLst/>
              <a:gdLst/>
              <a:ahLst/>
              <a:cxnLst/>
              <a:rect r="r" b="b" t="t" l="l"/>
              <a:pathLst>
                <a:path h="816420" w="8961120">
                  <a:moveTo>
                    <a:pt x="0" y="0"/>
                  </a:moveTo>
                  <a:lnTo>
                    <a:pt x="8961120" y="0"/>
                  </a:lnTo>
                  <a:lnTo>
                    <a:pt x="8961120" y="816420"/>
                  </a:lnTo>
                  <a:lnTo>
                    <a:pt x="0" y="8164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9069" r="0" b="-158670"/>
              </a:stretch>
            </a:blipFill>
          </p:spPr>
        </p:sp>
        <p:sp>
          <p:nvSpPr>
            <p:cNvPr name="TextBox 62" id="62"/>
            <p:cNvSpPr txBox="true"/>
            <p:nvPr/>
          </p:nvSpPr>
          <p:spPr>
            <a:xfrm>
              <a:off x="0" y="-9525"/>
              <a:ext cx="8961120" cy="8259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599"/>
                </a:lnSpc>
              </a:pPr>
              <a:r>
                <a:rPr lang="en-US" sz="2999" b="true">
                  <a:solidFill>
                    <a:srgbClr val="1F243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Key Idea: Stateless Replay</a:t>
              </a:r>
            </a:p>
          </p:txBody>
        </p:sp>
      </p:grpSp>
      <p:grpSp>
        <p:nvGrpSpPr>
          <p:cNvPr name="Group 63" id="63"/>
          <p:cNvGrpSpPr/>
          <p:nvPr/>
        </p:nvGrpSpPr>
        <p:grpSpPr>
          <a:xfrm rot="0">
            <a:off x="9532620" y="3771900"/>
            <a:ext cx="7543800" cy="1577340"/>
            <a:chOff x="0" y="0"/>
            <a:chExt cx="10058400" cy="2103120"/>
          </a:xfrm>
        </p:grpSpPr>
        <p:sp>
          <p:nvSpPr>
            <p:cNvPr name="Freeform 64" id="64"/>
            <p:cNvSpPr/>
            <p:nvPr/>
          </p:nvSpPr>
          <p:spPr>
            <a:xfrm flipH="false" flipV="false" rot="0">
              <a:off x="0" y="0"/>
              <a:ext cx="10058400" cy="2103120"/>
            </a:xfrm>
            <a:custGeom>
              <a:avLst/>
              <a:gdLst/>
              <a:ahLst/>
              <a:cxnLst/>
              <a:rect r="r" b="b" t="t" l="l"/>
              <a:pathLst>
                <a:path h="2103120" w="10058400">
                  <a:moveTo>
                    <a:pt x="0" y="0"/>
                  </a:moveTo>
                  <a:lnTo>
                    <a:pt x="10058400" y="0"/>
                  </a:lnTo>
                  <a:lnTo>
                    <a:pt x="10058400" y="2103120"/>
                  </a:lnTo>
                  <a:lnTo>
                    <a:pt x="0" y="21031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3189" r="0" b="-43189"/>
              </a:stretch>
            </a:blipFill>
          </p:spPr>
        </p:sp>
        <p:sp>
          <p:nvSpPr>
            <p:cNvPr name="TextBox 65" id="65"/>
            <p:cNvSpPr txBox="true"/>
            <p:nvPr/>
          </p:nvSpPr>
          <p:spPr>
            <a:xfrm>
              <a:off x="0" y="-38100"/>
              <a:ext cx="10058400" cy="21412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59"/>
                </a:lnSpc>
              </a:pPr>
              <a:r>
                <a:rPr lang="en-US" sz="1999">
                  <a:solidFill>
                    <a:srgbClr val="666B78"/>
                  </a:solidFill>
                  <a:latin typeface="Arial"/>
                  <a:ea typeface="Arial"/>
                  <a:cs typeface="Arial"/>
                  <a:sym typeface="Arial"/>
                </a:rPr>
                <a:t>The web interface does not reimplement the reasoning process. Instead it re-executes the identical console engine on every request through an input adapter that pauses whenever an unanswered question is reached.</a:t>
              </a:r>
            </a:p>
          </p:txBody>
        </p:sp>
      </p:grpSp>
      <p:grpSp>
        <p:nvGrpSpPr>
          <p:cNvPr name="Group 66" id="66"/>
          <p:cNvGrpSpPr/>
          <p:nvPr/>
        </p:nvGrpSpPr>
        <p:grpSpPr>
          <a:xfrm rot="0">
            <a:off x="9532620" y="5637276"/>
            <a:ext cx="192024" cy="192024"/>
            <a:chOff x="0" y="0"/>
            <a:chExt cx="256032" cy="256032"/>
          </a:xfrm>
        </p:grpSpPr>
        <p:sp>
          <p:nvSpPr>
            <p:cNvPr name="Freeform 67" id="67"/>
            <p:cNvSpPr/>
            <p:nvPr/>
          </p:nvSpPr>
          <p:spPr>
            <a:xfrm flipH="false" flipV="false" rot="0">
              <a:off x="0" y="0"/>
              <a:ext cx="256032" cy="256032"/>
            </a:xfrm>
            <a:custGeom>
              <a:avLst/>
              <a:gdLst/>
              <a:ahLst/>
              <a:cxnLst/>
              <a:rect r="r" b="b" t="t" l="l"/>
              <a:pathLst>
                <a:path h="256032" w="256032">
                  <a:moveTo>
                    <a:pt x="0" y="128016"/>
                  </a:moveTo>
                  <a:cubicBezTo>
                    <a:pt x="0" y="57277"/>
                    <a:pt x="57277" y="0"/>
                    <a:pt x="128016" y="0"/>
                  </a:cubicBezTo>
                  <a:cubicBezTo>
                    <a:pt x="198755" y="0"/>
                    <a:pt x="256032" y="57277"/>
                    <a:pt x="256032" y="128016"/>
                  </a:cubicBezTo>
                  <a:cubicBezTo>
                    <a:pt x="256032" y="198755"/>
                    <a:pt x="198755" y="256032"/>
                    <a:pt x="128016" y="256032"/>
                  </a:cubicBezTo>
                  <a:cubicBezTo>
                    <a:pt x="57277" y="256032"/>
                    <a:pt x="0" y="198755"/>
                    <a:pt x="0" y="128016"/>
                  </a:cubicBezTo>
                  <a:close/>
                </a:path>
              </a:pathLst>
            </a:custGeom>
            <a:solidFill>
              <a:srgbClr val="7A4360"/>
            </a:solidFill>
          </p:spPr>
        </p:sp>
      </p:grpSp>
      <p:grpSp>
        <p:nvGrpSpPr>
          <p:cNvPr name="Group 68" id="68"/>
          <p:cNvGrpSpPr/>
          <p:nvPr/>
        </p:nvGrpSpPr>
        <p:grpSpPr>
          <a:xfrm rot="0">
            <a:off x="9875520" y="5472684"/>
            <a:ext cx="7269480" cy="548640"/>
            <a:chOff x="0" y="0"/>
            <a:chExt cx="9692640" cy="731520"/>
          </a:xfrm>
        </p:grpSpPr>
        <p:sp>
          <p:nvSpPr>
            <p:cNvPr name="Freeform 69" id="69"/>
            <p:cNvSpPr/>
            <p:nvPr/>
          </p:nvSpPr>
          <p:spPr>
            <a:xfrm flipH="false" flipV="false" rot="0">
              <a:off x="0" y="0"/>
              <a:ext cx="9692640" cy="731520"/>
            </a:xfrm>
            <a:custGeom>
              <a:avLst/>
              <a:gdLst/>
              <a:ahLst/>
              <a:cxnLst/>
              <a:rect r="r" b="b" t="t" l="l"/>
              <a:pathLst>
                <a:path h="731520" w="9692640">
                  <a:moveTo>
                    <a:pt x="0" y="0"/>
                  </a:moveTo>
                  <a:lnTo>
                    <a:pt x="9692640" y="0"/>
                  </a:lnTo>
                  <a:lnTo>
                    <a:pt x="969264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08176" r="0" b="-208176"/>
              </a:stretch>
            </a:blipFill>
          </p:spPr>
        </p:sp>
        <p:sp>
          <p:nvSpPr>
            <p:cNvPr name="TextBox 70" id="70"/>
            <p:cNvSpPr txBox="true"/>
            <p:nvPr/>
          </p:nvSpPr>
          <p:spPr>
            <a:xfrm>
              <a:off x="0" y="-19050"/>
              <a:ext cx="9692640" cy="7505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19"/>
                </a:lnSpc>
              </a:pPr>
              <a:r>
                <a:rPr lang="en-US" sz="2099">
                  <a:solidFill>
                    <a:srgbClr val="1F2430"/>
                  </a:solidFill>
                  <a:latin typeface="Arial"/>
                  <a:ea typeface="Arial"/>
                  <a:cs typeface="Arial"/>
                  <a:sym typeface="Arial"/>
                </a:rPr>
                <a:t>Browser and terminal versions can never diverge</a:t>
              </a:r>
            </a:p>
          </p:txBody>
        </p:sp>
      </p:grpSp>
      <p:grpSp>
        <p:nvGrpSpPr>
          <p:cNvPr name="Group 71" id="71"/>
          <p:cNvGrpSpPr/>
          <p:nvPr/>
        </p:nvGrpSpPr>
        <p:grpSpPr>
          <a:xfrm rot="0">
            <a:off x="9532620" y="6295644"/>
            <a:ext cx="192024" cy="192024"/>
            <a:chOff x="0" y="0"/>
            <a:chExt cx="256032" cy="256032"/>
          </a:xfrm>
        </p:grpSpPr>
        <p:sp>
          <p:nvSpPr>
            <p:cNvPr name="Freeform 72" id="72"/>
            <p:cNvSpPr/>
            <p:nvPr/>
          </p:nvSpPr>
          <p:spPr>
            <a:xfrm flipH="false" flipV="false" rot="0">
              <a:off x="0" y="0"/>
              <a:ext cx="256032" cy="256032"/>
            </a:xfrm>
            <a:custGeom>
              <a:avLst/>
              <a:gdLst/>
              <a:ahLst/>
              <a:cxnLst/>
              <a:rect r="r" b="b" t="t" l="l"/>
              <a:pathLst>
                <a:path h="256032" w="256032">
                  <a:moveTo>
                    <a:pt x="0" y="128016"/>
                  </a:moveTo>
                  <a:cubicBezTo>
                    <a:pt x="0" y="57277"/>
                    <a:pt x="57277" y="0"/>
                    <a:pt x="128016" y="0"/>
                  </a:cubicBezTo>
                  <a:cubicBezTo>
                    <a:pt x="198755" y="0"/>
                    <a:pt x="256032" y="57277"/>
                    <a:pt x="256032" y="128016"/>
                  </a:cubicBezTo>
                  <a:cubicBezTo>
                    <a:pt x="256032" y="198755"/>
                    <a:pt x="198755" y="256032"/>
                    <a:pt x="128016" y="256032"/>
                  </a:cubicBezTo>
                  <a:cubicBezTo>
                    <a:pt x="57277" y="256032"/>
                    <a:pt x="0" y="198755"/>
                    <a:pt x="0" y="128016"/>
                  </a:cubicBezTo>
                  <a:close/>
                </a:path>
              </a:pathLst>
            </a:custGeom>
            <a:solidFill>
              <a:srgbClr val="7A4360"/>
            </a:solidFill>
          </p:spPr>
        </p:sp>
      </p:grpSp>
      <p:grpSp>
        <p:nvGrpSpPr>
          <p:cNvPr name="Group 73" id="73"/>
          <p:cNvGrpSpPr/>
          <p:nvPr/>
        </p:nvGrpSpPr>
        <p:grpSpPr>
          <a:xfrm rot="0">
            <a:off x="9875520" y="6131052"/>
            <a:ext cx="7269480" cy="548640"/>
            <a:chOff x="0" y="0"/>
            <a:chExt cx="9692640" cy="731520"/>
          </a:xfrm>
        </p:grpSpPr>
        <p:sp>
          <p:nvSpPr>
            <p:cNvPr name="Freeform 74" id="74"/>
            <p:cNvSpPr/>
            <p:nvPr/>
          </p:nvSpPr>
          <p:spPr>
            <a:xfrm flipH="false" flipV="false" rot="0">
              <a:off x="0" y="0"/>
              <a:ext cx="9692640" cy="731520"/>
            </a:xfrm>
            <a:custGeom>
              <a:avLst/>
              <a:gdLst/>
              <a:ahLst/>
              <a:cxnLst/>
              <a:rect r="r" b="b" t="t" l="l"/>
              <a:pathLst>
                <a:path h="731520" w="9692640">
                  <a:moveTo>
                    <a:pt x="0" y="0"/>
                  </a:moveTo>
                  <a:lnTo>
                    <a:pt x="9692640" y="0"/>
                  </a:lnTo>
                  <a:lnTo>
                    <a:pt x="969264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08176" r="0" b="-208176"/>
              </a:stretch>
            </a:blipFill>
          </p:spPr>
        </p:sp>
        <p:sp>
          <p:nvSpPr>
            <p:cNvPr name="TextBox 75" id="75"/>
            <p:cNvSpPr txBox="true"/>
            <p:nvPr/>
          </p:nvSpPr>
          <p:spPr>
            <a:xfrm>
              <a:off x="0" y="-19050"/>
              <a:ext cx="9692640" cy="7505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39"/>
                </a:lnSpc>
              </a:pPr>
              <a:r>
                <a:rPr lang="en-US" sz="2199">
                  <a:solidFill>
                    <a:srgbClr val="1F2430"/>
                  </a:solidFill>
                  <a:latin typeface="Arial"/>
                  <a:ea typeface="Arial"/>
                  <a:cs typeface="Arial"/>
                  <a:sym typeface="Arial"/>
                </a:rPr>
                <a:t>Any earlier answer can be revised and re-derived</a:t>
              </a:r>
            </a:p>
          </p:txBody>
        </p:sp>
      </p:grpSp>
      <p:grpSp>
        <p:nvGrpSpPr>
          <p:cNvPr name="Group 76" id="76"/>
          <p:cNvGrpSpPr/>
          <p:nvPr/>
        </p:nvGrpSpPr>
        <p:grpSpPr>
          <a:xfrm rot="0">
            <a:off x="9532620" y="6954012"/>
            <a:ext cx="192024" cy="192024"/>
            <a:chOff x="0" y="0"/>
            <a:chExt cx="256032" cy="256032"/>
          </a:xfrm>
        </p:grpSpPr>
        <p:sp>
          <p:nvSpPr>
            <p:cNvPr name="Freeform 77" id="77"/>
            <p:cNvSpPr/>
            <p:nvPr/>
          </p:nvSpPr>
          <p:spPr>
            <a:xfrm flipH="false" flipV="false" rot="0">
              <a:off x="0" y="0"/>
              <a:ext cx="256032" cy="256032"/>
            </a:xfrm>
            <a:custGeom>
              <a:avLst/>
              <a:gdLst/>
              <a:ahLst/>
              <a:cxnLst/>
              <a:rect r="r" b="b" t="t" l="l"/>
              <a:pathLst>
                <a:path h="256032" w="256032">
                  <a:moveTo>
                    <a:pt x="0" y="128016"/>
                  </a:moveTo>
                  <a:cubicBezTo>
                    <a:pt x="0" y="57277"/>
                    <a:pt x="57277" y="0"/>
                    <a:pt x="128016" y="0"/>
                  </a:cubicBezTo>
                  <a:cubicBezTo>
                    <a:pt x="198755" y="0"/>
                    <a:pt x="256032" y="57277"/>
                    <a:pt x="256032" y="128016"/>
                  </a:cubicBezTo>
                  <a:cubicBezTo>
                    <a:pt x="256032" y="198755"/>
                    <a:pt x="198755" y="256032"/>
                    <a:pt x="128016" y="256032"/>
                  </a:cubicBezTo>
                  <a:cubicBezTo>
                    <a:pt x="57277" y="256032"/>
                    <a:pt x="0" y="198755"/>
                    <a:pt x="0" y="128016"/>
                  </a:cubicBezTo>
                  <a:close/>
                </a:path>
              </a:pathLst>
            </a:custGeom>
            <a:solidFill>
              <a:srgbClr val="7A4360"/>
            </a:solidFill>
          </p:spPr>
        </p:sp>
      </p:grpSp>
      <p:grpSp>
        <p:nvGrpSpPr>
          <p:cNvPr name="Group 78" id="78"/>
          <p:cNvGrpSpPr/>
          <p:nvPr/>
        </p:nvGrpSpPr>
        <p:grpSpPr>
          <a:xfrm rot="0">
            <a:off x="9875520" y="6789420"/>
            <a:ext cx="7269480" cy="548640"/>
            <a:chOff x="0" y="0"/>
            <a:chExt cx="9692640" cy="731520"/>
          </a:xfrm>
        </p:grpSpPr>
        <p:sp>
          <p:nvSpPr>
            <p:cNvPr name="Freeform 79" id="79"/>
            <p:cNvSpPr/>
            <p:nvPr/>
          </p:nvSpPr>
          <p:spPr>
            <a:xfrm flipH="false" flipV="false" rot="0">
              <a:off x="0" y="0"/>
              <a:ext cx="9692640" cy="731520"/>
            </a:xfrm>
            <a:custGeom>
              <a:avLst/>
              <a:gdLst/>
              <a:ahLst/>
              <a:cxnLst/>
              <a:rect r="r" b="b" t="t" l="l"/>
              <a:pathLst>
                <a:path h="731520" w="9692640">
                  <a:moveTo>
                    <a:pt x="0" y="0"/>
                  </a:moveTo>
                  <a:lnTo>
                    <a:pt x="9692640" y="0"/>
                  </a:lnTo>
                  <a:lnTo>
                    <a:pt x="969264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08176" r="0" b="-208176"/>
              </a:stretch>
            </a:blipFill>
          </p:spPr>
        </p:sp>
        <p:sp>
          <p:nvSpPr>
            <p:cNvPr name="TextBox 80" id="80"/>
            <p:cNvSpPr txBox="true"/>
            <p:nvPr/>
          </p:nvSpPr>
          <p:spPr>
            <a:xfrm>
              <a:off x="0" y="-19050"/>
              <a:ext cx="9692640" cy="7505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39"/>
                </a:lnSpc>
              </a:pPr>
              <a:r>
                <a:rPr lang="en-US" sz="2199">
                  <a:solidFill>
                    <a:srgbClr val="1F2430"/>
                  </a:solidFill>
                  <a:latin typeface="Arial"/>
                  <a:ea typeface="Arial"/>
                  <a:cs typeface="Arial"/>
                  <a:sym typeface="Arial"/>
                </a:rPr>
                <a:t>History-aware inference lowers evidence thresholds</a:t>
              </a:r>
            </a:p>
          </p:txBody>
        </p:sp>
      </p:grpSp>
      <p:grpSp>
        <p:nvGrpSpPr>
          <p:cNvPr name="Group 81" id="81"/>
          <p:cNvGrpSpPr/>
          <p:nvPr/>
        </p:nvGrpSpPr>
        <p:grpSpPr>
          <a:xfrm rot="0">
            <a:off x="9532620" y="7612380"/>
            <a:ext cx="192024" cy="192024"/>
            <a:chOff x="0" y="0"/>
            <a:chExt cx="256032" cy="256032"/>
          </a:xfrm>
        </p:grpSpPr>
        <p:sp>
          <p:nvSpPr>
            <p:cNvPr name="Freeform 82" id="82"/>
            <p:cNvSpPr/>
            <p:nvPr/>
          </p:nvSpPr>
          <p:spPr>
            <a:xfrm flipH="false" flipV="false" rot="0">
              <a:off x="0" y="0"/>
              <a:ext cx="256032" cy="256032"/>
            </a:xfrm>
            <a:custGeom>
              <a:avLst/>
              <a:gdLst/>
              <a:ahLst/>
              <a:cxnLst/>
              <a:rect r="r" b="b" t="t" l="l"/>
              <a:pathLst>
                <a:path h="256032" w="256032">
                  <a:moveTo>
                    <a:pt x="0" y="128016"/>
                  </a:moveTo>
                  <a:cubicBezTo>
                    <a:pt x="0" y="57277"/>
                    <a:pt x="57277" y="0"/>
                    <a:pt x="128016" y="0"/>
                  </a:cubicBezTo>
                  <a:cubicBezTo>
                    <a:pt x="198755" y="0"/>
                    <a:pt x="256032" y="57277"/>
                    <a:pt x="256032" y="128016"/>
                  </a:cubicBezTo>
                  <a:cubicBezTo>
                    <a:pt x="256032" y="198755"/>
                    <a:pt x="198755" y="256032"/>
                    <a:pt x="128016" y="256032"/>
                  </a:cubicBezTo>
                  <a:cubicBezTo>
                    <a:pt x="57277" y="256032"/>
                    <a:pt x="0" y="198755"/>
                    <a:pt x="0" y="128016"/>
                  </a:cubicBezTo>
                  <a:close/>
                </a:path>
              </a:pathLst>
            </a:custGeom>
            <a:solidFill>
              <a:srgbClr val="7A4360"/>
            </a:solidFill>
          </p:spPr>
        </p:sp>
      </p:grpSp>
      <p:grpSp>
        <p:nvGrpSpPr>
          <p:cNvPr name="Group 83" id="83"/>
          <p:cNvGrpSpPr/>
          <p:nvPr/>
        </p:nvGrpSpPr>
        <p:grpSpPr>
          <a:xfrm rot="0">
            <a:off x="9875520" y="7447788"/>
            <a:ext cx="7269480" cy="548640"/>
            <a:chOff x="0" y="0"/>
            <a:chExt cx="9692640" cy="731520"/>
          </a:xfrm>
        </p:grpSpPr>
        <p:sp>
          <p:nvSpPr>
            <p:cNvPr name="Freeform 84" id="84"/>
            <p:cNvSpPr/>
            <p:nvPr/>
          </p:nvSpPr>
          <p:spPr>
            <a:xfrm flipH="false" flipV="false" rot="0">
              <a:off x="0" y="0"/>
              <a:ext cx="9692640" cy="731520"/>
            </a:xfrm>
            <a:custGeom>
              <a:avLst/>
              <a:gdLst/>
              <a:ahLst/>
              <a:cxnLst/>
              <a:rect r="r" b="b" t="t" l="l"/>
              <a:pathLst>
                <a:path h="731520" w="9692640">
                  <a:moveTo>
                    <a:pt x="0" y="0"/>
                  </a:moveTo>
                  <a:lnTo>
                    <a:pt x="9692640" y="0"/>
                  </a:lnTo>
                  <a:lnTo>
                    <a:pt x="969264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08176" r="0" b="-208176"/>
              </a:stretch>
            </a:blipFill>
          </p:spPr>
        </p:sp>
        <p:sp>
          <p:nvSpPr>
            <p:cNvPr name="TextBox 85" id="85"/>
            <p:cNvSpPr txBox="true"/>
            <p:nvPr/>
          </p:nvSpPr>
          <p:spPr>
            <a:xfrm>
              <a:off x="0" y="-19050"/>
              <a:ext cx="9692640" cy="7505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39"/>
                </a:lnSpc>
              </a:pPr>
              <a:r>
                <a:rPr lang="en-US" sz="2199">
                  <a:solidFill>
                    <a:srgbClr val="1F2430"/>
                  </a:solidFill>
                  <a:latin typeface="Arial"/>
                  <a:ea typeface="Arial"/>
                  <a:cs typeface="Arial"/>
                  <a:sym typeface="Arial"/>
                </a:rPr>
                <a:t>Educational and decision-support use only</a:t>
              </a:r>
            </a:p>
          </p:txBody>
        </p:sp>
      </p:grpSp>
      <p:grpSp>
        <p:nvGrpSpPr>
          <p:cNvPr name="Group 86" id="86"/>
          <p:cNvGrpSpPr/>
          <p:nvPr/>
        </p:nvGrpSpPr>
        <p:grpSpPr>
          <a:xfrm rot="0">
            <a:off x="685800" y="9848088"/>
            <a:ext cx="9601200" cy="384048"/>
            <a:chOff x="0" y="0"/>
            <a:chExt cx="12801600" cy="512064"/>
          </a:xfrm>
        </p:grpSpPr>
        <p:sp>
          <p:nvSpPr>
            <p:cNvPr name="Freeform 87" id="87"/>
            <p:cNvSpPr/>
            <p:nvPr/>
          </p:nvSpPr>
          <p:spPr>
            <a:xfrm flipH="false" flipV="false" rot="0">
              <a:off x="0" y="0"/>
              <a:ext cx="12801600" cy="512064"/>
            </a:xfrm>
            <a:custGeom>
              <a:avLst/>
              <a:gdLst/>
              <a:ahLst/>
              <a:cxnLst/>
              <a:rect r="r" b="b" t="t" l="l"/>
              <a:pathLst>
                <a:path h="512064" w="12801600">
                  <a:moveTo>
                    <a:pt x="0" y="0"/>
                  </a:moveTo>
                  <a:lnTo>
                    <a:pt x="12801600" y="0"/>
                  </a:lnTo>
                  <a:lnTo>
                    <a:pt x="12801600" y="512064"/>
                  </a:lnTo>
                  <a:lnTo>
                    <a:pt x="0" y="5120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37125" r="0" b="-437125"/>
              </a:stretch>
            </a:blipFill>
          </p:spPr>
        </p:sp>
        <p:sp>
          <p:nvSpPr>
            <p:cNvPr name="TextBox 88" id="88"/>
            <p:cNvSpPr txBox="true"/>
            <p:nvPr/>
          </p:nvSpPr>
          <p:spPr>
            <a:xfrm>
              <a:off x="0" y="-19050"/>
              <a:ext cx="12801600" cy="53111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439"/>
                </a:lnSpc>
              </a:pPr>
              <a:r>
                <a:rPr lang="en-US" sz="1200">
                  <a:solidFill>
                    <a:srgbClr val="666B78"/>
                  </a:solidFill>
                  <a:latin typeface="Arial"/>
                  <a:ea typeface="Arial"/>
                  <a:cs typeface="Arial"/>
                  <a:sym typeface="Arial"/>
                </a:rPr>
                <a:t>Medical Diagnosis Expert System  |  CSE440</a:t>
              </a:r>
            </a:p>
          </p:txBody>
        </p:sp>
      </p:grpSp>
      <p:grpSp>
        <p:nvGrpSpPr>
          <p:cNvPr name="Group 89" id="89"/>
          <p:cNvGrpSpPr/>
          <p:nvPr/>
        </p:nvGrpSpPr>
        <p:grpSpPr>
          <a:xfrm rot="0">
            <a:off x="17145000" y="9848088"/>
            <a:ext cx="548640" cy="384048"/>
            <a:chOff x="0" y="0"/>
            <a:chExt cx="731520" cy="512064"/>
          </a:xfrm>
        </p:grpSpPr>
        <p:sp>
          <p:nvSpPr>
            <p:cNvPr name="Freeform 90" id="90"/>
            <p:cNvSpPr/>
            <p:nvPr/>
          </p:nvSpPr>
          <p:spPr>
            <a:xfrm flipH="false" flipV="false" rot="0">
              <a:off x="0" y="0"/>
              <a:ext cx="731520" cy="512064"/>
            </a:xfrm>
            <a:custGeom>
              <a:avLst/>
              <a:gdLst/>
              <a:ahLst/>
              <a:cxnLst/>
              <a:rect r="r" b="b" t="t" l="l"/>
              <a:pathLst>
                <a:path h="512064" w="731520">
                  <a:moveTo>
                    <a:pt x="0" y="0"/>
                  </a:moveTo>
                  <a:lnTo>
                    <a:pt x="731520" y="0"/>
                  </a:lnTo>
                  <a:lnTo>
                    <a:pt x="731520" y="512064"/>
                  </a:lnTo>
                  <a:lnTo>
                    <a:pt x="0" y="5120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39812" t="0" r="-39812" b="0"/>
              </a:stretch>
            </a:blipFill>
          </p:spPr>
        </p:sp>
        <p:sp>
          <p:nvSpPr>
            <p:cNvPr name="TextBox 91" id="91"/>
            <p:cNvSpPr txBox="true"/>
            <p:nvPr/>
          </p:nvSpPr>
          <p:spPr>
            <a:xfrm>
              <a:off x="0" y="-19050"/>
              <a:ext cx="731520" cy="53111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439"/>
                </a:lnSpc>
              </a:pPr>
              <a:r>
                <a:rPr lang="en-US" sz="1200">
                  <a:solidFill>
                    <a:srgbClr val="666B78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6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22960" y="685800"/>
            <a:ext cx="16596360" cy="822960"/>
            <a:chOff x="0" y="0"/>
            <a:chExt cx="22128480" cy="109728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2128480" cy="1097280"/>
            </a:xfrm>
            <a:custGeom>
              <a:avLst/>
              <a:gdLst/>
              <a:ahLst/>
              <a:cxnLst/>
              <a:rect r="r" b="b" t="t" l="l"/>
              <a:pathLst>
                <a:path h="1097280" w="22128480">
                  <a:moveTo>
                    <a:pt x="0" y="0"/>
                  </a:moveTo>
                  <a:lnTo>
                    <a:pt x="22128480" y="0"/>
                  </a:lnTo>
                  <a:lnTo>
                    <a:pt x="2212848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42948" r="0" b="-342948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19050"/>
              <a:ext cx="22128480" cy="11163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040"/>
                </a:lnSpc>
              </a:pPr>
              <a:r>
                <a:rPr lang="en-US" sz="4200" b="true">
                  <a:solidFill>
                    <a:srgbClr val="1F243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Presentation Roadmap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822960" y="1508760"/>
            <a:ext cx="16596360" cy="548640"/>
            <a:chOff x="0" y="0"/>
            <a:chExt cx="22128480" cy="73152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2128480" cy="731520"/>
            </a:xfrm>
            <a:custGeom>
              <a:avLst/>
              <a:gdLst/>
              <a:ahLst/>
              <a:cxnLst/>
              <a:rect r="r" b="b" t="t" l="l"/>
              <a:pathLst>
                <a:path h="731520" w="22128480">
                  <a:moveTo>
                    <a:pt x="0" y="0"/>
                  </a:moveTo>
                  <a:lnTo>
                    <a:pt x="22128480" y="0"/>
                  </a:lnTo>
                  <a:lnTo>
                    <a:pt x="2212848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39422" r="0" b="-539422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19050"/>
              <a:ext cx="22128480" cy="7505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sz="1950">
                  <a:solidFill>
                    <a:srgbClr val="666B78"/>
                  </a:solidFill>
                  <a:latin typeface="Arial"/>
                  <a:ea typeface="Arial"/>
                  <a:cs typeface="Arial"/>
                  <a:sym typeface="Arial"/>
                </a:rPr>
                <a:t>A complete walkthrough from problem and motivation to design, testing and future work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950595" y="2802255"/>
            <a:ext cx="7837170" cy="1870710"/>
            <a:chOff x="0" y="0"/>
            <a:chExt cx="10449560" cy="249428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0449560" cy="2494280"/>
            </a:xfrm>
            <a:custGeom>
              <a:avLst/>
              <a:gdLst/>
              <a:ahLst/>
              <a:cxnLst/>
              <a:rect r="r" b="b" t="t" l="l"/>
              <a:pathLst>
                <a:path h="2494280" w="10449560">
                  <a:moveTo>
                    <a:pt x="0" y="147828"/>
                  </a:moveTo>
                  <a:cubicBezTo>
                    <a:pt x="0" y="66167"/>
                    <a:pt x="66167" y="0"/>
                    <a:pt x="147828" y="0"/>
                  </a:cubicBezTo>
                  <a:lnTo>
                    <a:pt x="10301732" y="0"/>
                  </a:lnTo>
                  <a:cubicBezTo>
                    <a:pt x="10383393" y="0"/>
                    <a:pt x="10449560" y="66167"/>
                    <a:pt x="10449560" y="147828"/>
                  </a:cubicBezTo>
                  <a:lnTo>
                    <a:pt x="10449560" y="2346452"/>
                  </a:lnTo>
                  <a:cubicBezTo>
                    <a:pt x="10449560" y="2428113"/>
                    <a:pt x="10383393" y="2494280"/>
                    <a:pt x="10301732" y="2494280"/>
                  </a:cubicBezTo>
                  <a:lnTo>
                    <a:pt x="147828" y="2494280"/>
                  </a:lnTo>
                  <a:cubicBezTo>
                    <a:pt x="66167" y="2494280"/>
                    <a:pt x="0" y="2428113"/>
                    <a:pt x="0" y="2346452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E6E1D3"/>
              </a:solidFill>
              <a:prstDash val="solid"/>
              <a:miter/>
            </a:ln>
          </p:spPr>
        </p:sp>
      </p:grpSp>
      <p:grpSp>
        <p:nvGrpSpPr>
          <p:cNvPr name="Group 10" id="10"/>
          <p:cNvGrpSpPr/>
          <p:nvPr/>
        </p:nvGrpSpPr>
        <p:grpSpPr>
          <a:xfrm rot="0">
            <a:off x="1371600" y="3490722"/>
            <a:ext cx="493776" cy="493776"/>
            <a:chOff x="0" y="0"/>
            <a:chExt cx="658368" cy="658368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658368" cy="658368"/>
            </a:xfrm>
            <a:custGeom>
              <a:avLst/>
              <a:gdLst/>
              <a:ahLst/>
              <a:cxnLst/>
              <a:rect r="r" b="b" t="t" l="l"/>
              <a:pathLst>
                <a:path h="658368" w="658368">
                  <a:moveTo>
                    <a:pt x="0" y="329184"/>
                  </a:moveTo>
                  <a:cubicBezTo>
                    <a:pt x="0" y="147320"/>
                    <a:pt x="147320" y="0"/>
                    <a:pt x="329184" y="0"/>
                  </a:cubicBezTo>
                  <a:cubicBezTo>
                    <a:pt x="511048" y="0"/>
                    <a:pt x="658368" y="147320"/>
                    <a:pt x="658368" y="329184"/>
                  </a:cubicBezTo>
                  <a:cubicBezTo>
                    <a:pt x="658368" y="511048"/>
                    <a:pt x="511048" y="658368"/>
                    <a:pt x="329184" y="658368"/>
                  </a:cubicBezTo>
                  <a:cubicBezTo>
                    <a:pt x="147320" y="658368"/>
                    <a:pt x="0" y="511048"/>
                    <a:pt x="0" y="329184"/>
                  </a:cubicBezTo>
                  <a:close/>
                </a:path>
              </a:pathLst>
            </a:custGeom>
            <a:solidFill>
              <a:srgbClr val="B08D3E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1371600" y="3490722"/>
            <a:ext cx="493776" cy="493776"/>
            <a:chOff x="0" y="0"/>
            <a:chExt cx="658368" cy="658368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658368" cy="658368"/>
            </a:xfrm>
            <a:custGeom>
              <a:avLst/>
              <a:gdLst/>
              <a:ahLst/>
              <a:cxnLst/>
              <a:rect r="r" b="b" t="t" l="l"/>
              <a:pathLst>
                <a:path h="658368" w="658368">
                  <a:moveTo>
                    <a:pt x="0" y="0"/>
                  </a:moveTo>
                  <a:lnTo>
                    <a:pt x="658368" y="0"/>
                  </a:lnTo>
                  <a:lnTo>
                    <a:pt x="658368" y="658368"/>
                  </a:lnTo>
                  <a:lnTo>
                    <a:pt x="0" y="65836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19050"/>
              <a:ext cx="658368" cy="67741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40"/>
                </a:lnSpc>
              </a:pPr>
              <a:r>
                <a:rPr lang="en-US" sz="1950" b="true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1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2263140" y="2811780"/>
            <a:ext cx="6172200" cy="1851660"/>
            <a:chOff x="0" y="0"/>
            <a:chExt cx="8229600" cy="246888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8229600" cy="2468880"/>
            </a:xfrm>
            <a:custGeom>
              <a:avLst/>
              <a:gdLst/>
              <a:ahLst/>
              <a:cxnLst/>
              <a:rect r="r" b="b" t="t" l="l"/>
              <a:pathLst>
                <a:path h="2468880" w="8229600">
                  <a:moveTo>
                    <a:pt x="0" y="0"/>
                  </a:moveTo>
                  <a:lnTo>
                    <a:pt x="8229600" y="0"/>
                  </a:lnTo>
                  <a:lnTo>
                    <a:pt x="8229600" y="2468880"/>
                  </a:lnTo>
                  <a:lnTo>
                    <a:pt x="0" y="24688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950" r="0" b="-14950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9525"/>
              <a:ext cx="8229600" cy="24784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1F243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Problem &amp; Motivation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9454515" y="2802255"/>
            <a:ext cx="7837170" cy="1870710"/>
            <a:chOff x="0" y="0"/>
            <a:chExt cx="10449560" cy="249428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0449560" cy="2494280"/>
            </a:xfrm>
            <a:custGeom>
              <a:avLst/>
              <a:gdLst/>
              <a:ahLst/>
              <a:cxnLst/>
              <a:rect r="r" b="b" t="t" l="l"/>
              <a:pathLst>
                <a:path h="2494280" w="10449560">
                  <a:moveTo>
                    <a:pt x="0" y="147828"/>
                  </a:moveTo>
                  <a:cubicBezTo>
                    <a:pt x="0" y="66167"/>
                    <a:pt x="66167" y="0"/>
                    <a:pt x="147828" y="0"/>
                  </a:cubicBezTo>
                  <a:lnTo>
                    <a:pt x="10301732" y="0"/>
                  </a:lnTo>
                  <a:cubicBezTo>
                    <a:pt x="10383393" y="0"/>
                    <a:pt x="10449560" y="66167"/>
                    <a:pt x="10449560" y="147828"/>
                  </a:cubicBezTo>
                  <a:lnTo>
                    <a:pt x="10449560" y="2346452"/>
                  </a:lnTo>
                  <a:cubicBezTo>
                    <a:pt x="10449560" y="2428113"/>
                    <a:pt x="10383393" y="2494280"/>
                    <a:pt x="10301732" y="2494280"/>
                  </a:cubicBezTo>
                  <a:lnTo>
                    <a:pt x="147828" y="2494280"/>
                  </a:lnTo>
                  <a:cubicBezTo>
                    <a:pt x="66167" y="2494280"/>
                    <a:pt x="0" y="2428113"/>
                    <a:pt x="0" y="2346452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E6E1D3"/>
              </a:solidFill>
              <a:prstDash val="solid"/>
              <a:miter/>
            </a:ln>
          </p:spPr>
        </p:sp>
      </p:grpSp>
      <p:grpSp>
        <p:nvGrpSpPr>
          <p:cNvPr name="Group 20" id="20"/>
          <p:cNvGrpSpPr/>
          <p:nvPr/>
        </p:nvGrpSpPr>
        <p:grpSpPr>
          <a:xfrm rot="0">
            <a:off x="9875520" y="3490722"/>
            <a:ext cx="493776" cy="493776"/>
            <a:chOff x="0" y="0"/>
            <a:chExt cx="658368" cy="658368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658368" cy="658368"/>
            </a:xfrm>
            <a:custGeom>
              <a:avLst/>
              <a:gdLst/>
              <a:ahLst/>
              <a:cxnLst/>
              <a:rect r="r" b="b" t="t" l="l"/>
              <a:pathLst>
                <a:path h="658368" w="658368">
                  <a:moveTo>
                    <a:pt x="0" y="329184"/>
                  </a:moveTo>
                  <a:cubicBezTo>
                    <a:pt x="0" y="147320"/>
                    <a:pt x="147320" y="0"/>
                    <a:pt x="329184" y="0"/>
                  </a:cubicBezTo>
                  <a:cubicBezTo>
                    <a:pt x="511048" y="0"/>
                    <a:pt x="658368" y="147320"/>
                    <a:pt x="658368" y="329184"/>
                  </a:cubicBezTo>
                  <a:cubicBezTo>
                    <a:pt x="658368" y="511048"/>
                    <a:pt x="511048" y="658368"/>
                    <a:pt x="329184" y="658368"/>
                  </a:cubicBezTo>
                  <a:cubicBezTo>
                    <a:pt x="147320" y="658368"/>
                    <a:pt x="0" y="511048"/>
                    <a:pt x="0" y="329184"/>
                  </a:cubicBezTo>
                  <a:close/>
                </a:path>
              </a:pathLst>
            </a:custGeom>
            <a:solidFill>
              <a:srgbClr val="B08D3E"/>
            </a:solid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9875520" y="3490722"/>
            <a:ext cx="493776" cy="493776"/>
            <a:chOff x="0" y="0"/>
            <a:chExt cx="658368" cy="658368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658368" cy="658368"/>
            </a:xfrm>
            <a:custGeom>
              <a:avLst/>
              <a:gdLst/>
              <a:ahLst/>
              <a:cxnLst/>
              <a:rect r="r" b="b" t="t" l="l"/>
              <a:pathLst>
                <a:path h="658368" w="658368">
                  <a:moveTo>
                    <a:pt x="0" y="0"/>
                  </a:moveTo>
                  <a:lnTo>
                    <a:pt x="658368" y="0"/>
                  </a:lnTo>
                  <a:lnTo>
                    <a:pt x="658368" y="658368"/>
                  </a:lnTo>
                  <a:lnTo>
                    <a:pt x="0" y="65836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19050"/>
              <a:ext cx="658368" cy="67741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40"/>
                </a:lnSpc>
              </a:pPr>
              <a:r>
                <a:rPr lang="en-US" sz="1950" b="true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2</a:t>
              </a: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10767060" y="2811780"/>
            <a:ext cx="6172200" cy="1851660"/>
            <a:chOff x="0" y="0"/>
            <a:chExt cx="8229600" cy="246888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8229600" cy="2468880"/>
            </a:xfrm>
            <a:custGeom>
              <a:avLst/>
              <a:gdLst/>
              <a:ahLst/>
              <a:cxnLst/>
              <a:rect r="r" b="b" t="t" l="l"/>
              <a:pathLst>
                <a:path h="2468880" w="8229600">
                  <a:moveTo>
                    <a:pt x="0" y="0"/>
                  </a:moveTo>
                  <a:lnTo>
                    <a:pt x="8229600" y="0"/>
                  </a:lnTo>
                  <a:lnTo>
                    <a:pt x="8229600" y="2468880"/>
                  </a:lnTo>
                  <a:lnTo>
                    <a:pt x="0" y="24688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950" r="0" b="-14950"/>
              </a:stretch>
            </a:blipFill>
          </p:spPr>
        </p:sp>
        <p:sp>
          <p:nvSpPr>
            <p:cNvPr name="TextBox 27" id="27"/>
            <p:cNvSpPr txBox="true"/>
            <p:nvPr/>
          </p:nvSpPr>
          <p:spPr>
            <a:xfrm>
              <a:off x="0" y="-9525"/>
              <a:ext cx="8229600" cy="24784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1F243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Objectives &amp; Scope</a:t>
              </a: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950595" y="5133975"/>
            <a:ext cx="7837170" cy="1870710"/>
            <a:chOff x="0" y="0"/>
            <a:chExt cx="10449560" cy="249428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10449560" cy="2494280"/>
            </a:xfrm>
            <a:custGeom>
              <a:avLst/>
              <a:gdLst/>
              <a:ahLst/>
              <a:cxnLst/>
              <a:rect r="r" b="b" t="t" l="l"/>
              <a:pathLst>
                <a:path h="2494280" w="10449560">
                  <a:moveTo>
                    <a:pt x="0" y="147828"/>
                  </a:moveTo>
                  <a:cubicBezTo>
                    <a:pt x="0" y="66167"/>
                    <a:pt x="66167" y="0"/>
                    <a:pt x="147828" y="0"/>
                  </a:cubicBezTo>
                  <a:lnTo>
                    <a:pt x="10301732" y="0"/>
                  </a:lnTo>
                  <a:cubicBezTo>
                    <a:pt x="10383393" y="0"/>
                    <a:pt x="10449560" y="66167"/>
                    <a:pt x="10449560" y="147828"/>
                  </a:cubicBezTo>
                  <a:lnTo>
                    <a:pt x="10449560" y="2346452"/>
                  </a:lnTo>
                  <a:cubicBezTo>
                    <a:pt x="10449560" y="2428113"/>
                    <a:pt x="10383393" y="2494280"/>
                    <a:pt x="10301732" y="2494280"/>
                  </a:cubicBezTo>
                  <a:lnTo>
                    <a:pt x="147828" y="2494280"/>
                  </a:lnTo>
                  <a:cubicBezTo>
                    <a:pt x="66167" y="2494280"/>
                    <a:pt x="0" y="2428113"/>
                    <a:pt x="0" y="2346452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E6E1D3"/>
              </a:solidFill>
              <a:prstDash val="solid"/>
              <a:miter/>
            </a:ln>
          </p:spPr>
        </p:sp>
      </p:grpSp>
      <p:grpSp>
        <p:nvGrpSpPr>
          <p:cNvPr name="Group 30" id="30"/>
          <p:cNvGrpSpPr/>
          <p:nvPr/>
        </p:nvGrpSpPr>
        <p:grpSpPr>
          <a:xfrm rot="0">
            <a:off x="1371600" y="5822442"/>
            <a:ext cx="493776" cy="493776"/>
            <a:chOff x="0" y="0"/>
            <a:chExt cx="658368" cy="658368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658368" cy="658368"/>
            </a:xfrm>
            <a:custGeom>
              <a:avLst/>
              <a:gdLst/>
              <a:ahLst/>
              <a:cxnLst/>
              <a:rect r="r" b="b" t="t" l="l"/>
              <a:pathLst>
                <a:path h="658368" w="658368">
                  <a:moveTo>
                    <a:pt x="0" y="329184"/>
                  </a:moveTo>
                  <a:cubicBezTo>
                    <a:pt x="0" y="147320"/>
                    <a:pt x="147320" y="0"/>
                    <a:pt x="329184" y="0"/>
                  </a:cubicBezTo>
                  <a:cubicBezTo>
                    <a:pt x="511048" y="0"/>
                    <a:pt x="658368" y="147320"/>
                    <a:pt x="658368" y="329184"/>
                  </a:cubicBezTo>
                  <a:cubicBezTo>
                    <a:pt x="658368" y="511048"/>
                    <a:pt x="511048" y="658368"/>
                    <a:pt x="329184" y="658368"/>
                  </a:cubicBezTo>
                  <a:cubicBezTo>
                    <a:pt x="147320" y="658368"/>
                    <a:pt x="0" y="511048"/>
                    <a:pt x="0" y="329184"/>
                  </a:cubicBezTo>
                  <a:close/>
                </a:path>
              </a:pathLst>
            </a:custGeom>
            <a:solidFill>
              <a:srgbClr val="B08D3E"/>
            </a:solidFill>
          </p:spPr>
        </p:sp>
      </p:grpSp>
      <p:grpSp>
        <p:nvGrpSpPr>
          <p:cNvPr name="Group 32" id="32"/>
          <p:cNvGrpSpPr/>
          <p:nvPr/>
        </p:nvGrpSpPr>
        <p:grpSpPr>
          <a:xfrm rot="0">
            <a:off x="1371600" y="5822442"/>
            <a:ext cx="493776" cy="493776"/>
            <a:chOff x="0" y="0"/>
            <a:chExt cx="658368" cy="658368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658368" cy="658368"/>
            </a:xfrm>
            <a:custGeom>
              <a:avLst/>
              <a:gdLst/>
              <a:ahLst/>
              <a:cxnLst/>
              <a:rect r="r" b="b" t="t" l="l"/>
              <a:pathLst>
                <a:path h="658368" w="658368">
                  <a:moveTo>
                    <a:pt x="0" y="0"/>
                  </a:moveTo>
                  <a:lnTo>
                    <a:pt x="658368" y="0"/>
                  </a:lnTo>
                  <a:lnTo>
                    <a:pt x="658368" y="658368"/>
                  </a:lnTo>
                  <a:lnTo>
                    <a:pt x="0" y="65836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34" id="34"/>
            <p:cNvSpPr txBox="true"/>
            <p:nvPr/>
          </p:nvSpPr>
          <p:spPr>
            <a:xfrm>
              <a:off x="0" y="-19050"/>
              <a:ext cx="658368" cy="67741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40"/>
                </a:lnSpc>
              </a:pPr>
              <a:r>
                <a:rPr lang="en-US" sz="1950" b="true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3</a:t>
              </a: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2263140" y="5143500"/>
            <a:ext cx="6172200" cy="1851660"/>
            <a:chOff x="0" y="0"/>
            <a:chExt cx="8229600" cy="246888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8229600" cy="2468880"/>
            </a:xfrm>
            <a:custGeom>
              <a:avLst/>
              <a:gdLst/>
              <a:ahLst/>
              <a:cxnLst/>
              <a:rect r="r" b="b" t="t" l="l"/>
              <a:pathLst>
                <a:path h="2468880" w="8229600">
                  <a:moveTo>
                    <a:pt x="0" y="0"/>
                  </a:moveTo>
                  <a:lnTo>
                    <a:pt x="8229600" y="0"/>
                  </a:lnTo>
                  <a:lnTo>
                    <a:pt x="8229600" y="2468880"/>
                  </a:lnTo>
                  <a:lnTo>
                    <a:pt x="0" y="24688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950" r="0" b="-14950"/>
              </a:stretch>
            </a:blipFill>
          </p:spPr>
        </p:sp>
        <p:sp>
          <p:nvSpPr>
            <p:cNvPr name="TextBox 37" id="37"/>
            <p:cNvSpPr txBox="true"/>
            <p:nvPr/>
          </p:nvSpPr>
          <p:spPr>
            <a:xfrm>
              <a:off x="0" y="-9525"/>
              <a:ext cx="8229600" cy="24784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1F243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System Architecture</a:t>
              </a: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9454515" y="5133975"/>
            <a:ext cx="7837170" cy="1870710"/>
            <a:chOff x="0" y="0"/>
            <a:chExt cx="10449560" cy="249428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10449560" cy="2494280"/>
            </a:xfrm>
            <a:custGeom>
              <a:avLst/>
              <a:gdLst/>
              <a:ahLst/>
              <a:cxnLst/>
              <a:rect r="r" b="b" t="t" l="l"/>
              <a:pathLst>
                <a:path h="2494280" w="10449560">
                  <a:moveTo>
                    <a:pt x="0" y="147828"/>
                  </a:moveTo>
                  <a:cubicBezTo>
                    <a:pt x="0" y="66167"/>
                    <a:pt x="66167" y="0"/>
                    <a:pt x="147828" y="0"/>
                  </a:cubicBezTo>
                  <a:lnTo>
                    <a:pt x="10301732" y="0"/>
                  </a:lnTo>
                  <a:cubicBezTo>
                    <a:pt x="10383393" y="0"/>
                    <a:pt x="10449560" y="66167"/>
                    <a:pt x="10449560" y="147828"/>
                  </a:cubicBezTo>
                  <a:lnTo>
                    <a:pt x="10449560" y="2346452"/>
                  </a:lnTo>
                  <a:cubicBezTo>
                    <a:pt x="10449560" y="2428113"/>
                    <a:pt x="10383393" y="2494280"/>
                    <a:pt x="10301732" y="2494280"/>
                  </a:cubicBezTo>
                  <a:lnTo>
                    <a:pt x="147828" y="2494280"/>
                  </a:lnTo>
                  <a:cubicBezTo>
                    <a:pt x="66167" y="2494280"/>
                    <a:pt x="0" y="2428113"/>
                    <a:pt x="0" y="2346452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E6E1D3"/>
              </a:solidFill>
              <a:prstDash val="solid"/>
              <a:miter/>
            </a:ln>
          </p:spPr>
        </p:sp>
      </p:grpSp>
      <p:grpSp>
        <p:nvGrpSpPr>
          <p:cNvPr name="Group 40" id="40"/>
          <p:cNvGrpSpPr/>
          <p:nvPr/>
        </p:nvGrpSpPr>
        <p:grpSpPr>
          <a:xfrm rot="0">
            <a:off x="9875520" y="5822442"/>
            <a:ext cx="493776" cy="493776"/>
            <a:chOff x="0" y="0"/>
            <a:chExt cx="658368" cy="658368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658368" cy="658368"/>
            </a:xfrm>
            <a:custGeom>
              <a:avLst/>
              <a:gdLst/>
              <a:ahLst/>
              <a:cxnLst/>
              <a:rect r="r" b="b" t="t" l="l"/>
              <a:pathLst>
                <a:path h="658368" w="658368">
                  <a:moveTo>
                    <a:pt x="0" y="329184"/>
                  </a:moveTo>
                  <a:cubicBezTo>
                    <a:pt x="0" y="147320"/>
                    <a:pt x="147320" y="0"/>
                    <a:pt x="329184" y="0"/>
                  </a:cubicBezTo>
                  <a:cubicBezTo>
                    <a:pt x="511048" y="0"/>
                    <a:pt x="658368" y="147320"/>
                    <a:pt x="658368" y="329184"/>
                  </a:cubicBezTo>
                  <a:cubicBezTo>
                    <a:pt x="658368" y="511048"/>
                    <a:pt x="511048" y="658368"/>
                    <a:pt x="329184" y="658368"/>
                  </a:cubicBezTo>
                  <a:cubicBezTo>
                    <a:pt x="147320" y="658368"/>
                    <a:pt x="0" y="511048"/>
                    <a:pt x="0" y="329184"/>
                  </a:cubicBezTo>
                  <a:close/>
                </a:path>
              </a:pathLst>
            </a:custGeom>
            <a:solidFill>
              <a:srgbClr val="7A4360"/>
            </a:solidFill>
          </p:spPr>
        </p:sp>
      </p:grpSp>
      <p:grpSp>
        <p:nvGrpSpPr>
          <p:cNvPr name="Group 42" id="42"/>
          <p:cNvGrpSpPr/>
          <p:nvPr/>
        </p:nvGrpSpPr>
        <p:grpSpPr>
          <a:xfrm rot="0">
            <a:off x="9875520" y="5822442"/>
            <a:ext cx="493776" cy="493776"/>
            <a:chOff x="0" y="0"/>
            <a:chExt cx="658368" cy="658368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658368" cy="658368"/>
            </a:xfrm>
            <a:custGeom>
              <a:avLst/>
              <a:gdLst/>
              <a:ahLst/>
              <a:cxnLst/>
              <a:rect r="r" b="b" t="t" l="l"/>
              <a:pathLst>
                <a:path h="658368" w="658368">
                  <a:moveTo>
                    <a:pt x="0" y="0"/>
                  </a:moveTo>
                  <a:lnTo>
                    <a:pt x="658368" y="0"/>
                  </a:lnTo>
                  <a:lnTo>
                    <a:pt x="658368" y="658368"/>
                  </a:lnTo>
                  <a:lnTo>
                    <a:pt x="0" y="65836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44" id="44"/>
            <p:cNvSpPr txBox="true"/>
            <p:nvPr/>
          </p:nvSpPr>
          <p:spPr>
            <a:xfrm>
              <a:off x="0" y="-19050"/>
              <a:ext cx="658368" cy="67741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40"/>
                </a:lnSpc>
              </a:pPr>
              <a:r>
                <a:rPr lang="en-US" sz="1950" b="true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4</a:t>
              </a:r>
            </a:p>
          </p:txBody>
        </p:sp>
      </p:grpSp>
      <p:grpSp>
        <p:nvGrpSpPr>
          <p:cNvPr name="Group 45" id="45"/>
          <p:cNvGrpSpPr/>
          <p:nvPr/>
        </p:nvGrpSpPr>
        <p:grpSpPr>
          <a:xfrm rot="0">
            <a:off x="10767060" y="5143500"/>
            <a:ext cx="6172200" cy="1851660"/>
            <a:chOff x="0" y="0"/>
            <a:chExt cx="8229600" cy="2468880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8229600" cy="2468880"/>
            </a:xfrm>
            <a:custGeom>
              <a:avLst/>
              <a:gdLst/>
              <a:ahLst/>
              <a:cxnLst/>
              <a:rect r="r" b="b" t="t" l="l"/>
              <a:pathLst>
                <a:path h="2468880" w="8229600">
                  <a:moveTo>
                    <a:pt x="0" y="0"/>
                  </a:moveTo>
                  <a:lnTo>
                    <a:pt x="8229600" y="0"/>
                  </a:lnTo>
                  <a:lnTo>
                    <a:pt x="8229600" y="2468880"/>
                  </a:lnTo>
                  <a:lnTo>
                    <a:pt x="0" y="24688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950" r="0" b="-14950"/>
              </a:stretch>
            </a:blipFill>
          </p:spPr>
        </p:sp>
        <p:sp>
          <p:nvSpPr>
            <p:cNvPr name="TextBox 47" id="47"/>
            <p:cNvSpPr txBox="true"/>
            <p:nvPr/>
          </p:nvSpPr>
          <p:spPr>
            <a:xfrm>
              <a:off x="0" y="-9525"/>
              <a:ext cx="8229600" cy="24784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1F243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Inference &amp; Implementation</a:t>
              </a:r>
            </a:p>
          </p:txBody>
        </p:sp>
      </p:grpSp>
      <p:grpSp>
        <p:nvGrpSpPr>
          <p:cNvPr name="Group 48" id="48"/>
          <p:cNvGrpSpPr/>
          <p:nvPr/>
        </p:nvGrpSpPr>
        <p:grpSpPr>
          <a:xfrm rot="0">
            <a:off x="950595" y="7465695"/>
            <a:ext cx="7837170" cy="1870710"/>
            <a:chOff x="0" y="0"/>
            <a:chExt cx="10449560" cy="2494280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10449560" cy="2494280"/>
            </a:xfrm>
            <a:custGeom>
              <a:avLst/>
              <a:gdLst/>
              <a:ahLst/>
              <a:cxnLst/>
              <a:rect r="r" b="b" t="t" l="l"/>
              <a:pathLst>
                <a:path h="2494280" w="10449560">
                  <a:moveTo>
                    <a:pt x="0" y="147828"/>
                  </a:moveTo>
                  <a:cubicBezTo>
                    <a:pt x="0" y="66167"/>
                    <a:pt x="66167" y="0"/>
                    <a:pt x="147828" y="0"/>
                  </a:cubicBezTo>
                  <a:lnTo>
                    <a:pt x="10301732" y="0"/>
                  </a:lnTo>
                  <a:cubicBezTo>
                    <a:pt x="10383393" y="0"/>
                    <a:pt x="10449560" y="66167"/>
                    <a:pt x="10449560" y="147828"/>
                  </a:cubicBezTo>
                  <a:lnTo>
                    <a:pt x="10449560" y="2346452"/>
                  </a:lnTo>
                  <a:cubicBezTo>
                    <a:pt x="10449560" y="2428113"/>
                    <a:pt x="10383393" y="2494280"/>
                    <a:pt x="10301732" y="2494280"/>
                  </a:cubicBezTo>
                  <a:lnTo>
                    <a:pt x="147828" y="2494280"/>
                  </a:lnTo>
                  <a:cubicBezTo>
                    <a:pt x="66167" y="2494280"/>
                    <a:pt x="0" y="2428113"/>
                    <a:pt x="0" y="2346452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E6E1D3"/>
              </a:solidFill>
              <a:prstDash val="solid"/>
              <a:miter/>
            </a:ln>
          </p:spPr>
        </p:sp>
      </p:grpSp>
      <p:grpSp>
        <p:nvGrpSpPr>
          <p:cNvPr name="Group 50" id="50"/>
          <p:cNvGrpSpPr/>
          <p:nvPr/>
        </p:nvGrpSpPr>
        <p:grpSpPr>
          <a:xfrm rot="0">
            <a:off x="1371600" y="8154162"/>
            <a:ext cx="493776" cy="493776"/>
            <a:chOff x="0" y="0"/>
            <a:chExt cx="658368" cy="658368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658368" cy="658368"/>
            </a:xfrm>
            <a:custGeom>
              <a:avLst/>
              <a:gdLst/>
              <a:ahLst/>
              <a:cxnLst/>
              <a:rect r="r" b="b" t="t" l="l"/>
              <a:pathLst>
                <a:path h="658368" w="658368">
                  <a:moveTo>
                    <a:pt x="0" y="329184"/>
                  </a:moveTo>
                  <a:cubicBezTo>
                    <a:pt x="0" y="147320"/>
                    <a:pt x="147320" y="0"/>
                    <a:pt x="329184" y="0"/>
                  </a:cubicBezTo>
                  <a:cubicBezTo>
                    <a:pt x="511048" y="0"/>
                    <a:pt x="658368" y="147320"/>
                    <a:pt x="658368" y="329184"/>
                  </a:cubicBezTo>
                  <a:cubicBezTo>
                    <a:pt x="658368" y="511048"/>
                    <a:pt x="511048" y="658368"/>
                    <a:pt x="329184" y="658368"/>
                  </a:cubicBezTo>
                  <a:cubicBezTo>
                    <a:pt x="147320" y="658368"/>
                    <a:pt x="0" y="511048"/>
                    <a:pt x="0" y="329184"/>
                  </a:cubicBezTo>
                  <a:close/>
                </a:path>
              </a:pathLst>
            </a:custGeom>
            <a:solidFill>
              <a:srgbClr val="7A4360"/>
            </a:solidFill>
          </p:spPr>
        </p:sp>
      </p:grpSp>
      <p:grpSp>
        <p:nvGrpSpPr>
          <p:cNvPr name="Group 52" id="52"/>
          <p:cNvGrpSpPr/>
          <p:nvPr/>
        </p:nvGrpSpPr>
        <p:grpSpPr>
          <a:xfrm rot="0">
            <a:off x="1371600" y="8154162"/>
            <a:ext cx="493776" cy="493776"/>
            <a:chOff x="0" y="0"/>
            <a:chExt cx="658368" cy="658368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658368" cy="658368"/>
            </a:xfrm>
            <a:custGeom>
              <a:avLst/>
              <a:gdLst/>
              <a:ahLst/>
              <a:cxnLst/>
              <a:rect r="r" b="b" t="t" l="l"/>
              <a:pathLst>
                <a:path h="658368" w="658368">
                  <a:moveTo>
                    <a:pt x="0" y="0"/>
                  </a:moveTo>
                  <a:lnTo>
                    <a:pt x="658368" y="0"/>
                  </a:lnTo>
                  <a:lnTo>
                    <a:pt x="658368" y="658368"/>
                  </a:lnTo>
                  <a:lnTo>
                    <a:pt x="0" y="65836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54" id="54"/>
            <p:cNvSpPr txBox="true"/>
            <p:nvPr/>
          </p:nvSpPr>
          <p:spPr>
            <a:xfrm>
              <a:off x="0" y="-19050"/>
              <a:ext cx="658368" cy="67741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40"/>
                </a:lnSpc>
              </a:pPr>
              <a:r>
                <a:rPr lang="en-US" sz="1950" b="true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5</a:t>
              </a:r>
            </a:p>
          </p:txBody>
        </p:sp>
      </p:grpSp>
      <p:grpSp>
        <p:nvGrpSpPr>
          <p:cNvPr name="Group 55" id="55"/>
          <p:cNvGrpSpPr/>
          <p:nvPr/>
        </p:nvGrpSpPr>
        <p:grpSpPr>
          <a:xfrm rot="0">
            <a:off x="2263140" y="7475220"/>
            <a:ext cx="6172200" cy="1851660"/>
            <a:chOff x="0" y="0"/>
            <a:chExt cx="8229600" cy="2468880"/>
          </a:xfrm>
        </p:grpSpPr>
        <p:sp>
          <p:nvSpPr>
            <p:cNvPr name="Freeform 56" id="56"/>
            <p:cNvSpPr/>
            <p:nvPr/>
          </p:nvSpPr>
          <p:spPr>
            <a:xfrm flipH="false" flipV="false" rot="0">
              <a:off x="0" y="0"/>
              <a:ext cx="8229600" cy="2468880"/>
            </a:xfrm>
            <a:custGeom>
              <a:avLst/>
              <a:gdLst/>
              <a:ahLst/>
              <a:cxnLst/>
              <a:rect r="r" b="b" t="t" l="l"/>
              <a:pathLst>
                <a:path h="2468880" w="8229600">
                  <a:moveTo>
                    <a:pt x="0" y="0"/>
                  </a:moveTo>
                  <a:lnTo>
                    <a:pt x="8229600" y="0"/>
                  </a:lnTo>
                  <a:lnTo>
                    <a:pt x="8229600" y="2468880"/>
                  </a:lnTo>
                  <a:lnTo>
                    <a:pt x="0" y="24688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950" r="0" b="-14950"/>
              </a:stretch>
            </a:blipFill>
          </p:spPr>
        </p:sp>
        <p:sp>
          <p:nvSpPr>
            <p:cNvPr name="TextBox 57" id="57"/>
            <p:cNvSpPr txBox="true"/>
            <p:nvPr/>
          </p:nvSpPr>
          <p:spPr>
            <a:xfrm>
              <a:off x="0" y="-9525"/>
              <a:ext cx="8229600" cy="24784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1F243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Knowledge Base &amp; Diseases</a:t>
              </a:r>
            </a:p>
          </p:txBody>
        </p:sp>
      </p:grpSp>
      <p:grpSp>
        <p:nvGrpSpPr>
          <p:cNvPr name="Group 58" id="58"/>
          <p:cNvGrpSpPr/>
          <p:nvPr/>
        </p:nvGrpSpPr>
        <p:grpSpPr>
          <a:xfrm rot="0">
            <a:off x="9454515" y="7465695"/>
            <a:ext cx="7837170" cy="1870710"/>
            <a:chOff x="0" y="0"/>
            <a:chExt cx="10449560" cy="2494280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10449560" cy="2494280"/>
            </a:xfrm>
            <a:custGeom>
              <a:avLst/>
              <a:gdLst/>
              <a:ahLst/>
              <a:cxnLst/>
              <a:rect r="r" b="b" t="t" l="l"/>
              <a:pathLst>
                <a:path h="2494280" w="10449560">
                  <a:moveTo>
                    <a:pt x="0" y="147828"/>
                  </a:moveTo>
                  <a:cubicBezTo>
                    <a:pt x="0" y="66167"/>
                    <a:pt x="66167" y="0"/>
                    <a:pt x="147828" y="0"/>
                  </a:cubicBezTo>
                  <a:lnTo>
                    <a:pt x="10301732" y="0"/>
                  </a:lnTo>
                  <a:cubicBezTo>
                    <a:pt x="10383393" y="0"/>
                    <a:pt x="10449560" y="66167"/>
                    <a:pt x="10449560" y="147828"/>
                  </a:cubicBezTo>
                  <a:lnTo>
                    <a:pt x="10449560" y="2346452"/>
                  </a:lnTo>
                  <a:cubicBezTo>
                    <a:pt x="10449560" y="2428113"/>
                    <a:pt x="10383393" y="2494280"/>
                    <a:pt x="10301732" y="2494280"/>
                  </a:cubicBezTo>
                  <a:lnTo>
                    <a:pt x="147828" y="2494280"/>
                  </a:lnTo>
                  <a:cubicBezTo>
                    <a:pt x="66167" y="2494280"/>
                    <a:pt x="0" y="2428113"/>
                    <a:pt x="0" y="2346452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E6E1D3"/>
              </a:solidFill>
              <a:prstDash val="solid"/>
              <a:miter/>
            </a:ln>
          </p:spPr>
        </p:sp>
      </p:grpSp>
      <p:grpSp>
        <p:nvGrpSpPr>
          <p:cNvPr name="Group 60" id="60"/>
          <p:cNvGrpSpPr/>
          <p:nvPr/>
        </p:nvGrpSpPr>
        <p:grpSpPr>
          <a:xfrm rot="0">
            <a:off x="9875520" y="8154162"/>
            <a:ext cx="493776" cy="493776"/>
            <a:chOff x="0" y="0"/>
            <a:chExt cx="658368" cy="658368"/>
          </a:xfrm>
        </p:grpSpPr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658368" cy="658368"/>
            </a:xfrm>
            <a:custGeom>
              <a:avLst/>
              <a:gdLst/>
              <a:ahLst/>
              <a:cxnLst/>
              <a:rect r="r" b="b" t="t" l="l"/>
              <a:pathLst>
                <a:path h="658368" w="658368">
                  <a:moveTo>
                    <a:pt x="0" y="329184"/>
                  </a:moveTo>
                  <a:cubicBezTo>
                    <a:pt x="0" y="147320"/>
                    <a:pt x="147320" y="0"/>
                    <a:pt x="329184" y="0"/>
                  </a:cubicBezTo>
                  <a:cubicBezTo>
                    <a:pt x="511048" y="0"/>
                    <a:pt x="658368" y="147320"/>
                    <a:pt x="658368" y="329184"/>
                  </a:cubicBezTo>
                  <a:cubicBezTo>
                    <a:pt x="658368" y="511048"/>
                    <a:pt x="511048" y="658368"/>
                    <a:pt x="329184" y="658368"/>
                  </a:cubicBezTo>
                  <a:cubicBezTo>
                    <a:pt x="147320" y="658368"/>
                    <a:pt x="0" y="511048"/>
                    <a:pt x="0" y="329184"/>
                  </a:cubicBezTo>
                  <a:close/>
                </a:path>
              </a:pathLst>
            </a:custGeom>
            <a:solidFill>
              <a:srgbClr val="2B2F3D"/>
            </a:solidFill>
          </p:spPr>
        </p:sp>
      </p:grpSp>
      <p:grpSp>
        <p:nvGrpSpPr>
          <p:cNvPr name="Group 62" id="62"/>
          <p:cNvGrpSpPr/>
          <p:nvPr/>
        </p:nvGrpSpPr>
        <p:grpSpPr>
          <a:xfrm rot="0">
            <a:off x="9875520" y="8154162"/>
            <a:ext cx="493776" cy="493776"/>
            <a:chOff x="0" y="0"/>
            <a:chExt cx="658368" cy="658368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658368" cy="658368"/>
            </a:xfrm>
            <a:custGeom>
              <a:avLst/>
              <a:gdLst/>
              <a:ahLst/>
              <a:cxnLst/>
              <a:rect r="r" b="b" t="t" l="l"/>
              <a:pathLst>
                <a:path h="658368" w="658368">
                  <a:moveTo>
                    <a:pt x="0" y="0"/>
                  </a:moveTo>
                  <a:lnTo>
                    <a:pt x="658368" y="0"/>
                  </a:lnTo>
                  <a:lnTo>
                    <a:pt x="658368" y="658368"/>
                  </a:lnTo>
                  <a:lnTo>
                    <a:pt x="0" y="65836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64" id="64"/>
            <p:cNvSpPr txBox="true"/>
            <p:nvPr/>
          </p:nvSpPr>
          <p:spPr>
            <a:xfrm>
              <a:off x="0" y="-19050"/>
              <a:ext cx="658368" cy="67741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40"/>
                </a:lnSpc>
              </a:pPr>
              <a:r>
                <a:rPr lang="en-US" sz="1950" b="true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6</a:t>
              </a:r>
            </a:p>
          </p:txBody>
        </p:sp>
      </p:grpSp>
      <p:grpSp>
        <p:nvGrpSpPr>
          <p:cNvPr name="Group 65" id="65"/>
          <p:cNvGrpSpPr/>
          <p:nvPr/>
        </p:nvGrpSpPr>
        <p:grpSpPr>
          <a:xfrm rot="0">
            <a:off x="10767060" y="7475220"/>
            <a:ext cx="6172200" cy="1851660"/>
            <a:chOff x="0" y="0"/>
            <a:chExt cx="8229600" cy="2468880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0" y="0"/>
              <a:ext cx="8229600" cy="2468880"/>
            </a:xfrm>
            <a:custGeom>
              <a:avLst/>
              <a:gdLst/>
              <a:ahLst/>
              <a:cxnLst/>
              <a:rect r="r" b="b" t="t" l="l"/>
              <a:pathLst>
                <a:path h="2468880" w="8229600">
                  <a:moveTo>
                    <a:pt x="0" y="0"/>
                  </a:moveTo>
                  <a:lnTo>
                    <a:pt x="8229600" y="0"/>
                  </a:lnTo>
                  <a:lnTo>
                    <a:pt x="8229600" y="2468880"/>
                  </a:lnTo>
                  <a:lnTo>
                    <a:pt x="0" y="24688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950" r="0" b="-14950"/>
              </a:stretch>
            </a:blipFill>
          </p:spPr>
        </p:sp>
        <p:sp>
          <p:nvSpPr>
            <p:cNvPr name="TextBox 67" id="67"/>
            <p:cNvSpPr txBox="true"/>
            <p:nvPr/>
          </p:nvSpPr>
          <p:spPr>
            <a:xfrm>
              <a:off x="0" y="-9525"/>
              <a:ext cx="8229600" cy="24784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1F243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Testing, Limitations &amp; Future Work</a:t>
              </a:r>
            </a:p>
          </p:txBody>
        </p:sp>
      </p:grpSp>
      <p:grpSp>
        <p:nvGrpSpPr>
          <p:cNvPr name="Group 68" id="68"/>
          <p:cNvGrpSpPr/>
          <p:nvPr/>
        </p:nvGrpSpPr>
        <p:grpSpPr>
          <a:xfrm rot="0">
            <a:off x="685800" y="9848088"/>
            <a:ext cx="9601200" cy="384048"/>
            <a:chOff x="0" y="0"/>
            <a:chExt cx="12801600" cy="512064"/>
          </a:xfrm>
        </p:grpSpPr>
        <p:sp>
          <p:nvSpPr>
            <p:cNvPr name="Freeform 69" id="69"/>
            <p:cNvSpPr/>
            <p:nvPr/>
          </p:nvSpPr>
          <p:spPr>
            <a:xfrm flipH="false" flipV="false" rot="0">
              <a:off x="0" y="0"/>
              <a:ext cx="12801600" cy="512064"/>
            </a:xfrm>
            <a:custGeom>
              <a:avLst/>
              <a:gdLst/>
              <a:ahLst/>
              <a:cxnLst/>
              <a:rect r="r" b="b" t="t" l="l"/>
              <a:pathLst>
                <a:path h="512064" w="12801600">
                  <a:moveTo>
                    <a:pt x="0" y="0"/>
                  </a:moveTo>
                  <a:lnTo>
                    <a:pt x="12801600" y="0"/>
                  </a:lnTo>
                  <a:lnTo>
                    <a:pt x="12801600" y="512064"/>
                  </a:lnTo>
                  <a:lnTo>
                    <a:pt x="0" y="5120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37125" r="0" b="-437125"/>
              </a:stretch>
            </a:blipFill>
          </p:spPr>
        </p:sp>
        <p:sp>
          <p:nvSpPr>
            <p:cNvPr name="TextBox 70" id="70"/>
            <p:cNvSpPr txBox="true"/>
            <p:nvPr/>
          </p:nvSpPr>
          <p:spPr>
            <a:xfrm>
              <a:off x="0" y="-19050"/>
              <a:ext cx="12801600" cy="53111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439"/>
                </a:lnSpc>
              </a:pPr>
              <a:r>
                <a:rPr lang="en-US" sz="1200">
                  <a:solidFill>
                    <a:srgbClr val="666B78"/>
                  </a:solidFill>
                  <a:latin typeface="Arial"/>
                  <a:ea typeface="Arial"/>
                  <a:cs typeface="Arial"/>
                  <a:sym typeface="Arial"/>
                </a:rPr>
                <a:t>Medical Diagnosis Expert System  |  CSE440</a:t>
              </a:r>
            </a:p>
          </p:txBody>
        </p:sp>
      </p:grpSp>
      <p:grpSp>
        <p:nvGrpSpPr>
          <p:cNvPr name="Group 71" id="71"/>
          <p:cNvGrpSpPr/>
          <p:nvPr/>
        </p:nvGrpSpPr>
        <p:grpSpPr>
          <a:xfrm rot="0">
            <a:off x="17145000" y="9848088"/>
            <a:ext cx="548640" cy="384048"/>
            <a:chOff x="0" y="0"/>
            <a:chExt cx="731520" cy="512064"/>
          </a:xfrm>
        </p:grpSpPr>
        <p:sp>
          <p:nvSpPr>
            <p:cNvPr name="Freeform 72" id="72"/>
            <p:cNvSpPr/>
            <p:nvPr/>
          </p:nvSpPr>
          <p:spPr>
            <a:xfrm flipH="false" flipV="false" rot="0">
              <a:off x="0" y="0"/>
              <a:ext cx="731520" cy="512064"/>
            </a:xfrm>
            <a:custGeom>
              <a:avLst/>
              <a:gdLst/>
              <a:ahLst/>
              <a:cxnLst/>
              <a:rect r="r" b="b" t="t" l="l"/>
              <a:pathLst>
                <a:path h="512064" w="731520">
                  <a:moveTo>
                    <a:pt x="0" y="0"/>
                  </a:moveTo>
                  <a:lnTo>
                    <a:pt x="731520" y="0"/>
                  </a:lnTo>
                  <a:lnTo>
                    <a:pt x="731520" y="512064"/>
                  </a:lnTo>
                  <a:lnTo>
                    <a:pt x="0" y="5120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39812" t="0" r="-39812" b="0"/>
              </a:stretch>
            </a:blipFill>
          </p:spPr>
        </p:sp>
        <p:sp>
          <p:nvSpPr>
            <p:cNvPr name="TextBox 73" id="73"/>
            <p:cNvSpPr txBox="true"/>
            <p:nvPr/>
          </p:nvSpPr>
          <p:spPr>
            <a:xfrm>
              <a:off x="0" y="-19050"/>
              <a:ext cx="731520" cy="53111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439"/>
                </a:lnSpc>
              </a:pPr>
              <a:r>
                <a:rPr lang="en-US" sz="1200">
                  <a:solidFill>
                    <a:srgbClr val="666B78"/>
                  </a:solidFill>
                  <a:latin typeface="Arial"/>
                  <a:ea typeface="Arial"/>
                  <a:cs typeface="Arial"/>
                  <a:sym typeface="Arial"/>
                </a:rPr>
                <a:t>3</a:t>
              </a:r>
            </a:p>
          </p:txBody>
        </p:sp>
      </p:grp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6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22960" y="685800"/>
            <a:ext cx="16596360" cy="822960"/>
            <a:chOff x="0" y="0"/>
            <a:chExt cx="22128480" cy="109728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2128480" cy="1097280"/>
            </a:xfrm>
            <a:custGeom>
              <a:avLst/>
              <a:gdLst/>
              <a:ahLst/>
              <a:cxnLst/>
              <a:rect r="r" b="b" t="t" l="l"/>
              <a:pathLst>
                <a:path h="1097280" w="22128480">
                  <a:moveTo>
                    <a:pt x="0" y="0"/>
                  </a:moveTo>
                  <a:lnTo>
                    <a:pt x="22128480" y="0"/>
                  </a:lnTo>
                  <a:lnTo>
                    <a:pt x="2212848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42948" r="0" b="-342948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19050"/>
              <a:ext cx="22128480" cy="11163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040"/>
                </a:lnSpc>
              </a:pPr>
              <a:r>
                <a:rPr lang="en-US" sz="4200" b="true">
                  <a:solidFill>
                    <a:srgbClr val="1F243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Problem and Motivation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822960" y="1508760"/>
            <a:ext cx="16596360" cy="548640"/>
            <a:chOff x="0" y="0"/>
            <a:chExt cx="22128480" cy="73152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2128480" cy="731520"/>
            </a:xfrm>
            <a:custGeom>
              <a:avLst/>
              <a:gdLst/>
              <a:ahLst/>
              <a:cxnLst/>
              <a:rect r="r" b="b" t="t" l="l"/>
              <a:pathLst>
                <a:path h="731520" w="22128480">
                  <a:moveTo>
                    <a:pt x="0" y="0"/>
                  </a:moveTo>
                  <a:lnTo>
                    <a:pt x="22128480" y="0"/>
                  </a:lnTo>
                  <a:lnTo>
                    <a:pt x="2212848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39422" r="0" b="-539422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19050"/>
              <a:ext cx="22128480" cy="7505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sz="2600">
                  <a:solidFill>
                    <a:srgbClr val="666B78"/>
                  </a:solidFill>
                  <a:latin typeface="Arial"/>
                  <a:ea typeface="Arial"/>
                  <a:cs typeface="Arial"/>
                  <a:sym typeface="Arial"/>
                </a:rPr>
                <a:t>Why a rule-based expert system is a natural fit for explainable diagnosis support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813435" y="2665095"/>
            <a:ext cx="5299710" cy="6328410"/>
            <a:chOff x="0" y="0"/>
            <a:chExt cx="7066280" cy="843788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7066280" cy="8437880"/>
            </a:xfrm>
            <a:custGeom>
              <a:avLst/>
              <a:gdLst/>
              <a:ahLst/>
              <a:cxnLst/>
              <a:rect r="r" b="b" t="t" l="l"/>
              <a:pathLst>
                <a:path h="8437880" w="7066280">
                  <a:moveTo>
                    <a:pt x="0" y="146812"/>
                  </a:moveTo>
                  <a:cubicBezTo>
                    <a:pt x="0" y="65786"/>
                    <a:pt x="65786" y="0"/>
                    <a:pt x="146812" y="0"/>
                  </a:cubicBezTo>
                  <a:lnTo>
                    <a:pt x="6919468" y="0"/>
                  </a:lnTo>
                  <a:cubicBezTo>
                    <a:pt x="7000622" y="0"/>
                    <a:pt x="7066280" y="65786"/>
                    <a:pt x="7066280" y="146812"/>
                  </a:cubicBezTo>
                  <a:lnTo>
                    <a:pt x="7066280" y="8291068"/>
                  </a:lnTo>
                  <a:cubicBezTo>
                    <a:pt x="7066280" y="8372222"/>
                    <a:pt x="7000494" y="8437880"/>
                    <a:pt x="6919468" y="8437880"/>
                  </a:cubicBezTo>
                  <a:lnTo>
                    <a:pt x="146812" y="8437880"/>
                  </a:lnTo>
                  <a:cubicBezTo>
                    <a:pt x="65786" y="8437880"/>
                    <a:pt x="0" y="8372094"/>
                    <a:pt x="0" y="8291068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E6E1D3"/>
              </a:solidFill>
              <a:prstDash val="solid"/>
              <a:miter/>
            </a:ln>
          </p:spPr>
        </p:sp>
      </p:grpSp>
      <p:grpSp>
        <p:nvGrpSpPr>
          <p:cNvPr name="Group 10" id="10"/>
          <p:cNvGrpSpPr/>
          <p:nvPr/>
        </p:nvGrpSpPr>
        <p:grpSpPr>
          <a:xfrm rot="0">
            <a:off x="1303020" y="3154680"/>
            <a:ext cx="685800" cy="109728"/>
            <a:chOff x="0" y="0"/>
            <a:chExt cx="914400" cy="146304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914400" cy="146304"/>
            </a:xfrm>
            <a:custGeom>
              <a:avLst/>
              <a:gdLst/>
              <a:ahLst/>
              <a:cxnLst/>
              <a:rect r="r" b="b" t="t" l="l"/>
              <a:pathLst>
                <a:path h="146304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146304"/>
                  </a:lnTo>
                  <a:lnTo>
                    <a:pt x="0" y="146304"/>
                  </a:lnTo>
                  <a:close/>
                </a:path>
              </a:pathLst>
            </a:custGeom>
            <a:solidFill>
              <a:srgbClr val="B08D3E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1303020" y="3429000"/>
            <a:ext cx="4320540" cy="685800"/>
            <a:chOff x="0" y="0"/>
            <a:chExt cx="5760720" cy="9144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5760720" cy="914400"/>
            </a:xfrm>
            <a:custGeom>
              <a:avLst/>
              <a:gdLst/>
              <a:ahLst/>
              <a:cxnLst/>
              <a:rect r="r" b="b" t="t" l="l"/>
              <a:pathLst>
                <a:path h="914400" w="5760720">
                  <a:moveTo>
                    <a:pt x="0" y="0"/>
                  </a:moveTo>
                  <a:lnTo>
                    <a:pt x="5760720" y="0"/>
                  </a:lnTo>
                  <a:lnTo>
                    <a:pt x="576072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2755" r="0" b="-72755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19050"/>
              <a:ext cx="5760720" cy="9334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359"/>
                </a:lnSpc>
              </a:pPr>
              <a:r>
                <a:rPr lang="en-US" sz="2799" b="true">
                  <a:solidFill>
                    <a:srgbClr val="1F243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The Challenge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303020" y="4251960"/>
            <a:ext cx="4320540" cy="4251960"/>
            <a:chOff x="0" y="0"/>
            <a:chExt cx="5760720" cy="566928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5760720" cy="5669280"/>
            </a:xfrm>
            <a:custGeom>
              <a:avLst/>
              <a:gdLst/>
              <a:ahLst/>
              <a:cxnLst/>
              <a:rect r="r" b="b" t="t" l="l"/>
              <a:pathLst>
                <a:path h="5669280" w="5760720">
                  <a:moveTo>
                    <a:pt x="0" y="0"/>
                  </a:moveTo>
                  <a:lnTo>
                    <a:pt x="5760720" y="0"/>
                  </a:lnTo>
                  <a:lnTo>
                    <a:pt x="5760720" y="5669280"/>
                  </a:lnTo>
                  <a:lnTo>
                    <a:pt x="0" y="5669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6267" t="0" r="-76267" b="0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85725"/>
              <a:ext cx="5760720" cy="57550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600"/>
                </a:lnSpc>
              </a:pPr>
              <a:r>
                <a:rPr lang="en-US" sz="2400">
                  <a:solidFill>
                    <a:srgbClr val="666B78"/>
                  </a:solidFill>
                  <a:latin typeface="Arial"/>
                  <a:ea typeface="Arial"/>
                  <a:cs typeface="Arial"/>
                  <a:sym typeface="Arial"/>
                </a:rPr>
                <a:t>Medical diagnosis reasons over symptoms, patient history, risk factors and clinical knowledge. A single symptom is rarely enough for a reliable conclusion.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6505575" y="2665095"/>
            <a:ext cx="5299710" cy="6328410"/>
            <a:chOff x="0" y="0"/>
            <a:chExt cx="7066280" cy="843788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7066280" cy="8437880"/>
            </a:xfrm>
            <a:custGeom>
              <a:avLst/>
              <a:gdLst/>
              <a:ahLst/>
              <a:cxnLst/>
              <a:rect r="r" b="b" t="t" l="l"/>
              <a:pathLst>
                <a:path h="8437880" w="7066280">
                  <a:moveTo>
                    <a:pt x="0" y="146812"/>
                  </a:moveTo>
                  <a:cubicBezTo>
                    <a:pt x="0" y="65786"/>
                    <a:pt x="65786" y="0"/>
                    <a:pt x="146812" y="0"/>
                  </a:cubicBezTo>
                  <a:lnTo>
                    <a:pt x="6919468" y="0"/>
                  </a:lnTo>
                  <a:cubicBezTo>
                    <a:pt x="7000622" y="0"/>
                    <a:pt x="7066280" y="65786"/>
                    <a:pt x="7066280" y="146812"/>
                  </a:cubicBezTo>
                  <a:lnTo>
                    <a:pt x="7066280" y="8291068"/>
                  </a:lnTo>
                  <a:cubicBezTo>
                    <a:pt x="7066280" y="8372222"/>
                    <a:pt x="7000494" y="8437880"/>
                    <a:pt x="6919468" y="8437880"/>
                  </a:cubicBezTo>
                  <a:lnTo>
                    <a:pt x="146812" y="8437880"/>
                  </a:lnTo>
                  <a:cubicBezTo>
                    <a:pt x="65786" y="8437880"/>
                    <a:pt x="0" y="8372094"/>
                    <a:pt x="0" y="8291068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E6E1D3"/>
              </a:solidFill>
              <a:prstDash val="solid"/>
              <a:miter/>
            </a:ln>
          </p:spPr>
        </p:sp>
      </p:grpSp>
      <p:grpSp>
        <p:nvGrpSpPr>
          <p:cNvPr name="Group 20" id="20"/>
          <p:cNvGrpSpPr/>
          <p:nvPr/>
        </p:nvGrpSpPr>
        <p:grpSpPr>
          <a:xfrm rot="0">
            <a:off x="6995160" y="3154680"/>
            <a:ext cx="685800" cy="109728"/>
            <a:chOff x="0" y="0"/>
            <a:chExt cx="914400" cy="146304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914400" cy="146304"/>
            </a:xfrm>
            <a:custGeom>
              <a:avLst/>
              <a:gdLst/>
              <a:ahLst/>
              <a:cxnLst/>
              <a:rect r="r" b="b" t="t" l="l"/>
              <a:pathLst>
                <a:path h="146304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146304"/>
                  </a:lnTo>
                  <a:lnTo>
                    <a:pt x="0" y="146304"/>
                  </a:lnTo>
                  <a:close/>
                </a:path>
              </a:pathLst>
            </a:custGeom>
            <a:solidFill>
              <a:srgbClr val="7A4360"/>
            </a:solid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6995160" y="3429000"/>
            <a:ext cx="4320540" cy="685800"/>
            <a:chOff x="0" y="0"/>
            <a:chExt cx="5760720" cy="91440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5760720" cy="914400"/>
            </a:xfrm>
            <a:custGeom>
              <a:avLst/>
              <a:gdLst/>
              <a:ahLst/>
              <a:cxnLst/>
              <a:rect r="r" b="b" t="t" l="l"/>
              <a:pathLst>
                <a:path h="914400" w="5760720">
                  <a:moveTo>
                    <a:pt x="0" y="0"/>
                  </a:moveTo>
                  <a:lnTo>
                    <a:pt x="5760720" y="0"/>
                  </a:lnTo>
                  <a:lnTo>
                    <a:pt x="576072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2755" r="0" b="-72755"/>
              </a:stretch>
            </a:blip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19050"/>
              <a:ext cx="5760720" cy="9334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359"/>
                </a:lnSpc>
              </a:pPr>
              <a:r>
                <a:rPr lang="en-US" sz="2799" b="true">
                  <a:solidFill>
                    <a:srgbClr val="1F243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Why Expert Systems?</a:t>
              </a: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6995160" y="4251960"/>
            <a:ext cx="4320540" cy="4251960"/>
            <a:chOff x="0" y="0"/>
            <a:chExt cx="5760720" cy="566928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5760720" cy="5669280"/>
            </a:xfrm>
            <a:custGeom>
              <a:avLst/>
              <a:gdLst/>
              <a:ahLst/>
              <a:cxnLst/>
              <a:rect r="r" b="b" t="t" l="l"/>
              <a:pathLst>
                <a:path h="5669280" w="5760720">
                  <a:moveTo>
                    <a:pt x="0" y="0"/>
                  </a:moveTo>
                  <a:lnTo>
                    <a:pt x="5760720" y="0"/>
                  </a:lnTo>
                  <a:lnTo>
                    <a:pt x="5760720" y="5669280"/>
                  </a:lnTo>
                  <a:lnTo>
                    <a:pt x="0" y="5669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6267" t="0" r="-76267" b="0"/>
              </a:stretch>
            </a:blipFill>
          </p:spPr>
        </p:sp>
        <p:sp>
          <p:nvSpPr>
            <p:cNvPr name="TextBox 27" id="27"/>
            <p:cNvSpPr txBox="true"/>
            <p:nvPr/>
          </p:nvSpPr>
          <p:spPr>
            <a:xfrm>
              <a:off x="0" y="-85725"/>
              <a:ext cx="5760720" cy="57550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600"/>
                </a:lnSpc>
              </a:pPr>
              <a:r>
                <a:rPr lang="en-US" sz="2400">
                  <a:solidFill>
                    <a:srgbClr val="666B78"/>
                  </a:solidFill>
                  <a:latin typeface="Arial"/>
                  <a:ea typeface="Arial"/>
                  <a:cs typeface="Arial"/>
                  <a:sym typeface="Arial"/>
                </a:rPr>
                <a:t>A rule-based system lets a user inspect exactly why a conclusion was reached: every diagnosis is a rule whose matched conditions are visible.</a:t>
              </a: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12197715" y="2665095"/>
            <a:ext cx="5299710" cy="6328410"/>
            <a:chOff x="0" y="0"/>
            <a:chExt cx="7066280" cy="843788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7066280" cy="8437880"/>
            </a:xfrm>
            <a:custGeom>
              <a:avLst/>
              <a:gdLst/>
              <a:ahLst/>
              <a:cxnLst/>
              <a:rect r="r" b="b" t="t" l="l"/>
              <a:pathLst>
                <a:path h="8437880" w="7066280">
                  <a:moveTo>
                    <a:pt x="0" y="146812"/>
                  </a:moveTo>
                  <a:cubicBezTo>
                    <a:pt x="0" y="65786"/>
                    <a:pt x="65786" y="0"/>
                    <a:pt x="146812" y="0"/>
                  </a:cubicBezTo>
                  <a:lnTo>
                    <a:pt x="6919468" y="0"/>
                  </a:lnTo>
                  <a:cubicBezTo>
                    <a:pt x="7000622" y="0"/>
                    <a:pt x="7066280" y="65786"/>
                    <a:pt x="7066280" y="146812"/>
                  </a:cubicBezTo>
                  <a:lnTo>
                    <a:pt x="7066280" y="8291068"/>
                  </a:lnTo>
                  <a:cubicBezTo>
                    <a:pt x="7066280" y="8372222"/>
                    <a:pt x="7000494" y="8437880"/>
                    <a:pt x="6919468" y="8437880"/>
                  </a:cubicBezTo>
                  <a:lnTo>
                    <a:pt x="146812" y="8437880"/>
                  </a:lnTo>
                  <a:cubicBezTo>
                    <a:pt x="65786" y="8437880"/>
                    <a:pt x="0" y="8372094"/>
                    <a:pt x="0" y="8291068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E6E1D3"/>
              </a:solidFill>
              <a:prstDash val="solid"/>
              <a:miter/>
            </a:ln>
          </p:spPr>
        </p:sp>
      </p:grpSp>
      <p:grpSp>
        <p:nvGrpSpPr>
          <p:cNvPr name="Group 30" id="30"/>
          <p:cNvGrpSpPr/>
          <p:nvPr/>
        </p:nvGrpSpPr>
        <p:grpSpPr>
          <a:xfrm rot="0">
            <a:off x="12687300" y="3154680"/>
            <a:ext cx="685800" cy="109728"/>
            <a:chOff x="0" y="0"/>
            <a:chExt cx="914400" cy="146304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914400" cy="146304"/>
            </a:xfrm>
            <a:custGeom>
              <a:avLst/>
              <a:gdLst/>
              <a:ahLst/>
              <a:cxnLst/>
              <a:rect r="r" b="b" t="t" l="l"/>
              <a:pathLst>
                <a:path h="146304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146304"/>
                  </a:lnTo>
                  <a:lnTo>
                    <a:pt x="0" y="146304"/>
                  </a:lnTo>
                  <a:close/>
                </a:path>
              </a:pathLst>
            </a:custGeom>
            <a:solidFill>
              <a:srgbClr val="2B2F3D"/>
            </a:solidFill>
          </p:spPr>
        </p:sp>
      </p:grpSp>
      <p:grpSp>
        <p:nvGrpSpPr>
          <p:cNvPr name="Group 32" id="32"/>
          <p:cNvGrpSpPr/>
          <p:nvPr/>
        </p:nvGrpSpPr>
        <p:grpSpPr>
          <a:xfrm rot="0">
            <a:off x="12687300" y="3429000"/>
            <a:ext cx="4320540" cy="685800"/>
            <a:chOff x="0" y="0"/>
            <a:chExt cx="5760720" cy="91440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5760720" cy="914400"/>
            </a:xfrm>
            <a:custGeom>
              <a:avLst/>
              <a:gdLst/>
              <a:ahLst/>
              <a:cxnLst/>
              <a:rect r="r" b="b" t="t" l="l"/>
              <a:pathLst>
                <a:path h="914400" w="5760720">
                  <a:moveTo>
                    <a:pt x="0" y="0"/>
                  </a:moveTo>
                  <a:lnTo>
                    <a:pt x="5760720" y="0"/>
                  </a:lnTo>
                  <a:lnTo>
                    <a:pt x="576072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2755" r="0" b="-72755"/>
              </a:stretch>
            </a:blipFill>
          </p:spPr>
        </p:sp>
        <p:sp>
          <p:nvSpPr>
            <p:cNvPr name="TextBox 34" id="34"/>
            <p:cNvSpPr txBox="true"/>
            <p:nvPr/>
          </p:nvSpPr>
          <p:spPr>
            <a:xfrm>
              <a:off x="0" y="-19050"/>
              <a:ext cx="5760720" cy="9334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359"/>
                </a:lnSpc>
              </a:pPr>
              <a:r>
                <a:rPr lang="en-US" sz="2799" b="true">
                  <a:solidFill>
                    <a:srgbClr val="1F243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The Drift Problem</a:t>
              </a: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12687300" y="4251960"/>
            <a:ext cx="4320540" cy="4251960"/>
            <a:chOff x="0" y="0"/>
            <a:chExt cx="5760720" cy="566928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5760720" cy="5669280"/>
            </a:xfrm>
            <a:custGeom>
              <a:avLst/>
              <a:gdLst/>
              <a:ahLst/>
              <a:cxnLst/>
              <a:rect r="r" b="b" t="t" l="l"/>
              <a:pathLst>
                <a:path h="5669280" w="5760720">
                  <a:moveTo>
                    <a:pt x="0" y="0"/>
                  </a:moveTo>
                  <a:lnTo>
                    <a:pt x="5760720" y="0"/>
                  </a:lnTo>
                  <a:lnTo>
                    <a:pt x="5760720" y="5669280"/>
                  </a:lnTo>
                  <a:lnTo>
                    <a:pt x="0" y="5669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6267" t="0" r="-76267" b="0"/>
              </a:stretch>
            </a:blipFill>
          </p:spPr>
        </p:sp>
        <p:sp>
          <p:nvSpPr>
            <p:cNvPr name="TextBox 37" id="37"/>
            <p:cNvSpPr txBox="true"/>
            <p:nvPr/>
          </p:nvSpPr>
          <p:spPr>
            <a:xfrm>
              <a:off x="0" y="-85725"/>
              <a:ext cx="5760720" cy="57550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600"/>
                </a:lnSpc>
              </a:pPr>
              <a:r>
                <a:rPr lang="en-US" sz="2400">
                  <a:solidFill>
                    <a:srgbClr val="666B78"/>
                  </a:solidFill>
                  <a:latin typeface="Arial"/>
                  <a:ea typeface="Arial"/>
                  <a:cs typeface="Arial"/>
                  <a:sym typeface="Arial"/>
                </a:rPr>
                <a:t>Student projects often rewrite reasoning in the web layer, and the two copies drift apart. This project keeps one engine as the single source of truth.</a:t>
              </a: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685800" y="9848088"/>
            <a:ext cx="9601200" cy="384048"/>
            <a:chOff x="0" y="0"/>
            <a:chExt cx="12801600" cy="512064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12801600" cy="512064"/>
            </a:xfrm>
            <a:custGeom>
              <a:avLst/>
              <a:gdLst/>
              <a:ahLst/>
              <a:cxnLst/>
              <a:rect r="r" b="b" t="t" l="l"/>
              <a:pathLst>
                <a:path h="512064" w="12801600">
                  <a:moveTo>
                    <a:pt x="0" y="0"/>
                  </a:moveTo>
                  <a:lnTo>
                    <a:pt x="12801600" y="0"/>
                  </a:lnTo>
                  <a:lnTo>
                    <a:pt x="12801600" y="512064"/>
                  </a:lnTo>
                  <a:lnTo>
                    <a:pt x="0" y="5120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37125" r="0" b="-437125"/>
              </a:stretch>
            </a:blipFill>
          </p:spPr>
        </p:sp>
        <p:sp>
          <p:nvSpPr>
            <p:cNvPr name="TextBox 40" id="40"/>
            <p:cNvSpPr txBox="true"/>
            <p:nvPr/>
          </p:nvSpPr>
          <p:spPr>
            <a:xfrm>
              <a:off x="0" y="-19050"/>
              <a:ext cx="12801600" cy="53111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439"/>
                </a:lnSpc>
              </a:pPr>
              <a:r>
                <a:rPr lang="en-US" sz="1200">
                  <a:solidFill>
                    <a:srgbClr val="666B78"/>
                  </a:solidFill>
                  <a:latin typeface="Arial"/>
                  <a:ea typeface="Arial"/>
                  <a:cs typeface="Arial"/>
                  <a:sym typeface="Arial"/>
                </a:rPr>
                <a:t>Medical Diagnosis Expert System  |  CSE440</a:t>
              </a:r>
            </a:p>
          </p:txBody>
        </p:sp>
      </p:grpSp>
      <p:grpSp>
        <p:nvGrpSpPr>
          <p:cNvPr name="Group 41" id="41"/>
          <p:cNvGrpSpPr/>
          <p:nvPr/>
        </p:nvGrpSpPr>
        <p:grpSpPr>
          <a:xfrm rot="0">
            <a:off x="17145000" y="9848088"/>
            <a:ext cx="548640" cy="384048"/>
            <a:chOff x="0" y="0"/>
            <a:chExt cx="731520" cy="512064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731520" cy="512064"/>
            </a:xfrm>
            <a:custGeom>
              <a:avLst/>
              <a:gdLst/>
              <a:ahLst/>
              <a:cxnLst/>
              <a:rect r="r" b="b" t="t" l="l"/>
              <a:pathLst>
                <a:path h="512064" w="731520">
                  <a:moveTo>
                    <a:pt x="0" y="0"/>
                  </a:moveTo>
                  <a:lnTo>
                    <a:pt x="731520" y="0"/>
                  </a:lnTo>
                  <a:lnTo>
                    <a:pt x="731520" y="512064"/>
                  </a:lnTo>
                  <a:lnTo>
                    <a:pt x="0" y="5120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39812" t="0" r="-39812" b="0"/>
              </a:stretch>
            </a:blipFill>
          </p:spPr>
        </p:sp>
        <p:sp>
          <p:nvSpPr>
            <p:cNvPr name="TextBox 43" id="43"/>
            <p:cNvSpPr txBox="true"/>
            <p:nvPr/>
          </p:nvSpPr>
          <p:spPr>
            <a:xfrm>
              <a:off x="0" y="-19050"/>
              <a:ext cx="731520" cy="53111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439"/>
                </a:lnSpc>
              </a:pPr>
              <a:r>
                <a:rPr lang="en-US" sz="1200">
                  <a:solidFill>
                    <a:srgbClr val="666B78"/>
                  </a:solidFill>
                  <a:latin typeface="Arial"/>
                  <a:ea typeface="Arial"/>
                  <a:cs typeface="Arial"/>
                  <a:sym typeface="Arial"/>
                </a:rPr>
                <a:t>4</a:t>
              </a:r>
            </a:p>
          </p:txBody>
        </p:sp>
      </p:grp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6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22960" y="685800"/>
            <a:ext cx="16596360" cy="822960"/>
            <a:chOff x="0" y="0"/>
            <a:chExt cx="22128480" cy="109728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2128480" cy="1097280"/>
            </a:xfrm>
            <a:custGeom>
              <a:avLst/>
              <a:gdLst/>
              <a:ahLst/>
              <a:cxnLst/>
              <a:rect r="r" b="b" t="t" l="l"/>
              <a:pathLst>
                <a:path h="1097280" w="22128480">
                  <a:moveTo>
                    <a:pt x="0" y="0"/>
                  </a:moveTo>
                  <a:lnTo>
                    <a:pt x="22128480" y="0"/>
                  </a:lnTo>
                  <a:lnTo>
                    <a:pt x="2212848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42948" r="0" b="-342948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19050"/>
              <a:ext cx="22128480" cy="11163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040"/>
                </a:lnSpc>
              </a:pPr>
              <a:r>
                <a:rPr lang="en-US" sz="4200" b="true">
                  <a:solidFill>
                    <a:srgbClr val="1F243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Project Objectives and Scope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822960" y="1508760"/>
            <a:ext cx="16596360" cy="548640"/>
            <a:chOff x="0" y="0"/>
            <a:chExt cx="22128480" cy="73152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2128480" cy="731520"/>
            </a:xfrm>
            <a:custGeom>
              <a:avLst/>
              <a:gdLst/>
              <a:ahLst/>
              <a:cxnLst/>
              <a:rect r="r" b="b" t="t" l="l"/>
              <a:pathLst>
                <a:path h="731520" w="22128480">
                  <a:moveTo>
                    <a:pt x="0" y="0"/>
                  </a:moveTo>
                  <a:lnTo>
                    <a:pt x="22128480" y="0"/>
                  </a:lnTo>
                  <a:lnTo>
                    <a:pt x="2212848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39422" r="0" b="-539422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19050"/>
              <a:ext cx="22128480" cy="7505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sz="1950">
                  <a:solidFill>
                    <a:srgbClr val="666B78"/>
                  </a:solidFill>
                  <a:latin typeface="Arial"/>
                  <a:ea typeface="Arial"/>
                  <a:cs typeface="Arial"/>
                  <a:sym typeface="Arial"/>
                </a:rPr>
                <a:t>What the system is designed to do — and what it is not designed to do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813435" y="2527935"/>
            <a:ext cx="8248650" cy="6739890"/>
            <a:chOff x="0" y="0"/>
            <a:chExt cx="10998200" cy="898652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0998200" cy="8986520"/>
            </a:xfrm>
            <a:custGeom>
              <a:avLst/>
              <a:gdLst/>
              <a:ahLst/>
              <a:cxnLst/>
              <a:rect r="r" b="b" t="t" l="l"/>
              <a:pathLst>
                <a:path h="8986520" w="10998200">
                  <a:moveTo>
                    <a:pt x="0" y="146812"/>
                  </a:moveTo>
                  <a:cubicBezTo>
                    <a:pt x="0" y="65659"/>
                    <a:pt x="65659" y="0"/>
                    <a:pt x="146812" y="0"/>
                  </a:cubicBezTo>
                  <a:lnTo>
                    <a:pt x="10851388" y="0"/>
                  </a:lnTo>
                  <a:cubicBezTo>
                    <a:pt x="10932541" y="0"/>
                    <a:pt x="10998200" y="65659"/>
                    <a:pt x="10998200" y="146812"/>
                  </a:cubicBezTo>
                  <a:lnTo>
                    <a:pt x="10998200" y="8839708"/>
                  </a:lnTo>
                  <a:cubicBezTo>
                    <a:pt x="10998200" y="8920734"/>
                    <a:pt x="10932541" y="8986520"/>
                    <a:pt x="10851388" y="8986520"/>
                  </a:cubicBezTo>
                  <a:lnTo>
                    <a:pt x="146812" y="8986520"/>
                  </a:lnTo>
                  <a:cubicBezTo>
                    <a:pt x="65659" y="8986520"/>
                    <a:pt x="0" y="8920861"/>
                    <a:pt x="0" y="8839708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E6E1D3"/>
              </a:solidFill>
              <a:prstDash val="solid"/>
              <a:miter/>
            </a:ln>
          </p:spPr>
        </p:sp>
      </p:grpSp>
      <p:grpSp>
        <p:nvGrpSpPr>
          <p:cNvPr name="Group 10" id="10"/>
          <p:cNvGrpSpPr/>
          <p:nvPr/>
        </p:nvGrpSpPr>
        <p:grpSpPr>
          <a:xfrm rot="0">
            <a:off x="1234440" y="2880360"/>
            <a:ext cx="548640" cy="548640"/>
            <a:chOff x="0" y="0"/>
            <a:chExt cx="731520" cy="73152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731520" cy="731520"/>
            </a:xfrm>
            <a:custGeom>
              <a:avLst/>
              <a:gdLst/>
              <a:ahLst/>
              <a:cxnLst/>
              <a:rect r="r" b="b" t="t" l="l"/>
              <a:pathLst>
                <a:path h="731520" w="731520">
                  <a:moveTo>
                    <a:pt x="0" y="365760"/>
                  </a:moveTo>
                  <a:cubicBezTo>
                    <a:pt x="0" y="163703"/>
                    <a:pt x="163703" y="0"/>
                    <a:pt x="365760" y="0"/>
                  </a:cubicBezTo>
                  <a:cubicBezTo>
                    <a:pt x="567817" y="0"/>
                    <a:pt x="731520" y="163703"/>
                    <a:pt x="731520" y="365760"/>
                  </a:cubicBezTo>
                  <a:cubicBezTo>
                    <a:pt x="731520" y="567817"/>
                    <a:pt x="567817" y="731520"/>
                    <a:pt x="365760" y="731520"/>
                  </a:cubicBezTo>
                  <a:cubicBezTo>
                    <a:pt x="163703" y="731520"/>
                    <a:pt x="0" y="567817"/>
                    <a:pt x="0" y="365760"/>
                  </a:cubicBezTo>
                  <a:close/>
                </a:path>
              </a:pathLst>
            </a:custGeom>
            <a:solidFill>
              <a:srgbClr val="B08D3E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1234440" y="2880360"/>
            <a:ext cx="548640" cy="548640"/>
            <a:chOff x="0" y="0"/>
            <a:chExt cx="731520" cy="73152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731520" cy="731520"/>
            </a:xfrm>
            <a:custGeom>
              <a:avLst/>
              <a:gdLst/>
              <a:ahLst/>
              <a:cxnLst/>
              <a:rect r="r" b="b" t="t" l="l"/>
              <a:pathLst>
                <a:path h="731520" w="731520">
                  <a:moveTo>
                    <a:pt x="0" y="0"/>
                  </a:moveTo>
                  <a:lnTo>
                    <a:pt x="731520" y="0"/>
                  </a:lnTo>
                  <a:lnTo>
                    <a:pt x="73152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9525"/>
              <a:ext cx="731520" cy="7410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sz="2400" b="true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✓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988820" y="2921508"/>
            <a:ext cx="6583680" cy="548640"/>
            <a:chOff x="0" y="0"/>
            <a:chExt cx="8778240" cy="73152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8778240" cy="731520"/>
            </a:xfrm>
            <a:custGeom>
              <a:avLst/>
              <a:gdLst/>
              <a:ahLst/>
              <a:cxnLst/>
              <a:rect r="r" b="b" t="t" l="l"/>
              <a:pathLst>
                <a:path h="731520" w="8778240">
                  <a:moveTo>
                    <a:pt x="0" y="0"/>
                  </a:moveTo>
                  <a:lnTo>
                    <a:pt x="8778240" y="0"/>
                  </a:lnTo>
                  <a:lnTo>
                    <a:pt x="877824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83820" r="0" b="-183820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19050"/>
              <a:ext cx="8778240" cy="7505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00"/>
                </a:lnSpc>
              </a:pPr>
              <a:r>
                <a:rPr lang="en-US" sz="2250" b="true">
                  <a:solidFill>
                    <a:srgbClr val="1F243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Main Objectives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1234440" y="3744468"/>
            <a:ext cx="164592" cy="164592"/>
            <a:chOff x="0" y="0"/>
            <a:chExt cx="219456" cy="219456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219456" cy="219456"/>
            </a:xfrm>
            <a:custGeom>
              <a:avLst/>
              <a:gdLst/>
              <a:ahLst/>
              <a:cxnLst/>
              <a:rect r="r" b="b" t="t" l="l"/>
              <a:pathLst>
                <a:path h="219456" w="219456">
                  <a:moveTo>
                    <a:pt x="0" y="109728"/>
                  </a:moveTo>
                  <a:cubicBezTo>
                    <a:pt x="0" y="49149"/>
                    <a:pt x="49149" y="0"/>
                    <a:pt x="109728" y="0"/>
                  </a:cubicBezTo>
                  <a:cubicBezTo>
                    <a:pt x="170307" y="0"/>
                    <a:pt x="219456" y="49149"/>
                    <a:pt x="219456" y="109728"/>
                  </a:cubicBezTo>
                  <a:cubicBezTo>
                    <a:pt x="219456" y="170307"/>
                    <a:pt x="170307" y="219456"/>
                    <a:pt x="109728" y="219456"/>
                  </a:cubicBezTo>
                  <a:cubicBezTo>
                    <a:pt x="49149" y="219456"/>
                    <a:pt x="0" y="170307"/>
                    <a:pt x="0" y="109728"/>
                  </a:cubicBezTo>
                  <a:close/>
                </a:path>
              </a:pathLst>
            </a:custGeom>
            <a:solidFill>
              <a:srgbClr val="B08D3E"/>
            </a:solid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1577340" y="3535490"/>
            <a:ext cx="7269480" cy="582549"/>
            <a:chOff x="0" y="0"/>
            <a:chExt cx="9692640" cy="776732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9692640" cy="776732"/>
            </a:xfrm>
            <a:custGeom>
              <a:avLst/>
              <a:gdLst/>
              <a:ahLst/>
              <a:cxnLst/>
              <a:rect r="r" b="b" t="t" l="l"/>
              <a:pathLst>
                <a:path h="776732" w="9692640">
                  <a:moveTo>
                    <a:pt x="0" y="0"/>
                  </a:moveTo>
                  <a:lnTo>
                    <a:pt x="9692640" y="0"/>
                  </a:lnTo>
                  <a:lnTo>
                    <a:pt x="9692640" y="776732"/>
                  </a:lnTo>
                  <a:lnTo>
                    <a:pt x="0" y="77673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6059" r="0" b="-190238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9525"/>
              <a:ext cx="9692640" cy="78625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1F2430"/>
                  </a:solidFill>
                  <a:latin typeface="Arial"/>
                  <a:ea typeface="Arial"/>
                  <a:cs typeface="Arial"/>
                  <a:sym typeface="Arial"/>
                </a:rPr>
                <a:t>Design an expert system driven by symptoms and history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1234440" y="4594860"/>
            <a:ext cx="164592" cy="164592"/>
            <a:chOff x="0" y="0"/>
            <a:chExt cx="219456" cy="219456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219456" cy="219456"/>
            </a:xfrm>
            <a:custGeom>
              <a:avLst/>
              <a:gdLst/>
              <a:ahLst/>
              <a:cxnLst/>
              <a:rect r="r" b="b" t="t" l="l"/>
              <a:pathLst>
                <a:path h="219456" w="219456">
                  <a:moveTo>
                    <a:pt x="0" y="109728"/>
                  </a:moveTo>
                  <a:cubicBezTo>
                    <a:pt x="0" y="49149"/>
                    <a:pt x="49149" y="0"/>
                    <a:pt x="109728" y="0"/>
                  </a:cubicBezTo>
                  <a:cubicBezTo>
                    <a:pt x="170307" y="0"/>
                    <a:pt x="219456" y="49149"/>
                    <a:pt x="219456" y="109728"/>
                  </a:cubicBezTo>
                  <a:cubicBezTo>
                    <a:pt x="219456" y="170307"/>
                    <a:pt x="170307" y="219456"/>
                    <a:pt x="109728" y="219456"/>
                  </a:cubicBezTo>
                  <a:cubicBezTo>
                    <a:pt x="49149" y="219456"/>
                    <a:pt x="0" y="170307"/>
                    <a:pt x="0" y="109728"/>
                  </a:cubicBezTo>
                  <a:close/>
                </a:path>
              </a:pathLst>
            </a:custGeom>
            <a:solidFill>
              <a:srgbClr val="B08D3E"/>
            </a:solidFill>
          </p:spPr>
        </p:sp>
      </p:grpSp>
      <p:grpSp>
        <p:nvGrpSpPr>
          <p:cNvPr name="Group 25" id="25"/>
          <p:cNvGrpSpPr/>
          <p:nvPr/>
        </p:nvGrpSpPr>
        <p:grpSpPr>
          <a:xfrm rot="0">
            <a:off x="1577340" y="4402836"/>
            <a:ext cx="7269480" cy="548640"/>
            <a:chOff x="0" y="0"/>
            <a:chExt cx="9692640" cy="73152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9692640" cy="731520"/>
            </a:xfrm>
            <a:custGeom>
              <a:avLst/>
              <a:gdLst/>
              <a:ahLst/>
              <a:cxnLst/>
              <a:rect r="r" b="b" t="t" l="l"/>
              <a:pathLst>
                <a:path h="731520" w="9692640">
                  <a:moveTo>
                    <a:pt x="0" y="0"/>
                  </a:moveTo>
                  <a:lnTo>
                    <a:pt x="9692640" y="0"/>
                  </a:lnTo>
                  <a:lnTo>
                    <a:pt x="969264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08176" r="0" b="-208176"/>
              </a:stretch>
            </a:blipFill>
          </p:spPr>
        </p:sp>
        <p:sp>
          <p:nvSpPr>
            <p:cNvPr name="TextBox 27" id="27"/>
            <p:cNvSpPr txBox="true"/>
            <p:nvPr/>
          </p:nvSpPr>
          <p:spPr>
            <a:xfrm>
              <a:off x="0" y="-9525"/>
              <a:ext cx="9692640" cy="7410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1F2430"/>
                  </a:solidFill>
                  <a:latin typeface="Arial"/>
                  <a:ea typeface="Arial"/>
                  <a:cs typeface="Arial"/>
                  <a:sym typeface="Arial"/>
                </a:rPr>
                <a:t>Represent knowledge as facts, rules and thresholds</a:t>
              </a: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1234440" y="5445252"/>
            <a:ext cx="164592" cy="164592"/>
            <a:chOff x="0" y="0"/>
            <a:chExt cx="219456" cy="219456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219456" cy="219456"/>
            </a:xfrm>
            <a:custGeom>
              <a:avLst/>
              <a:gdLst/>
              <a:ahLst/>
              <a:cxnLst/>
              <a:rect r="r" b="b" t="t" l="l"/>
              <a:pathLst>
                <a:path h="219456" w="219456">
                  <a:moveTo>
                    <a:pt x="0" y="109728"/>
                  </a:moveTo>
                  <a:cubicBezTo>
                    <a:pt x="0" y="49149"/>
                    <a:pt x="49149" y="0"/>
                    <a:pt x="109728" y="0"/>
                  </a:cubicBezTo>
                  <a:cubicBezTo>
                    <a:pt x="170307" y="0"/>
                    <a:pt x="219456" y="49149"/>
                    <a:pt x="219456" y="109728"/>
                  </a:cubicBezTo>
                  <a:cubicBezTo>
                    <a:pt x="219456" y="170307"/>
                    <a:pt x="170307" y="219456"/>
                    <a:pt x="109728" y="219456"/>
                  </a:cubicBezTo>
                  <a:cubicBezTo>
                    <a:pt x="49149" y="219456"/>
                    <a:pt x="0" y="170307"/>
                    <a:pt x="0" y="109728"/>
                  </a:cubicBezTo>
                  <a:close/>
                </a:path>
              </a:pathLst>
            </a:custGeom>
            <a:solidFill>
              <a:srgbClr val="B08D3E"/>
            </a:solidFill>
          </p:spPr>
        </p:sp>
      </p:grpSp>
      <p:grpSp>
        <p:nvGrpSpPr>
          <p:cNvPr name="Group 30" id="30"/>
          <p:cNvGrpSpPr/>
          <p:nvPr/>
        </p:nvGrpSpPr>
        <p:grpSpPr>
          <a:xfrm rot="0">
            <a:off x="1577340" y="5266944"/>
            <a:ext cx="7269480" cy="548640"/>
            <a:chOff x="0" y="0"/>
            <a:chExt cx="9692640" cy="73152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9692640" cy="731520"/>
            </a:xfrm>
            <a:custGeom>
              <a:avLst/>
              <a:gdLst/>
              <a:ahLst/>
              <a:cxnLst/>
              <a:rect r="r" b="b" t="t" l="l"/>
              <a:pathLst>
                <a:path h="731520" w="9692640">
                  <a:moveTo>
                    <a:pt x="0" y="0"/>
                  </a:moveTo>
                  <a:lnTo>
                    <a:pt x="9692640" y="0"/>
                  </a:lnTo>
                  <a:lnTo>
                    <a:pt x="969264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08176" r="0" b="-208176"/>
              </a:stretch>
            </a:blipFill>
          </p:spPr>
        </p:sp>
        <p:sp>
          <p:nvSpPr>
            <p:cNvPr name="TextBox 32" id="32"/>
            <p:cNvSpPr txBox="true"/>
            <p:nvPr/>
          </p:nvSpPr>
          <p:spPr>
            <a:xfrm>
              <a:off x="0" y="-9525"/>
              <a:ext cx="9692640" cy="7410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1F2430"/>
                  </a:solidFill>
                  <a:latin typeface="Arial"/>
                  <a:ea typeface="Arial"/>
                  <a:cs typeface="Arial"/>
                  <a:sym typeface="Arial"/>
                </a:rPr>
                <a:t>Share one rule base across console and web interfaces</a:t>
              </a:r>
            </a:p>
          </p:txBody>
        </p:sp>
      </p:grpSp>
      <p:grpSp>
        <p:nvGrpSpPr>
          <p:cNvPr name="Group 33" id="33"/>
          <p:cNvGrpSpPr/>
          <p:nvPr/>
        </p:nvGrpSpPr>
        <p:grpSpPr>
          <a:xfrm rot="0">
            <a:off x="1234440" y="6295644"/>
            <a:ext cx="164592" cy="164592"/>
            <a:chOff x="0" y="0"/>
            <a:chExt cx="219456" cy="219456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219456" cy="219456"/>
            </a:xfrm>
            <a:custGeom>
              <a:avLst/>
              <a:gdLst/>
              <a:ahLst/>
              <a:cxnLst/>
              <a:rect r="r" b="b" t="t" l="l"/>
              <a:pathLst>
                <a:path h="219456" w="219456">
                  <a:moveTo>
                    <a:pt x="0" y="109728"/>
                  </a:moveTo>
                  <a:cubicBezTo>
                    <a:pt x="0" y="49149"/>
                    <a:pt x="49149" y="0"/>
                    <a:pt x="109728" y="0"/>
                  </a:cubicBezTo>
                  <a:cubicBezTo>
                    <a:pt x="170307" y="0"/>
                    <a:pt x="219456" y="49149"/>
                    <a:pt x="219456" y="109728"/>
                  </a:cubicBezTo>
                  <a:cubicBezTo>
                    <a:pt x="219456" y="170307"/>
                    <a:pt x="170307" y="219456"/>
                    <a:pt x="109728" y="219456"/>
                  </a:cubicBezTo>
                  <a:cubicBezTo>
                    <a:pt x="49149" y="219456"/>
                    <a:pt x="0" y="170307"/>
                    <a:pt x="0" y="109728"/>
                  </a:cubicBezTo>
                  <a:close/>
                </a:path>
              </a:pathLst>
            </a:custGeom>
            <a:solidFill>
              <a:srgbClr val="B08D3E"/>
            </a:solidFill>
          </p:spPr>
        </p:sp>
      </p:grpSp>
      <p:grpSp>
        <p:nvGrpSpPr>
          <p:cNvPr name="Group 35" id="35"/>
          <p:cNvGrpSpPr/>
          <p:nvPr/>
        </p:nvGrpSpPr>
        <p:grpSpPr>
          <a:xfrm rot="0">
            <a:off x="1577340" y="6117336"/>
            <a:ext cx="7269480" cy="548640"/>
            <a:chOff x="0" y="0"/>
            <a:chExt cx="9692640" cy="73152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9692640" cy="731520"/>
            </a:xfrm>
            <a:custGeom>
              <a:avLst/>
              <a:gdLst/>
              <a:ahLst/>
              <a:cxnLst/>
              <a:rect r="r" b="b" t="t" l="l"/>
              <a:pathLst>
                <a:path h="731520" w="9692640">
                  <a:moveTo>
                    <a:pt x="0" y="0"/>
                  </a:moveTo>
                  <a:lnTo>
                    <a:pt x="9692640" y="0"/>
                  </a:lnTo>
                  <a:lnTo>
                    <a:pt x="969264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08176" r="0" b="-208176"/>
              </a:stretch>
            </a:blipFill>
          </p:spPr>
        </p:sp>
        <p:sp>
          <p:nvSpPr>
            <p:cNvPr name="TextBox 37" id="37"/>
            <p:cNvSpPr txBox="true"/>
            <p:nvPr/>
          </p:nvSpPr>
          <p:spPr>
            <a:xfrm>
              <a:off x="0" y="-9525"/>
              <a:ext cx="9692640" cy="7410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1F2430"/>
                  </a:solidFill>
                  <a:latin typeface="Arial"/>
                  <a:ea typeface="Arial"/>
                  <a:cs typeface="Arial"/>
                  <a:sym typeface="Arial"/>
                </a:rPr>
                <a:t>Let a user revise an earlier answer mid-consultation</a:t>
              </a: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1234440" y="7146036"/>
            <a:ext cx="164592" cy="164592"/>
            <a:chOff x="0" y="0"/>
            <a:chExt cx="219456" cy="219456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219456" cy="219456"/>
            </a:xfrm>
            <a:custGeom>
              <a:avLst/>
              <a:gdLst/>
              <a:ahLst/>
              <a:cxnLst/>
              <a:rect r="r" b="b" t="t" l="l"/>
              <a:pathLst>
                <a:path h="219456" w="219456">
                  <a:moveTo>
                    <a:pt x="0" y="109728"/>
                  </a:moveTo>
                  <a:cubicBezTo>
                    <a:pt x="0" y="49149"/>
                    <a:pt x="49149" y="0"/>
                    <a:pt x="109728" y="0"/>
                  </a:cubicBezTo>
                  <a:cubicBezTo>
                    <a:pt x="170307" y="0"/>
                    <a:pt x="219456" y="49149"/>
                    <a:pt x="219456" y="109728"/>
                  </a:cubicBezTo>
                  <a:cubicBezTo>
                    <a:pt x="219456" y="170307"/>
                    <a:pt x="170307" y="219456"/>
                    <a:pt x="109728" y="219456"/>
                  </a:cubicBezTo>
                  <a:cubicBezTo>
                    <a:pt x="49149" y="219456"/>
                    <a:pt x="0" y="170307"/>
                    <a:pt x="0" y="109728"/>
                  </a:cubicBezTo>
                  <a:close/>
                </a:path>
              </a:pathLst>
            </a:custGeom>
            <a:solidFill>
              <a:srgbClr val="B08D3E"/>
            </a:solidFill>
          </p:spPr>
        </p:sp>
      </p:grpSp>
      <p:grpSp>
        <p:nvGrpSpPr>
          <p:cNvPr name="Group 40" id="40"/>
          <p:cNvGrpSpPr/>
          <p:nvPr/>
        </p:nvGrpSpPr>
        <p:grpSpPr>
          <a:xfrm rot="0">
            <a:off x="1577340" y="6967728"/>
            <a:ext cx="7269480" cy="548640"/>
            <a:chOff x="0" y="0"/>
            <a:chExt cx="9692640" cy="731520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9692640" cy="731520"/>
            </a:xfrm>
            <a:custGeom>
              <a:avLst/>
              <a:gdLst/>
              <a:ahLst/>
              <a:cxnLst/>
              <a:rect r="r" b="b" t="t" l="l"/>
              <a:pathLst>
                <a:path h="731520" w="9692640">
                  <a:moveTo>
                    <a:pt x="0" y="0"/>
                  </a:moveTo>
                  <a:lnTo>
                    <a:pt x="9692640" y="0"/>
                  </a:lnTo>
                  <a:lnTo>
                    <a:pt x="969264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08176" r="0" b="-208176"/>
              </a:stretch>
            </a:blipFill>
          </p:spPr>
        </p:sp>
        <p:sp>
          <p:nvSpPr>
            <p:cNvPr name="TextBox 42" id="42"/>
            <p:cNvSpPr txBox="true"/>
            <p:nvPr/>
          </p:nvSpPr>
          <p:spPr>
            <a:xfrm>
              <a:off x="0" y="-9525"/>
              <a:ext cx="9692640" cy="7410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1F2430"/>
                  </a:solidFill>
                  <a:latin typeface="Arial"/>
                  <a:ea typeface="Arial"/>
                  <a:cs typeface="Arial"/>
                  <a:sym typeface="Arial"/>
                </a:rPr>
                <a:t>Use medical history to adjust evidence thresholds</a:t>
              </a:r>
            </a:p>
          </p:txBody>
        </p:sp>
      </p:grpSp>
      <p:grpSp>
        <p:nvGrpSpPr>
          <p:cNvPr name="Group 43" id="43"/>
          <p:cNvGrpSpPr/>
          <p:nvPr/>
        </p:nvGrpSpPr>
        <p:grpSpPr>
          <a:xfrm rot="0">
            <a:off x="1234440" y="7996428"/>
            <a:ext cx="164592" cy="164592"/>
            <a:chOff x="0" y="0"/>
            <a:chExt cx="219456" cy="219456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219456" cy="219456"/>
            </a:xfrm>
            <a:custGeom>
              <a:avLst/>
              <a:gdLst/>
              <a:ahLst/>
              <a:cxnLst/>
              <a:rect r="r" b="b" t="t" l="l"/>
              <a:pathLst>
                <a:path h="219456" w="219456">
                  <a:moveTo>
                    <a:pt x="0" y="109728"/>
                  </a:moveTo>
                  <a:cubicBezTo>
                    <a:pt x="0" y="49149"/>
                    <a:pt x="49149" y="0"/>
                    <a:pt x="109728" y="0"/>
                  </a:cubicBezTo>
                  <a:cubicBezTo>
                    <a:pt x="170307" y="0"/>
                    <a:pt x="219456" y="49149"/>
                    <a:pt x="219456" y="109728"/>
                  </a:cubicBezTo>
                  <a:cubicBezTo>
                    <a:pt x="219456" y="170307"/>
                    <a:pt x="170307" y="219456"/>
                    <a:pt x="109728" y="219456"/>
                  </a:cubicBezTo>
                  <a:cubicBezTo>
                    <a:pt x="49149" y="219456"/>
                    <a:pt x="0" y="170307"/>
                    <a:pt x="0" y="109728"/>
                  </a:cubicBezTo>
                  <a:close/>
                </a:path>
              </a:pathLst>
            </a:custGeom>
            <a:solidFill>
              <a:srgbClr val="B08D3E"/>
            </a:solidFill>
          </p:spPr>
        </p:sp>
      </p:grpSp>
      <p:grpSp>
        <p:nvGrpSpPr>
          <p:cNvPr name="Group 45" id="45"/>
          <p:cNvGrpSpPr/>
          <p:nvPr/>
        </p:nvGrpSpPr>
        <p:grpSpPr>
          <a:xfrm rot="0">
            <a:off x="1577340" y="7818120"/>
            <a:ext cx="7269480" cy="548640"/>
            <a:chOff x="0" y="0"/>
            <a:chExt cx="9692640" cy="731520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9692640" cy="731520"/>
            </a:xfrm>
            <a:custGeom>
              <a:avLst/>
              <a:gdLst/>
              <a:ahLst/>
              <a:cxnLst/>
              <a:rect r="r" b="b" t="t" l="l"/>
              <a:pathLst>
                <a:path h="731520" w="9692640">
                  <a:moveTo>
                    <a:pt x="0" y="0"/>
                  </a:moveTo>
                  <a:lnTo>
                    <a:pt x="9692640" y="0"/>
                  </a:lnTo>
                  <a:lnTo>
                    <a:pt x="969264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08176" r="0" b="-208176"/>
              </a:stretch>
            </a:blipFill>
          </p:spPr>
        </p:sp>
        <p:sp>
          <p:nvSpPr>
            <p:cNvPr name="TextBox 47" id="47"/>
            <p:cNvSpPr txBox="true"/>
            <p:nvPr/>
          </p:nvSpPr>
          <p:spPr>
            <a:xfrm>
              <a:off x="0" y="-9525"/>
              <a:ext cx="9692640" cy="7410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1F2430"/>
                  </a:solidFill>
                  <a:latin typeface="Arial"/>
                  <a:ea typeface="Arial"/>
                  <a:cs typeface="Arial"/>
                  <a:sym typeface="Arial"/>
                </a:rPr>
                <a:t>Export a disease-specific treatment PDF report</a:t>
              </a:r>
            </a:p>
          </p:txBody>
        </p:sp>
      </p:grpSp>
      <p:grpSp>
        <p:nvGrpSpPr>
          <p:cNvPr name="Group 48" id="48"/>
          <p:cNvGrpSpPr/>
          <p:nvPr/>
        </p:nvGrpSpPr>
        <p:grpSpPr>
          <a:xfrm rot="0">
            <a:off x="9271635" y="2582799"/>
            <a:ext cx="8180070" cy="6739890"/>
            <a:chOff x="0" y="0"/>
            <a:chExt cx="10906760" cy="8986520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10906760" cy="8986520"/>
            </a:xfrm>
            <a:custGeom>
              <a:avLst/>
              <a:gdLst/>
              <a:ahLst/>
              <a:cxnLst/>
              <a:rect r="r" b="b" t="t" l="l"/>
              <a:pathLst>
                <a:path h="8986520" w="10906760">
                  <a:moveTo>
                    <a:pt x="0" y="146812"/>
                  </a:moveTo>
                  <a:cubicBezTo>
                    <a:pt x="0" y="65659"/>
                    <a:pt x="65659" y="0"/>
                    <a:pt x="146812" y="0"/>
                  </a:cubicBezTo>
                  <a:lnTo>
                    <a:pt x="10759948" y="0"/>
                  </a:lnTo>
                  <a:cubicBezTo>
                    <a:pt x="10840974" y="0"/>
                    <a:pt x="10906760" y="65659"/>
                    <a:pt x="10906760" y="146812"/>
                  </a:cubicBezTo>
                  <a:lnTo>
                    <a:pt x="10906760" y="8839708"/>
                  </a:lnTo>
                  <a:cubicBezTo>
                    <a:pt x="10906760" y="8920734"/>
                    <a:pt x="10841101" y="8986520"/>
                    <a:pt x="10759948" y="8986520"/>
                  </a:cubicBezTo>
                  <a:lnTo>
                    <a:pt x="146812" y="8986520"/>
                  </a:lnTo>
                  <a:cubicBezTo>
                    <a:pt x="65659" y="8986520"/>
                    <a:pt x="0" y="8920861"/>
                    <a:pt x="0" y="8839708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E6E1D3"/>
              </a:solidFill>
              <a:prstDash val="solid"/>
              <a:miter/>
            </a:ln>
          </p:spPr>
        </p:sp>
      </p:grpSp>
      <p:grpSp>
        <p:nvGrpSpPr>
          <p:cNvPr name="Group 50" id="50"/>
          <p:cNvGrpSpPr/>
          <p:nvPr/>
        </p:nvGrpSpPr>
        <p:grpSpPr>
          <a:xfrm rot="0">
            <a:off x="9669780" y="2880360"/>
            <a:ext cx="548640" cy="548640"/>
            <a:chOff x="0" y="0"/>
            <a:chExt cx="731520" cy="731520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731520" cy="731520"/>
            </a:xfrm>
            <a:custGeom>
              <a:avLst/>
              <a:gdLst/>
              <a:ahLst/>
              <a:cxnLst/>
              <a:rect r="r" b="b" t="t" l="l"/>
              <a:pathLst>
                <a:path h="731520" w="731520">
                  <a:moveTo>
                    <a:pt x="0" y="365760"/>
                  </a:moveTo>
                  <a:cubicBezTo>
                    <a:pt x="0" y="163703"/>
                    <a:pt x="163703" y="0"/>
                    <a:pt x="365760" y="0"/>
                  </a:cubicBezTo>
                  <a:cubicBezTo>
                    <a:pt x="567817" y="0"/>
                    <a:pt x="731520" y="163703"/>
                    <a:pt x="731520" y="365760"/>
                  </a:cubicBezTo>
                  <a:cubicBezTo>
                    <a:pt x="731520" y="567817"/>
                    <a:pt x="567817" y="731520"/>
                    <a:pt x="365760" y="731520"/>
                  </a:cubicBezTo>
                  <a:cubicBezTo>
                    <a:pt x="163703" y="731520"/>
                    <a:pt x="0" y="567817"/>
                    <a:pt x="0" y="365760"/>
                  </a:cubicBezTo>
                  <a:close/>
                </a:path>
              </a:pathLst>
            </a:custGeom>
            <a:solidFill>
              <a:srgbClr val="7A4360"/>
            </a:solidFill>
          </p:spPr>
        </p:sp>
      </p:grpSp>
      <p:grpSp>
        <p:nvGrpSpPr>
          <p:cNvPr name="Group 52" id="52"/>
          <p:cNvGrpSpPr/>
          <p:nvPr/>
        </p:nvGrpSpPr>
        <p:grpSpPr>
          <a:xfrm rot="0">
            <a:off x="9669780" y="2880360"/>
            <a:ext cx="548640" cy="548640"/>
            <a:chOff x="0" y="0"/>
            <a:chExt cx="731520" cy="731520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731520" cy="731520"/>
            </a:xfrm>
            <a:custGeom>
              <a:avLst/>
              <a:gdLst/>
              <a:ahLst/>
              <a:cxnLst/>
              <a:rect r="r" b="b" t="t" l="l"/>
              <a:pathLst>
                <a:path h="731520" w="731520">
                  <a:moveTo>
                    <a:pt x="0" y="0"/>
                  </a:moveTo>
                  <a:lnTo>
                    <a:pt x="731520" y="0"/>
                  </a:lnTo>
                  <a:lnTo>
                    <a:pt x="73152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54" id="54"/>
            <p:cNvSpPr txBox="true"/>
            <p:nvPr/>
          </p:nvSpPr>
          <p:spPr>
            <a:xfrm>
              <a:off x="0" y="-9525"/>
              <a:ext cx="731520" cy="7410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520"/>
                </a:lnSpc>
              </a:pPr>
              <a:r>
                <a:rPr lang="en-US" sz="2100" b="true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$</a:t>
              </a:r>
            </a:p>
          </p:txBody>
        </p:sp>
      </p:grpSp>
      <p:grpSp>
        <p:nvGrpSpPr>
          <p:cNvPr name="Group 55" id="55"/>
          <p:cNvGrpSpPr/>
          <p:nvPr/>
        </p:nvGrpSpPr>
        <p:grpSpPr>
          <a:xfrm rot="0">
            <a:off x="10424160" y="2921508"/>
            <a:ext cx="6583680" cy="572765"/>
            <a:chOff x="0" y="0"/>
            <a:chExt cx="8778240" cy="763687"/>
          </a:xfrm>
        </p:grpSpPr>
        <p:sp>
          <p:nvSpPr>
            <p:cNvPr name="Freeform 56" id="56"/>
            <p:cNvSpPr/>
            <p:nvPr/>
          </p:nvSpPr>
          <p:spPr>
            <a:xfrm flipH="false" flipV="false" rot="0">
              <a:off x="0" y="0"/>
              <a:ext cx="8778240" cy="763687"/>
            </a:xfrm>
            <a:custGeom>
              <a:avLst/>
              <a:gdLst/>
              <a:ahLst/>
              <a:cxnLst/>
              <a:rect r="r" b="b" t="t" l="l"/>
              <a:pathLst>
                <a:path h="763687" w="8778240">
                  <a:moveTo>
                    <a:pt x="0" y="0"/>
                  </a:moveTo>
                  <a:lnTo>
                    <a:pt x="8778240" y="0"/>
                  </a:lnTo>
                  <a:lnTo>
                    <a:pt x="8778240" y="763687"/>
                  </a:lnTo>
                  <a:lnTo>
                    <a:pt x="0" y="763687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76077" r="0" b="-171865"/>
              </a:stretch>
            </a:blipFill>
          </p:spPr>
        </p:sp>
        <p:sp>
          <p:nvSpPr>
            <p:cNvPr name="TextBox 57" id="57"/>
            <p:cNvSpPr txBox="true"/>
            <p:nvPr/>
          </p:nvSpPr>
          <p:spPr>
            <a:xfrm>
              <a:off x="0" y="-19050"/>
              <a:ext cx="8778240" cy="78273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359"/>
                </a:lnSpc>
              </a:pPr>
              <a:r>
                <a:rPr lang="en-US" sz="2799" b="true">
                  <a:solidFill>
                    <a:srgbClr val="1F243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System Scope</a:t>
              </a:r>
            </a:p>
          </p:txBody>
        </p:sp>
      </p:grpSp>
      <p:grpSp>
        <p:nvGrpSpPr>
          <p:cNvPr name="Group 58" id="58"/>
          <p:cNvGrpSpPr/>
          <p:nvPr/>
        </p:nvGrpSpPr>
        <p:grpSpPr>
          <a:xfrm rot="0">
            <a:off x="9669780" y="3744468"/>
            <a:ext cx="164592" cy="164592"/>
            <a:chOff x="0" y="0"/>
            <a:chExt cx="219456" cy="219456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219456" cy="219456"/>
            </a:xfrm>
            <a:custGeom>
              <a:avLst/>
              <a:gdLst/>
              <a:ahLst/>
              <a:cxnLst/>
              <a:rect r="r" b="b" t="t" l="l"/>
              <a:pathLst>
                <a:path h="219456" w="219456">
                  <a:moveTo>
                    <a:pt x="0" y="109728"/>
                  </a:moveTo>
                  <a:cubicBezTo>
                    <a:pt x="0" y="49149"/>
                    <a:pt x="49149" y="0"/>
                    <a:pt x="109728" y="0"/>
                  </a:cubicBezTo>
                  <a:cubicBezTo>
                    <a:pt x="170307" y="0"/>
                    <a:pt x="219456" y="49149"/>
                    <a:pt x="219456" y="109728"/>
                  </a:cubicBezTo>
                  <a:cubicBezTo>
                    <a:pt x="219456" y="170307"/>
                    <a:pt x="170307" y="219456"/>
                    <a:pt x="109728" y="219456"/>
                  </a:cubicBezTo>
                  <a:cubicBezTo>
                    <a:pt x="49149" y="219456"/>
                    <a:pt x="0" y="170307"/>
                    <a:pt x="0" y="109728"/>
                  </a:cubicBezTo>
                  <a:close/>
                </a:path>
              </a:pathLst>
            </a:custGeom>
            <a:solidFill>
              <a:srgbClr val="7A4360"/>
            </a:solidFill>
          </p:spPr>
        </p:sp>
      </p:grpSp>
      <p:grpSp>
        <p:nvGrpSpPr>
          <p:cNvPr name="Group 60" id="60"/>
          <p:cNvGrpSpPr/>
          <p:nvPr/>
        </p:nvGrpSpPr>
        <p:grpSpPr>
          <a:xfrm rot="0">
            <a:off x="10012680" y="3566160"/>
            <a:ext cx="7269480" cy="548640"/>
            <a:chOff x="0" y="0"/>
            <a:chExt cx="9692640" cy="731520"/>
          </a:xfrm>
        </p:grpSpPr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9692640" cy="731520"/>
            </a:xfrm>
            <a:custGeom>
              <a:avLst/>
              <a:gdLst/>
              <a:ahLst/>
              <a:cxnLst/>
              <a:rect r="r" b="b" t="t" l="l"/>
              <a:pathLst>
                <a:path h="731520" w="9692640">
                  <a:moveTo>
                    <a:pt x="0" y="0"/>
                  </a:moveTo>
                  <a:lnTo>
                    <a:pt x="9692640" y="0"/>
                  </a:lnTo>
                  <a:lnTo>
                    <a:pt x="969264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08176" r="0" b="-208176"/>
              </a:stretch>
            </a:blipFill>
          </p:spPr>
        </p:sp>
        <p:sp>
          <p:nvSpPr>
            <p:cNvPr name="TextBox 62" id="62"/>
            <p:cNvSpPr txBox="true"/>
            <p:nvPr/>
          </p:nvSpPr>
          <p:spPr>
            <a:xfrm>
              <a:off x="0" y="-19050"/>
              <a:ext cx="9692640" cy="7505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39"/>
                </a:lnSpc>
              </a:pPr>
              <a:r>
                <a:rPr lang="en-US" sz="2199">
                  <a:solidFill>
                    <a:srgbClr val="1F2430"/>
                  </a:solidFill>
                  <a:latin typeface="Arial"/>
                  <a:ea typeface="Arial"/>
                  <a:cs typeface="Arial"/>
                  <a:sym typeface="Arial"/>
                </a:rPr>
                <a:t>Supports 31 diseases across 9 clinical categories</a:t>
              </a:r>
            </a:p>
          </p:txBody>
        </p:sp>
      </p:grpSp>
      <p:grpSp>
        <p:nvGrpSpPr>
          <p:cNvPr name="Group 63" id="63"/>
          <p:cNvGrpSpPr/>
          <p:nvPr/>
        </p:nvGrpSpPr>
        <p:grpSpPr>
          <a:xfrm rot="0">
            <a:off x="9669780" y="4594860"/>
            <a:ext cx="164592" cy="164592"/>
            <a:chOff x="0" y="0"/>
            <a:chExt cx="219456" cy="219456"/>
          </a:xfrm>
        </p:grpSpPr>
        <p:sp>
          <p:nvSpPr>
            <p:cNvPr name="Freeform 64" id="64"/>
            <p:cNvSpPr/>
            <p:nvPr/>
          </p:nvSpPr>
          <p:spPr>
            <a:xfrm flipH="false" flipV="false" rot="0">
              <a:off x="0" y="0"/>
              <a:ext cx="219456" cy="219456"/>
            </a:xfrm>
            <a:custGeom>
              <a:avLst/>
              <a:gdLst/>
              <a:ahLst/>
              <a:cxnLst/>
              <a:rect r="r" b="b" t="t" l="l"/>
              <a:pathLst>
                <a:path h="219456" w="219456">
                  <a:moveTo>
                    <a:pt x="0" y="109728"/>
                  </a:moveTo>
                  <a:cubicBezTo>
                    <a:pt x="0" y="49149"/>
                    <a:pt x="49149" y="0"/>
                    <a:pt x="109728" y="0"/>
                  </a:cubicBezTo>
                  <a:cubicBezTo>
                    <a:pt x="170307" y="0"/>
                    <a:pt x="219456" y="49149"/>
                    <a:pt x="219456" y="109728"/>
                  </a:cubicBezTo>
                  <a:cubicBezTo>
                    <a:pt x="219456" y="170307"/>
                    <a:pt x="170307" y="219456"/>
                    <a:pt x="109728" y="219456"/>
                  </a:cubicBezTo>
                  <a:cubicBezTo>
                    <a:pt x="49149" y="219456"/>
                    <a:pt x="0" y="170307"/>
                    <a:pt x="0" y="109728"/>
                  </a:cubicBezTo>
                  <a:close/>
                </a:path>
              </a:pathLst>
            </a:custGeom>
            <a:solidFill>
              <a:srgbClr val="7A4360"/>
            </a:solidFill>
          </p:spPr>
        </p:sp>
      </p:grpSp>
      <p:grpSp>
        <p:nvGrpSpPr>
          <p:cNvPr name="Group 65" id="65"/>
          <p:cNvGrpSpPr/>
          <p:nvPr/>
        </p:nvGrpSpPr>
        <p:grpSpPr>
          <a:xfrm rot="0">
            <a:off x="10012680" y="4416552"/>
            <a:ext cx="7269480" cy="548640"/>
            <a:chOff x="0" y="0"/>
            <a:chExt cx="9692640" cy="731520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0" y="0"/>
              <a:ext cx="9692640" cy="731520"/>
            </a:xfrm>
            <a:custGeom>
              <a:avLst/>
              <a:gdLst/>
              <a:ahLst/>
              <a:cxnLst/>
              <a:rect r="r" b="b" t="t" l="l"/>
              <a:pathLst>
                <a:path h="731520" w="9692640">
                  <a:moveTo>
                    <a:pt x="0" y="0"/>
                  </a:moveTo>
                  <a:lnTo>
                    <a:pt x="9692640" y="0"/>
                  </a:lnTo>
                  <a:lnTo>
                    <a:pt x="969264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08176" r="0" b="-208176"/>
              </a:stretch>
            </a:blipFill>
          </p:spPr>
        </p:sp>
        <p:sp>
          <p:nvSpPr>
            <p:cNvPr name="TextBox 67" id="67"/>
            <p:cNvSpPr txBox="true"/>
            <p:nvPr/>
          </p:nvSpPr>
          <p:spPr>
            <a:xfrm>
              <a:off x="0" y="-19050"/>
              <a:ext cx="9692640" cy="7505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39"/>
                </a:lnSpc>
              </a:pPr>
              <a:r>
                <a:rPr lang="en-US" sz="2199">
                  <a:solidFill>
                    <a:srgbClr val="1F2430"/>
                  </a:solidFill>
                  <a:latin typeface="Arial"/>
                  <a:ea typeface="Arial"/>
                  <a:cs typeface="Arial"/>
                  <a:sym typeface="Arial"/>
                </a:rPr>
                <a:t>Uses question-by-question symptom collection</a:t>
              </a:r>
            </a:p>
          </p:txBody>
        </p:sp>
      </p:grpSp>
      <p:grpSp>
        <p:nvGrpSpPr>
          <p:cNvPr name="Group 68" id="68"/>
          <p:cNvGrpSpPr/>
          <p:nvPr/>
        </p:nvGrpSpPr>
        <p:grpSpPr>
          <a:xfrm rot="0">
            <a:off x="9669780" y="5445252"/>
            <a:ext cx="164592" cy="164592"/>
            <a:chOff x="0" y="0"/>
            <a:chExt cx="219456" cy="219456"/>
          </a:xfrm>
        </p:grpSpPr>
        <p:sp>
          <p:nvSpPr>
            <p:cNvPr name="Freeform 69" id="69"/>
            <p:cNvSpPr/>
            <p:nvPr/>
          </p:nvSpPr>
          <p:spPr>
            <a:xfrm flipH="false" flipV="false" rot="0">
              <a:off x="0" y="0"/>
              <a:ext cx="219456" cy="219456"/>
            </a:xfrm>
            <a:custGeom>
              <a:avLst/>
              <a:gdLst/>
              <a:ahLst/>
              <a:cxnLst/>
              <a:rect r="r" b="b" t="t" l="l"/>
              <a:pathLst>
                <a:path h="219456" w="219456">
                  <a:moveTo>
                    <a:pt x="0" y="109728"/>
                  </a:moveTo>
                  <a:cubicBezTo>
                    <a:pt x="0" y="49149"/>
                    <a:pt x="49149" y="0"/>
                    <a:pt x="109728" y="0"/>
                  </a:cubicBezTo>
                  <a:cubicBezTo>
                    <a:pt x="170307" y="0"/>
                    <a:pt x="219456" y="49149"/>
                    <a:pt x="219456" y="109728"/>
                  </a:cubicBezTo>
                  <a:cubicBezTo>
                    <a:pt x="219456" y="170307"/>
                    <a:pt x="170307" y="219456"/>
                    <a:pt x="109728" y="219456"/>
                  </a:cubicBezTo>
                  <a:cubicBezTo>
                    <a:pt x="49149" y="219456"/>
                    <a:pt x="0" y="170307"/>
                    <a:pt x="0" y="109728"/>
                  </a:cubicBezTo>
                  <a:close/>
                </a:path>
              </a:pathLst>
            </a:custGeom>
            <a:solidFill>
              <a:srgbClr val="7A4360"/>
            </a:solidFill>
          </p:spPr>
        </p:sp>
      </p:grpSp>
      <p:grpSp>
        <p:nvGrpSpPr>
          <p:cNvPr name="Group 70" id="70"/>
          <p:cNvGrpSpPr/>
          <p:nvPr/>
        </p:nvGrpSpPr>
        <p:grpSpPr>
          <a:xfrm rot="0">
            <a:off x="10012680" y="5266944"/>
            <a:ext cx="7269480" cy="548640"/>
            <a:chOff x="0" y="0"/>
            <a:chExt cx="9692640" cy="731520"/>
          </a:xfrm>
        </p:grpSpPr>
        <p:sp>
          <p:nvSpPr>
            <p:cNvPr name="Freeform 71" id="71"/>
            <p:cNvSpPr/>
            <p:nvPr/>
          </p:nvSpPr>
          <p:spPr>
            <a:xfrm flipH="false" flipV="false" rot="0">
              <a:off x="0" y="0"/>
              <a:ext cx="9692640" cy="731520"/>
            </a:xfrm>
            <a:custGeom>
              <a:avLst/>
              <a:gdLst/>
              <a:ahLst/>
              <a:cxnLst/>
              <a:rect r="r" b="b" t="t" l="l"/>
              <a:pathLst>
                <a:path h="731520" w="9692640">
                  <a:moveTo>
                    <a:pt x="0" y="0"/>
                  </a:moveTo>
                  <a:lnTo>
                    <a:pt x="9692640" y="0"/>
                  </a:lnTo>
                  <a:lnTo>
                    <a:pt x="969264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08176" r="0" b="-208176"/>
              </a:stretch>
            </a:blipFill>
          </p:spPr>
        </p:sp>
        <p:sp>
          <p:nvSpPr>
            <p:cNvPr name="TextBox 72" id="72"/>
            <p:cNvSpPr txBox="true"/>
            <p:nvPr/>
          </p:nvSpPr>
          <p:spPr>
            <a:xfrm>
              <a:off x="0" y="-19050"/>
              <a:ext cx="9692640" cy="7505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39"/>
                </a:lnSpc>
              </a:pPr>
              <a:r>
                <a:rPr lang="en-US" sz="2199">
                  <a:solidFill>
                    <a:srgbClr val="1F2430"/>
                  </a:solidFill>
                  <a:latin typeface="Arial"/>
                  <a:ea typeface="Arial"/>
                  <a:cs typeface="Arial"/>
                  <a:sym typeface="Arial"/>
                </a:rPr>
                <a:t>Does not perform lab analysis or imaging</a:t>
              </a:r>
            </a:p>
          </p:txBody>
        </p:sp>
      </p:grpSp>
      <p:grpSp>
        <p:nvGrpSpPr>
          <p:cNvPr name="Group 73" id="73"/>
          <p:cNvGrpSpPr/>
          <p:nvPr/>
        </p:nvGrpSpPr>
        <p:grpSpPr>
          <a:xfrm rot="0">
            <a:off x="9669780" y="6295644"/>
            <a:ext cx="164592" cy="164592"/>
            <a:chOff x="0" y="0"/>
            <a:chExt cx="219456" cy="219456"/>
          </a:xfrm>
        </p:grpSpPr>
        <p:sp>
          <p:nvSpPr>
            <p:cNvPr name="Freeform 74" id="74"/>
            <p:cNvSpPr/>
            <p:nvPr/>
          </p:nvSpPr>
          <p:spPr>
            <a:xfrm flipH="false" flipV="false" rot="0">
              <a:off x="0" y="0"/>
              <a:ext cx="219456" cy="219456"/>
            </a:xfrm>
            <a:custGeom>
              <a:avLst/>
              <a:gdLst/>
              <a:ahLst/>
              <a:cxnLst/>
              <a:rect r="r" b="b" t="t" l="l"/>
              <a:pathLst>
                <a:path h="219456" w="219456">
                  <a:moveTo>
                    <a:pt x="0" y="109728"/>
                  </a:moveTo>
                  <a:cubicBezTo>
                    <a:pt x="0" y="49149"/>
                    <a:pt x="49149" y="0"/>
                    <a:pt x="109728" y="0"/>
                  </a:cubicBezTo>
                  <a:cubicBezTo>
                    <a:pt x="170307" y="0"/>
                    <a:pt x="219456" y="49149"/>
                    <a:pt x="219456" y="109728"/>
                  </a:cubicBezTo>
                  <a:cubicBezTo>
                    <a:pt x="219456" y="170307"/>
                    <a:pt x="170307" y="219456"/>
                    <a:pt x="109728" y="219456"/>
                  </a:cubicBezTo>
                  <a:cubicBezTo>
                    <a:pt x="49149" y="219456"/>
                    <a:pt x="0" y="170307"/>
                    <a:pt x="0" y="109728"/>
                  </a:cubicBezTo>
                  <a:close/>
                </a:path>
              </a:pathLst>
            </a:custGeom>
            <a:solidFill>
              <a:srgbClr val="7A4360"/>
            </a:solidFill>
          </p:spPr>
        </p:sp>
      </p:grpSp>
      <p:grpSp>
        <p:nvGrpSpPr>
          <p:cNvPr name="Group 75" id="75"/>
          <p:cNvGrpSpPr/>
          <p:nvPr/>
        </p:nvGrpSpPr>
        <p:grpSpPr>
          <a:xfrm rot="0">
            <a:off x="10012680" y="6117336"/>
            <a:ext cx="7269480" cy="548640"/>
            <a:chOff x="0" y="0"/>
            <a:chExt cx="9692640" cy="731520"/>
          </a:xfrm>
        </p:grpSpPr>
        <p:sp>
          <p:nvSpPr>
            <p:cNvPr name="Freeform 76" id="76"/>
            <p:cNvSpPr/>
            <p:nvPr/>
          </p:nvSpPr>
          <p:spPr>
            <a:xfrm flipH="false" flipV="false" rot="0">
              <a:off x="0" y="0"/>
              <a:ext cx="9692640" cy="731520"/>
            </a:xfrm>
            <a:custGeom>
              <a:avLst/>
              <a:gdLst/>
              <a:ahLst/>
              <a:cxnLst/>
              <a:rect r="r" b="b" t="t" l="l"/>
              <a:pathLst>
                <a:path h="731520" w="9692640">
                  <a:moveTo>
                    <a:pt x="0" y="0"/>
                  </a:moveTo>
                  <a:lnTo>
                    <a:pt x="9692640" y="0"/>
                  </a:lnTo>
                  <a:lnTo>
                    <a:pt x="969264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08176" r="0" b="-208176"/>
              </a:stretch>
            </a:blipFill>
          </p:spPr>
        </p:sp>
        <p:sp>
          <p:nvSpPr>
            <p:cNvPr name="TextBox 77" id="77"/>
            <p:cNvSpPr txBox="true"/>
            <p:nvPr/>
          </p:nvSpPr>
          <p:spPr>
            <a:xfrm>
              <a:off x="0" y="-19050"/>
              <a:ext cx="9692640" cy="7505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39"/>
                </a:lnSpc>
              </a:pPr>
              <a:r>
                <a:rPr lang="en-US" sz="2199">
                  <a:solidFill>
                    <a:srgbClr val="1F2430"/>
                  </a:solidFill>
                  <a:latin typeface="Arial"/>
                  <a:ea typeface="Arial"/>
                  <a:cs typeface="Arial"/>
                  <a:sym typeface="Arial"/>
                </a:rPr>
                <a:t>Does not replace clinical examination or triage</a:t>
              </a:r>
            </a:p>
          </p:txBody>
        </p:sp>
      </p:grpSp>
      <p:grpSp>
        <p:nvGrpSpPr>
          <p:cNvPr name="Group 78" id="78"/>
          <p:cNvGrpSpPr/>
          <p:nvPr/>
        </p:nvGrpSpPr>
        <p:grpSpPr>
          <a:xfrm rot="0">
            <a:off x="9669780" y="7146036"/>
            <a:ext cx="164592" cy="164592"/>
            <a:chOff x="0" y="0"/>
            <a:chExt cx="219456" cy="219456"/>
          </a:xfrm>
        </p:grpSpPr>
        <p:sp>
          <p:nvSpPr>
            <p:cNvPr name="Freeform 79" id="79"/>
            <p:cNvSpPr/>
            <p:nvPr/>
          </p:nvSpPr>
          <p:spPr>
            <a:xfrm flipH="false" flipV="false" rot="0">
              <a:off x="0" y="0"/>
              <a:ext cx="219456" cy="219456"/>
            </a:xfrm>
            <a:custGeom>
              <a:avLst/>
              <a:gdLst/>
              <a:ahLst/>
              <a:cxnLst/>
              <a:rect r="r" b="b" t="t" l="l"/>
              <a:pathLst>
                <a:path h="219456" w="219456">
                  <a:moveTo>
                    <a:pt x="0" y="109728"/>
                  </a:moveTo>
                  <a:cubicBezTo>
                    <a:pt x="0" y="49149"/>
                    <a:pt x="49149" y="0"/>
                    <a:pt x="109728" y="0"/>
                  </a:cubicBezTo>
                  <a:cubicBezTo>
                    <a:pt x="170307" y="0"/>
                    <a:pt x="219456" y="49149"/>
                    <a:pt x="219456" y="109728"/>
                  </a:cubicBezTo>
                  <a:cubicBezTo>
                    <a:pt x="219456" y="170307"/>
                    <a:pt x="170307" y="219456"/>
                    <a:pt x="109728" y="219456"/>
                  </a:cubicBezTo>
                  <a:cubicBezTo>
                    <a:pt x="49149" y="219456"/>
                    <a:pt x="0" y="170307"/>
                    <a:pt x="0" y="109728"/>
                  </a:cubicBezTo>
                  <a:close/>
                </a:path>
              </a:pathLst>
            </a:custGeom>
            <a:solidFill>
              <a:srgbClr val="7A4360"/>
            </a:solidFill>
          </p:spPr>
        </p:sp>
      </p:grpSp>
      <p:grpSp>
        <p:nvGrpSpPr>
          <p:cNvPr name="Group 80" id="80"/>
          <p:cNvGrpSpPr/>
          <p:nvPr/>
        </p:nvGrpSpPr>
        <p:grpSpPr>
          <a:xfrm rot="0">
            <a:off x="10012680" y="6967728"/>
            <a:ext cx="7269480" cy="548640"/>
            <a:chOff x="0" y="0"/>
            <a:chExt cx="9692640" cy="731520"/>
          </a:xfrm>
        </p:grpSpPr>
        <p:sp>
          <p:nvSpPr>
            <p:cNvPr name="Freeform 81" id="81"/>
            <p:cNvSpPr/>
            <p:nvPr/>
          </p:nvSpPr>
          <p:spPr>
            <a:xfrm flipH="false" flipV="false" rot="0">
              <a:off x="0" y="0"/>
              <a:ext cx="9692640" cy="731520"/>
            </a:xfrm>
            <a:custGeom>
              <a:avLst/>
              <a:gdLst/>
              <a:ahLst/>
              <a:cxnLst/>
              <a:rect r="r" b="b" t="t" l="l"/>
              <a:pathLst>
                <a:path h="731520" w="9692640">
                  <a:moveTo>
                    <a:pt x="0" y="0"/>
                  </a:moveTo>
                  <a:lnTo>
                    <a:pt x="9692640" y="0"/>
                  </a:lnTo>
                  <a:lnTo>
                    <a:pt x="969264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08176" r="0" b="-208176"/>
              </a:stretch>
            </a:blipFill>
          </p:spPr>
        </p:sp>
        <p:sp>
          <p:nvSpPr>
            <p:cNvPr name="TextBox 82" id="82"/>
            <p:cNvSpPr txBox="true"/>
            <p:nvPr/>
          </p:nvSpPr>
          <p:spPr>
            <a:xfrm>
              <a:off x="0" y="-19050"/>
              <a:ext cx="9692640" cy="7505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39"/>
                </a:lnSpc>
              </a:pPr>
              <a:r>
                <a:rPr lang="en-US" sz="2199">
                  <a:solidFill>
                    <a:srgbClr val="1F2430"/>
                  </a:solidFill>
                  <a:latin typeface="Arial"/>
                  <a:ea typeface="Arial"/>
                  <a:cs typeface="Arial"/>
                  <a:sym typeface="Arial"/>
                </a:rPr>
                <a:t>Output must be reviewed by a healthcare professional</a:t>
              </a:r>
            </a:p>
          </p:txBody>
        </p:sp>
      </p:grpSp>
      <p:grpSp>
        <p:nvGrpSpPr>
          <p:cNvPr name="Group 83" id="83"/>
          <p:cNvGrpSpPr/>
          <p:nvPr/>
        </p:nvGrpSpPr>
        <p:grpSpPr>
          <a:xfrm rot="0">
            <a:off x="9669780" y="7996428"/>
            <a:ext cx="164592" cy="164592"/>
            <a:chOff x="0" y="0"/>
            <a:chExt cx="219456" cy="219456"/>
          </a:xfrm>
        </p:grpSpPr>
        <p:sp>
          <p:nvSpPr>
            <p:cNvPr name="Freeform 84" id="84"/>
            <p:cNvSpPr/>
            <p:nvPr/>
          </p:nvSpPr>
          <p:spPr>
            <a:xfrm flipH="false" flipV="false" rot="0">
              <a:off x="0" y="0"/>
              <a:ext cx="219456" cy="219456"/>
            </a:xfrm>
            <a:custGeom>
              <a:avLst/>
              <a:gdLst/>
              <a:ahLst/>
              <a:cxnLst/>
              <a:rect r="r" b="b" t="t" l="l"/>
              <a:pathLst>
                <a:path h="219456" w="219456">
                  <a:moveTo>
                    <a:pt x="0" y="109728"/>
                  </a:moveTo>
                  <a:cubicBezTo>
                    <a:pt x="0" y="49149"/>
                    <a:pt x="49149" y="0"/>
                    <a:pt x="109728" y="0"/>
                  </a:cubicBezTo>
                  <a:cubicBezTo>
                    <a:pt x="170307" y="0"/>
                    <a:pt x="219456" y="49149"/>
                    <a:pt x="219456" y="109728"/>
                  </a:cubicBezTo>
                  <a:cubicBezTo>
                    <a:pt x="219456" y="170307"/>
                    <a:pt x="170307" y="219456"/>
                    <a:pt x="109728" y="219456"/>
                  </a:cubicBezTo>
                  <a:cubicBezTo>
                    <a:pt x="49149" y="219456"/>
                    <a:pt x="0" y="170307"/>
                    <a:pt x="0" y="109728"/>
                  </a:cubicBezTo>
                  <a:close/>
                </a:path>
              </a:pathLst>
            </a:custGeom>
            <a:solidFill>
              <a:srgbClr val="7A4360"/>
            </a:solidFill>
          </p:spPr>
        </p:sp>
      </p:grpSp>
      <p:grpSp>
        <p:nvGrpSpPr>
          <p:cNvPr name="Group 85" id="85"/>
          <p:cNvGrpSpPr/>
          <p:nvPr/>
        </p:nvGrpSpPr>
        <p:grpSpPr>
          <a:xfrm rot="0">
            <a:off x="10012680" y="7818120"/>
            <a:ext cx="7269480" cy="548640"/>
            <a:chOff x="0" y="0"/>
            <a:chExt cx="9692640" cy="731520"/>
          </a:xfrm>
        </p:grpSpPr>
        <p:sp>
          <p:nvSpPr>
            <p:cNvPr name="Freeform 86" id="86"/>
            <p:cNvSpPr/>
            <p:nvPr/>
          </p:nvSpPr>
          <p:spPr>
            <a:xfrm flipH="false" flipV="false" rot="0">
              <a:off x="0" y="0"/>
              <a:ext cx="9692640" cy="731520"/>
            </a:xfrm>
            <a:custGeom>
              <a:avLst/>
              <a:gdLst/>
              <a:ahLst/>
              <a:cxnLst/>
              <a:rect r="r" b="b" t="t" l="l"/>
              <a:pathLst>
                <a:path h="731520" w="9692640">
                  <a:moveTo>
                    <a:pt x="0" y="0"/>
                  </a:moveTo>
                  <a:lnTo>
                    <a:pt x="9692640" y="0"/>
                  </a:lnTo>
                  <a:lnTo>
                    <a:pt x="969264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08176" r="0" b="-208176"/>
              </a:stretch>
            </a:blipFill>
          </p:spPr>
        </p:sp>
        <p:sp>
          <p:nvSpPr>
            <p:cNvPr name="TextBox 87" id="87"/>
            <p:cNvSpPr txBox="true"/>
            <p:nvPr/>
          </p:nvSpPr>
          <p:spPr>
            <a:xfrm>
              <a:off x="0" y="-19050"/>
              <a:ext cx="9692640" cy="7505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39"/>
                </a:lnSpc>
              </a:pPr>
              <a:r>
                <a:rPr lang="en-US" sz="2199">
                  <a:solidFill>
                    <a:srgbClr val="1F2430"/>
                  </a:solidFill>
                  <a:latin typeface="Arial"/>
                  <a:ea typeface="Arial"/>
                  <a:cs typeface="Arial"/>
                  <a:sym typeface="Arial"/>
                </a:rPr>
                <a:t>Educational and decision-support purposes only</a:t>
              </a:r>
            </a:p>
          </p:txBody>
        </p:sp>
      </p:grpSp>
      <p:grpSp>
        <p:nvGrpSpPr>
          <p:cNvPr name="Group 88" id="88"/>
          <p:cNvGrpSpPr/>
          <p:nvPr/>
        </p:nvGrpSpPr>
        <p:grpSpPr>
          <a:xfrm rot="0">
            <a:off x="685800" y="9848088"/>
            <a:ext cx="9601200" cy="384048"/>
            <a:chOff x="0" y="0"/>
            <a:chExt cx="12801600" cy="512064"/>
          </a:xfrm>
        </p:grpSpPr>
        <p:sp>
          <p:nvSpPr>
            <p:cNvPr name="Freeform 89" id="89"/>
            <p:cNvSpPr/>
            <p:nvPr/>
          </p:nvSpPr>
          <p:spPr>
            <a:xfrm flipH="false" flipV="false" rot="0">
              <a:off x="0" y="0"/>
              <a:ext cx="12801600" cy="512064"/>
            </a:xfrm>
            <a:custGeom>
              <a:avLst/>
              <a:gdLst/>
              <a:ahLst/>
              <a:cxnLst/>
              <a:rect r="r" b="b" t="t" l="l"/>
              <a:pathLst>
                <a:path h="512064" w="12801600">
                  <a:moveTo>
                    <a:pt x="0" y="0"/>
                  </a:moveTo>
                  <a:lnTo>
                    <a:pt x="12801600" y="0"/>
                  </a:lnTo>
                  <a:lnTo>
                    <a:pt x="12801600" y="512064"/>
                  </a:lnTo>
                  <a:lnTo>
                    <a:pt x="0" y="5120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37125" r="0" b="-437125"/>
              </a:stretch>
            </a:blipFill>
          </p:spPr>
        </p:sp>
        <p:sp>
          <p:nvSpPr>
            <p:cNvPr name="TextBox 90" id="90"/>
            <p:cNvSpPr txBox="true"/>
            <p:nvPr/>
          </p:nvSpPr>
          <p:spPr>
            <a:xfrm>
              <a:off x="0" y="-19050"/>
              <a:ext cx="12801600" cy="53111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439"/>
                </a:lnSpc>
              </a:pPr>
              <a:r>
                <a:rPr lang="en-US" sz="1200">
                  <a:solidFill>
                    <a:srgbClr val="666B78"/>
                  </a:solidFill>
                  <a:latin typeface="Arial"/>
                  <a:ea typeface="Arial"/>
                  <a:cs typeface="Arial"/>
                  <a:sym typeface="Arial"/>
                </a:rPr>
                <a:t>Medical Diagnosis Expert System  |  CSE440</a:t>
              </a:r>
            </a:p>
          </p:txBody>
        </p:sp>
      </p:grpSp>
      <p:grpSp>
        <p:nvGrpSpPr>
          <p:cNvPr name="Group 91" id="91"/>
          <p:cNvGrpSpPr/>
          <p:nvPr/>
        </p:nvGrpSpPr>
        <p:grpSpPr>
          <a:xfrm rot="0">
            <a:off x="17145000" y="9848088"/>
            <a:ext cx="548640" cy="384048"/>
            <a:chOff x="0" y="0"/>
            <a:chExt cx="731520" cy="512064"/>
          </a:xfrm>
        </p:grpSpPr>
        <p:sp>
          <p:nvSpPr>
            <p:cNvPr name="Freeform 92" id="92"/>
            <p:cNvSpPr/>
            <p:nvPr/>
          </p:nvSpPr>
          <p:spPr>
            <a:xfrm flipH="false" flipV="false" rot="0">
              <a:off x="0" y="0"/>
              <a:ext cx="731520" cy="512064"/>
            </a:xfrm>
            <a:custGeom>
              <a:avLst/>
              <a:gdLst/>
              <a:ahLst/>
              <a:cxnLst/>
              <a:rect r="r" b="b" t="t" l="l"/>
              <a:pathLst>
                <a:path h="512064" w="731520">
                  <a:moveTo>
                    <a:pt x="0" y="0"/>
                  </a:moveTo>
                  <a:lnTo>
                    <a:pt x="731520" y="0"/>
                  </a:lnTo>
                  <a:lnTo>
                    <a:pt x="731520" y="512064"/>
                  </a:lnTo>
                  <a:lnTo>
                    <a:pt x="0" y="5120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39812" t="0" r="-39812" b="0"/>
              </a:stretch>
            </a:blipFill>
          </p:spPr>
        </p:sp>
        <p:sp>
          <p:nvSpPr>
            <p:cNvPr name="TextBox 93" id="93"/>
            <p:cNvSpPr txBox="true"/>
            <p:nvPr/>
          </p:nvSpPr>
          <p:spPr>
            <a:xfrm>
              <a:off x="0" y="-19050"/>
              <a:ext cx="731520" cy="53111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439"/>
                </a:lnSpc>
              </a:pPr>
              <a:r>
                <a:rPr lang="en-US" sz="1200">
                  <a:solidFill>
                    <a:srgbClr val="666B78"/>
                  </a:solidFill>
                  <a:latin typeface="Arial"/>
                  <a:ea typeface="Arial"/>
                  <a:cs typeface="Arial"/>
                  <a:sym typeface="Arial"/>
                </a:rPr>
                <a:t>5</a:t>
              </a:r>
            </a:p>
          </p:txBody>
        </p:sp>
      </p:grp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6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22960" y="685800"/>
            <a:ext cx="16596360" cy="822960"/>
            <a:chOff x="0" y="0"/>
            <a:chExt cx="22128480" cy="109728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2128480" cy="1097280"/>
            </a:xfrm>
            <a:custGeom>
              <a:avLst/>
              <a:gdLst/>
              <a:ahLst/>
              <a:cxnLst/>
              <a:rect r="r" b="b" t="t" l="l"/>
              <a:pathLst>
                <a:path h="1097280" w="22128480">
                  <a:moveTo>
                    <a:pt x="0" y="0"/>
                  </a:moveTo>
                  <a:lnTo>
                    <a:pt x="22128480" y="0"/>
                  </a:lnTo>
                  <a:lnTo>
                    <a:pt x="2212848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42948" r="0" b="-342948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19050"/>
              <a:ext cx="22128480" cy="11163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040"/>
                </a:lnSpc>
              </a:pPr>
              <a:r>
                <a:rPr lang="en-US" sz="4200" b="true">
                  <a:solidFill>
                    <a:srgbClr val="1F243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Overall System Architecture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822960" y="1508760"/>
            <a:ext cx="16596360" cy="548640"/>
            <a:chOff x="0" y="0"/>
            <a:chExt cx="22128480" cy="73152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2128480" cy="731520"/>
            </a:xfrm>
            <a:custGeom>
              <a:avLst/>
              <a:gdLst/>
              <a:ahLst/>
              <a:cxnLst/>
              <a:rect r="r" b="b" t="t" l="l"/>
              <a:pathLst>
                <a:path h="731520" w="22128480">
                  <a:moveTo>
                    <a:pt x="0" y="0"/>
                  </a:moveTo>
                  <a:lnTo>
                    <a:pt x="22128480" y="0"/>
                  </a:lnTo>
                  <a:lnTo>
                    <a:pt x="2212848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39422" r="0" b="-539422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9525"/>
              <a:ext cx="22128480" cy="7410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>
                  <a:solidFill>
                    <a:srgbClr val="666B78"/>
                  </a:solidFill>
                  <a:latin typeface="Arial"/>
                  <a:ea typeface="Arial"/>
                  <a:cs typeface="Arial"/>
                  <a:sym typeface="Arial"/>
                </a:rPr>
                <a:t>Six connected components turn a user's answers into a diagnosis and report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813435" y="3693795"/>
            <a:ext cx="2419350" cy="1527810"/>
            <a:chOff x="0" y="0"/>
            <a:chExt cx="3225800" cy="203708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3225800" cy="2037080"/>
            </a:xfrm>
            <a:custGeom>
              <a:avLst/>
              <a:gdLst/>
              <a:ahLst/>
              <a:cxnLst/>
              <a:rect r="r" b="b" t="t" l="l"/>
              <a:pathLst>
                <a:path h="2037080" w="3225800">
                  <a:moveTo>
                    <a:pt x="0" y="148209"/>
                  </a:moveTo>
                  <a:cubicBezTo>
                    <a:pt x="0" y="66294"/>
                    <a:pt x="66294" y="0"/>
                    <a:pt x="148209" y="0"/>
                  </a:cubicBezTo>
                  <a:lnTo>
                    <a:pt x="3077591" y="0"/>
                  </a:lnTo>
                  <a:cubicBezTo>
                    <a:pt x="3159506" y="0"/>
                    <a:pt x="3225800" y="66294"/>
                    <a:pt x="3225800" y="148209"/>
                  </a:cubicBezTo>
                  <a:lnTo>
                    <a:pt x="3225800" y="1888871"/>
                  </a:lnTo>
                  <a:cubicBezTo>
                    <a:pt x="3225800" y="1970659"/>
                    <a:pt x="3159506" y="2037080"/>
                    <a:pt x="3077591" y="2037080"/>
                  </a:cubicBezTo>
                  <a:lnTo>
                    <a:pt x="148209" y="2037080"/>
                  </a:lnTo>
                  <a:cubicBezTo>
                    <a:pt x="66294" y="2037080"/>
                    <a:pt x="0" y="1970786"/>
                    <a:pt x="0" y="1888871"/>
                  </a:cubicBezTo>
                  <a:close/>
                </a:path>
              </a:pathLst>
            </a:custGeom>
            <a:solidFill>
              <a:srgbClr val="F8F2E3"/>
            </a:solidFill>
            <a:ln w="19050" cap="sq">
              <a:solidFill>
                <a:srgbClr val="E0DACB"/>
              </a:solidFill>
              <a:prstDash val="solid"/>
              <a:miter/>
            </a:ln>
          </p:spPr>
        </p:sp>
      </p:grpSp>
      <p:grpSp>
        <p:nvGrpSpPr>
          <p:cNvPr name="Group 10" id="10"/>
          <p:cNvGrpSpPr/>
          <p:nvPr/>
        </p:nvGrpSpPr>
        <p:grpSpPr>
          <a:xfrm rot="0">
            <a:off x="822960" y="3703320"/>
            <a:ext cx="2400300" cy="1508760"/>
            <a:chOff x="0" y="0"/>
            <a:chExt cx="3200400" cy="201168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3200400" cy="2011680"/>
            </a:xfrm>
            <a:custGeom>
              <a:avLst/>
              <a:gdLst/>
              <a:ahLst/>
              <a:cxnLst/>
              <a:rect r="r" b="b" t="t" l="l"/>
              <a:pathLst>
                <a:path h="2011680" w="3200400">
                  <a:moveTo>
                    <a:pt x="0" y="0"/>
                  </a:moveTo>
                  <a:lnTo>
                    <a:pt x="3200400" y="0"/>
                  </a:lnTo>
                  <a:lnTo>
                    <a:pt x="3200400" y="2011680"/>
                  </a:lnTo>
                  <a:lnTo>
                    <a:pt x="0" y="20116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30647" t="0" r="-30647" b="0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19050"/>
              <a:ext cx="3200400" cy="20307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646"/>
                </a:lnSpc>
              </a:pPr>
              <a:r>
                <a:rPr lang="en-US" sz="2100" b="true">
                  <a:solidFill>
                    <a:srgbClr val="1F243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User</a:t>
              </a:r>
            </a:p>
            <a:p>
              <a:pPr algn="ctr">
                <a:lnSpc>
                  <a:spcPts val="2646"/>
                </a:lnSpc>
              </a:pPr>
              <a:r>
                <a:rPr lang="en-US" sz="2100" b="true">
                  <a:solidFill>
                    <a:srgbClr val="1F243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Interface</a:t>
              </a:r>
            </a:p>
          </p:txBody>
        </p:sp>
      </p:grpSp>
      <p:sp>
        <p:nvSpPr>
          <p:cNvPr name="AutoShape 13" id="13"/>
          <p:cNvSpPr/>
          <p:nvPr/>
        </p:nvSpPr>
        <p:spPr>
          <a:xfrm rot="209880">
            <a:off x="3208534" y="4448175"/>
            <a:ext cx="468363" cy="0"/>
          </a:xfrm>
          <a:prstGeom prst="line">
            <a:avLst/>
          </a:prstGeom>
          <a:ln cap="rnd" w="19050">
            <a:solidFill>
              <a:srgbClr val="C7BFA8"/>
            </a:solidFill>
            <a:prstDash val="solid"/>
            <a:headEnd type="none" len="sm" w="sm"/>
            <a:tailEnd type="triangle" len="med" w="lg"/>
          </a:ln>
        </p:spPr>
      </p:sp>
      <p:grpSp>
        <p:nvGrpSpPr>
          <p:cNvPr name="Group 14" id="14"/>
          <p:cNvGrpSpPr/>
          <p:nvPr/>
        </p:nvGrpSpPr>
        <p:grpSpPr>
          <a:xfrm rot="0">
            <a:off x="3652647" y="3693795"/>
            <a:ext cx="2419350" cy="1527810"/>
            <a:chOff x="0" y="0"/>
            <a:chExt cx="3225800" cy="203708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3225800" cy="2037080"/>
            </a:xfrm>
            <a:custGeom>
              <a:avLst/>
              <a:gdLst/>
              <a:ahLst/>
              <a:cxnLst/>
              <a:rect r="r" b="b" t="t" l="l"/>
              <a:pathLst>
                <a:path h="2037080" w="3225800">
                  <a:moveTo>
                    <a:pt x="0" y="148209"/>
                  </a:moveTo>
                  <a:cubicBezTo>
                    <a:pt x="0" y="66294"/>
                    <a:pt x="66294" y="0"/>
                    <a:pt x="148209" y="0"/>
                  </a:cubicBezTo>
                  <a:lnTo>
                    <a:pt x="3077591" y="0"/>
                  </a:lnTo>
                  <a:cubicBezTo>
                    <a:pt x="3159506" y="0"/>
                    <a:pt x="3225800" y="66294"/>
                    <a:pt x="3225800" y="148209"/>
                  </a:cubicBezTo>
                  <a:lnTo>
                    <a:pt x="3225800" y="1888871"/>
                  </a:lnTo>
                  <a:cubicBezTo>
                    <a:pt x="3225800" y="1970659"/>
                    <a:pt x="3159506" y="2037080"/>
                    <a:pt x="3077591" y="2037080"/>
                  </a:cubicBezTo>
                  <a:lnTo>
                    <a:pt x="148209" y="2037080"/>
                  </a:lnTo>
                  <a:cubicBezTo>
                    <a:pt x="66294" y="2037080"/>
                    <a:pt x="0" y="1970786"/>
                    <a:pt x="0" y="1888871"/>
                  </a:cubicBezTo>
                  <a:close/>
                </a:path>
              </a:pathLst>
            </a:custGeom>
            <a:solidFill>
              <a:srgbClr val="F8F2E3"/>
            </a:solidFill>
            <a:ln w="19050" cap="sq">
              <a:solidFill>
                <a:srgbClr val="E0DACB"/>
              </a:solidFill>
              <a:prstDash val="solid"/>
              <a:miter/>
            </a:ln>
          </p:spPr>
        </p:sp>
      </p:grpSp>
      <p:grpSp>
        <p:nvGrpSpPr>
          <p:cNvPr name="Group 16" id="16"/>
          <p:cNvGrpSpPr/>
          <p:nvPr/>
        </p:nvGrpSpPr>
        <p:grpSpPr>
          <a:xfrm rot="0">
            <a:off x="3662172" y="3703320"/>
            <a:ext cx="2400300" cy="1508760"/>
            <a:chOff x="0" y="0"/>
            <a:chExt cx="3200400" cy="201168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3200400" cy="2011680"/>
            </a:xfrm>
            <a:custGeom>
              <a:avLst/>
              <a:gdLst/>
              <a:ahLst/>
              <a:cxnLst/>
              <a:rect r="r" b="b" t="t" l="l"/>
              <a:pathLst>
                <a:path h="2011680" w="3200400">
                  <a:moveTo>
                    <a:pt x="0" y="0"/>
                  </a:moveTo>
                  <a:lnTo>
                    <a:pt x="3200400" y="0"/>
                  </a:lnTo>
                  <a:lnTo>
                    <a:pt x="3200400" y="2011680"/>
                  </a:lnTo>
                  <a:lnTo>
                    <a:pt x="0" y="20116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30647" t="0" r="-30647" b="0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19050"/>
              <a:ext cx="3200400" cy="20307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582"/>
                </a:lnSpc>
              </a:pPr>
              <a:r>
                <a:rPr lang="en-US" sz="2049" b="true">
                  <a:solidFill>
                    <a:srgbClr val="1F243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Session &amp;</a:t>
              </a:r>
            </a:p>
            <a:p>
              <a:pPr algn="ctr">
                <a:lnSpc>
                  <a:spcPts val="2582"/>
                </a:lnSpc>
              </a:pPr>
              <a:r>
                <a:rPr lang="en-US" sz="2049" b="true">
                  <a:solidFill>
                    <a:srgbClr val="1F243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Question Ctrl</a:t>
              </a:r>
            </a:p>
          </p:txBody>
        </p:sp>
      </p:grpSp>
      <p:sp>
        <p:nvSpPr>
          <p:cNvPr name="AutoShape 19" id="19"/>
          <p:cNvSpPr/>
          <p:nvPr/>
        </p:nvSpPr>
        <p:spPr>
          <a:xfrm rot="209880">
            <a:off x="6047746" y="4448175"/>
            <a:ext cx="468363" cy="0"/>
          </a:xfrm>
          <a:prstGeom prst="line">
            <a:avLst/>
          </a:prstGeom>
          <a:ln cap="rnd" w="19050">
            <a:solidFill>
              <a:srgbClr val="C7BFA8"/>
            </a:solidFill>
            <a:prstDash val="solid"/>
            <a:headEnd type="none" len="sm" w="sm"/>
            <a:tailEnd type="triangle" len="med" w="lg"/>
          </a:ln>
        </p:spPr>
      </p:sp>
      <p:grpSp>
        <p:nvGrpSpPr>
          <p:cNvPr name="Group 20" id="20"/>
          <p:cNvGrpSpPr/>
          <p:nvPr/>
        </p:nvGrpSpPr>
        <p:grpSpPr>
          <a:xfrm rot="0">
            <a:off x="6491859" y="3693795"/>
            <a:ext cx="2419350" cy="1527810"/>
            <a:chOff x="0" y="0"/>
            <a:chExt cx="3225800" cy="203708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3225800" cy="2037080"/>
            </a:xfrm>
            <a:custGeom>
              <a:avLst/>
              <a:gdLst/>
              <a:ahLst/>
              <a:cxnLst/>
              <a:rect r="r" b="b" t="t" l="l"/>
              <a:pathLst>
                <a:path h="2037080" w="3225800">
                  <a:moveTo>
                    <a:pt x="0" y="148209"/>
                  </a:moveTo>
                  <a:cubicBezTo>
                    <a:pt x="0" y="66294"/>
                    <a:pt x="66294" y="0"/>
                    <a:pt x="148209" y="0"/>
                  </a:cubicBezTo>
                  <a:lnTo>
                    <a:pt x="3077591" y="0"/>
                  </a:lnTo>
                  <a:cubicBezTo>
                    <a:pt x="3159506" y="0"/>
                    <a:pt x="3225800" y="66294"/>
                    <a:pt x="3225800" y="148209"/>
                  </a:cubicBezTo>
                  <a:lnTo>
                    <a:pt x="3225800" y="1888871"/>
                  </a:lnTo>
                  <a:cubicBezTo>
                    <a:pt x="3225800" y="1970659"/>
                    <a:pt x="3159506" y="2037080"/>
                    <a:pt x="3077591" y="2037080"/>
                  </a:cubicBezTo>
                  <a:lnTo>
                    <a:pt x="148209" y="2037080"/>
                  </a:lnTo>
                  <a:cubicBezTo>
                    <a:pt x="66294" y="2037080"/>
                    <a:pt x="0" y="1970786"/>
                    <a:pt x="0" y="1888871"/>
                  </a:cubicBezTo>
                  <a:close/>
                </a:path>
              </a:pathLst>
            </a:custGeom>
            <a:solidFill>
              <a:srgbClr val="F8F2E3"/>
            </a:solidFill>
            <a:ln w="19050" cap="sq">
              <a:solidFill>
                <a:srgbClr val="E0DACB"/>
              </a:solidFill>
              <a:prstDash val="solid"/>
              <a:miter/>
            </a:ln>
          </p:spPr>
        </p:sp>
      </p:grpSp>
      <p:grpSp>
        <p:nvGrpSpPr>
          <p:cNvPr name="Group 22" id="22"/>
          <p:cNvGrpSpPr/>
          <p:nvPr/>
        </p:nvGrpSpPr>
        <p:grpSpPr>
          <a:xfrm rot="0">
            <a:off x="6501384" y="3703320"/>
            <a:ext cx="2400300" cy="1508760"/>
            <a:chOff x="0" y="0"/>
            <a:chExt cx="3200400" cy="201168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3200400" cy="2011680"/>
            </a:xfrm>
            <a:custGeom>
              <a:avLst/>
              <a:gdLst/>
              <a:ahLst/>
              <a:cxnLst/>
              <a:rect r="r" b="b" t="t" l="l"/>
              <a:pathLst>
                <a:path h="2011680" w="3200400">
                  <a:moveTo>
                    <a:pt x="0" y="0"/>
                  </a:moveTo>
                  <a:lnTo>
                    <a:pt x="3200400" y="0"/>
                  </a:lnTo>
                  <a:lnTo>
                    <a:pt x="3200400" y="2011680"/>
                  </a:lnTo>
                  <a:lnTo>
                    <a:pt x="0" y="20116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30647" t="0" r="-30647" b="0"/>
              </a:stretch>
            </a:blip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38100"/>
              <a:ext cx="3200400" cy="20497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30"/>
                </a:lnSpc>
              </a:pPr>
              <a:r>
                <a:rPr lang="en-US" sz="1849" b="true">
                  <a:solidFill>
                    <a:srgbClr val="1F243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Input</a:t>
              </a:r>
            </a:p>
            <a:p>
              <a:pPr algn="ctr">
                <a:lnSpc>
                  <a:spcPts val="2330"/>
                </a:lnSpc>
              </a:pPr>
              <a:r>
                <a:rPr lang="en-US" sz="1849" b="true">
                  <a:solidFill>
                    <a:srgbClr val="1F243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Adapter</a:t>
              </a:r>
            </a:p>
          </p:txBody>
        </p:sp>
      </p:grpSp>
      <p:sp>
        <p:nvSpPr>
          <p:cNvPr name="AutoShape 25" id="25"/>
          <p:cNvSpPr/>
          <p:nvPr/>
        </p:nvSpPr>
        <p:spPr>
          <a:xfrm rot="209880">
            <a:off x="8886958" y="4448175"/>
            <a:ext cx="468363" cy="0"/>
          </a:xfrm>
          <a:prstGeom prst="line">
            <a:avLst/>
          </a:prstGeom>
          <a:ln cap="rnd" w="19050">
            <a:solidFill>
              <a:srgbClr val="C7BFA8"/>
            </a:solidFill>
            <a:prstDash val="solid"/>
            <a:headEnd type="none" len="sm" w="sm"/>
            <a:tailEnd type="triangle" len="med" w="lg"/>
          </a:ln>
        </p:spPr>
      </p:sp>
      <p:grpSp>
        <p:nvGrpSpPr>
          <p:cNvPr name="Group 26" id="26"/>
          <p:cNvGrpSpPr/>
          <p:nvPr/>
        </p:nvGrpSpPr>
        <p:grpSpPr>
          <a:xfrm rot="0">
            <a:off x="9331071" y="3693795"/>
            <a:ext cx="2419350" cy="1527810"/>
            <a:chOff x="0" y="0"/>
            <a:chExt cx="3225800" cy="203708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3225800" cy="2037080"/>
            </a:xfrm>
            <a:custGeom>
              <a:avLst/>
              <a:gdLst/>
              <a:ahLst/>
              <a:cxnLst/>
              <a:rect r="r" b="b" t="t" l="l"/>
              <a:pathLst>
                <a:path h="2037080" w="3225800">
                  <a:moveTo>
                    <a:pt x="0" y="148209"/>
                  </a:moveTo>
                  <a:cubicBezTo>
                    <a:pt x="0" y="66294"/>
                    <a:pt x="66294" y="0"/>
                    <a:pt x="148209" y="0"/>
                  </a:cubicBezTo>
                  <a:lnTo>
                    <a:pt x="3077591" y="0"/>
                  </a:lnTo>
                  <a:cubicBezTo>
                    <a:pt x="3159506" y="0"/>
                    <a:pt x="3225800" y="66294"/>
                    <a:pt x="3225800" y="148209"/>
                  </a:cubicBezTo>
                  <a:lnTo>
                    <a:pt x="3225800" y="1888871"/>
                  </a:lnTo>
                  <a:cubicBezTo>
                    <a:pt x="3225800" y="1970659"/>
                    <a:pt x="3159506" y="2037080"/>
                    <a:pt x="3077591" y="2037080"/>
                  </a:cubicBezTo>
                  <a:lnTo>
                    <a:pt x="148209" y="2037080"/>
                  </a:lnTo>
                  <a:cubicBezTo>
                    <a:pt x="66294" y="2037080"/>
                    <a:pt x="0" y="1970786"/>
                    <a:pt x="0" y="1888871"/>
                  </a:cubicBezTo>
                  <a:close/>
                </a:path>
              </a:pathLst>
            </a:custGeom>
            <a:solidFill>
              <a:srgbClr val="2B2F3D"/>
            </a:solidFill>
            <a:ln w="19050" cap="sq">
              <a:solidFill>
                <a:srgbClr val="2B2F3D"/>
              </a:solidFill>
              <a:prstDash val="solid"/>
              <a:miter/>
            </a:ln>
          </p:spPr>
        </p:sp>
      </p:grpSp>
      <p:grpSp>
        <p:nvGrpSpPr>
          <p:cNvPr name="Group 28" id="28"/>
          <p:cNvGrpSpPr/>
          <p:nvPr/>
        </p:nvGrpSpPr>
        <p:grpSpPr>
          <a:xfrm rot="0">
            <a:off x="9340596" y="3703320"/>
            <a:ext cx="2400300" cy="1508760"/>
            <a:chOff x="0" y="0"/>
            <a:chExt cx="3200400" cy="201168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3200400" cy="2011680"/>
            </a:xfrm>
            <a:custGeom>
              <a:avLst/>
              <a:gdLst/>
              <a:ahLst/>
              <a:cxnLst/>
              <a:rect r="r" b="b" t="t" l="l"/>
              <a:pathLst>
                <a:path h="2011680" w="3200400">
                  <a:moveTo>
                    <a:pt x="0" y="0"/>
                  </a:moveTo>
                  <a:lnTo>
                    <a:pt x="3200400" y="0"/>
                  </a:lnTo>
                  <a:lnTo>
                    <a:pt x="3200400" y="2011680"/>
                  </a:lnTo>
                  <a:lnTo>
                    <a:pt x="0" y="20116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30647" t="0" r="-30647" b="0"/>
              </a:stretch>
            </a:blipFill>
          </p:spPr>
        </p:sp>
        <p:sp>
          <p:nvSpPr>
            <p:cNvPr name="TextBox 30" id="30"/>
            <p:cNvSpPr txBox="true"/>
            <p:nvPr/>
          </p:nvSpPr>
          <p:spPr>
            <a:xfrm>
              <a:off x="0" y="-38100"/>
              <a:ext cx="3200400" cy="20497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30"/>
                </a:lnSpc>
              </a:pPr>
              <a:r>
                <a:rPr lang="en-US" sz="1849" b="true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Inference</a:t>
              </a:r>
            </a:p>
            <a:p>
              <a:pPr algn="ctr">
                <a:lnSpc>
                  <a:spcPts val="2330"/>
                </a:lnSpc>
              </a:pPr>
              <a:r>
                <a:rPr lang="en-US" sz="1849" b="true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Engine</a:t>
              </a:r>
            </a:p>
          </p:txBody>
        </p:sp>
      </p:grpSp>
      <p:sp>
        <p:nvSpPr>
          <p:cNvPr name="AutoShape 31" id="31"/>
          <p:cNvSpPr/>
          <p:nvPr/>
        </p:nvSpPr>
        <p:spPr>
          <a:xfrm rot="209880">
            <a:off x="11726170" y="4448175"/>
            <a:ext cx="468363" cy="0"/>
          </a:xfrm>
          <a:prstGeom prst="line">
            <a:avLst/>
          </a:prstGeom>
          <a:ln cap="rnd" w="19050">
            <a:solidFill>
              <a:srgbClr val="C7BFA8"/>
            </a:solidFill>
            <a:prstDash val="solid"/>
            <a:headEnd type="none" len="sm" w="sm"/>
            <a:tailEnd type="triangle" len="med" w="lg"/>
          </a:ln>
        </p:spPr>
      </p:sp>
      <p:grpSp>
        <p:nvGrpSpPr>
          <p:cNvPr name="Group 32" id="32"/>
          <p:cNvGrpSpPr/>
          <p:nvPr/>
        </p:nvGrpSpPr>
        <p:grpSpPr>
          <a:xfrm rot="0">
            <a:off x="12170283" y="3693795"/>
            <a:ext cx="2419350" cy="1527810"/>
            <a:chOff x="0" y="0"/>
            <a:chExt cx="3225800" cy="203708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3225800" cy="2037080"/>
            </a:xfrm>
            <a:custGeom>
              <a:avLst/>
              <a:gdLst/>
              <a:ahLst/>
              <a:cxnLst/>
              <a:rect r="r" b="b" t="t" l="l"/>
              <a:pathLst>
                <a:path h="2037080" w="3225800">
                  <a:moveTo>
                    <a:pt x="0" y="148209"/>
                  </a:moveTo>
                  <a:cubicBezTo>
                    <a:pt x="0" y="66294"/>
                    <a:pt x="66294" y="0"/>
                    <a:pt x="148209" y="0"/>
                  </a:cubicBezTo>
                  <a:lnTo>
                    <a:pt x="3077591" y="0"/>
                  </a:lnTo>
                  <a:cubicBezTo>
                    <a:pt x="3159506" y="0"/>
                    <a:pt x="3225800" y="66294"/>
                    <a:pt x="3225800" y="148209"/>
                  </a:cubicBezTo>
                  <a:lnTo>
                    <a:pt x="3225800" y="1888871"/>
                  </a:lnTo>
                  <a:cubicBezTo>
                    <a:pt x="3225800" y="1970659"/>
                    <a:pt x="3159506" y="2037080"/>
                    <a:pt x="3077591" y="2037080"/>
                  </a:cubicBezTo>
                  <a:lnTo>
                    <a:pt x="148209" y="2037080"/>
                  </a:lnTo>
                  <a:cubicBezTo>
                    <a:pt x="66294" y="2037080"/>
                    <a:pt x="0" y="1970786"/>
                    <a:pt x="0" y="1888871"/>
                  </a:cubicBezTo>
                  <a:close/>
                </a:path>
              </a:pathLst>
            </a:custGeom>
            <a:solidFill>
              <a:srgbClr val="F8F2E3"/>
            </a:solidFill>
            <a:ln w="19050" cap="sq">
              <a:solidFill>
                <a:srgbClr val="E0DACB"/>
              </a:solidFill>
              <a:prstDash val="solid"/>
              <a:miter/>
            </a:ln>
          </p:spPr>
        </p:sp>
      </p:grpSp>
      <p:grpSp>
        <p:nvGrpSpPr>
          <p:cNvPr name="Group 34" id="34"/>
          <p:cNvGrpSpPr/>
          <p:nvPr/>
        </p:nvGrpSpPr>
        <p:grpSpPr>
          <a:xfrm rot="0">
            <a:off x="12179808" y="3703320"/>
            <a:ext cx="2400300" cy="1508760"/>
            <a:chOff x="0" y="0"/>
            <a:chExt cx="3200400" cy="201168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3200400" cy="2011680"/>
            </a:xfrm>
            <a:custGeom>
              <a:avLst/>
              <a:gdLst/>
              <a:ahLst/>
              <a:cxnLst/>
              <a:rect r="r" b="b" t="t" l="l"/>
              <a:pathLst>
                <a:path h="2011680" w="3200400">
                  <a:moveTo>
                    <a:pt x="0" y="0"/>
                  </a:moveTo>
                  <a:lnTo>
                    <a:pt x="3200400" y="0"/>
                  </a:lnTo>
                  <a:lnTo>
                    <a:pt x="3200400" y="2011680"/>
                  </a:lnTo>
                  <a:lnTo>
                    <a:pt x="0" y="20116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30647" t="0" r="-30647" b="0"/>
              </a:stretch>
            </a:blipFill>
          </p:spPr>
        </p:sp>
        <p:sp>
          <p:nvSpPr>
            <p:cNvPr name="TextBox 36" id="36"/>
            <p:cNvSpPr txBox="true"/>
            <p:nvPr/>
          </p:nvSpPr>
          <p:spPr>
            <a:xfrm>
              <a:off x="0" y="-38100"/>
              <a:ext cx="3200400" cy="20497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30"/>
                </a:lnSpc>
              </a:pPr>
              <a:r>
                <a:rPr lang="en-US" sz="1849" b="true">
                  <a:solidFill>
                    <a:srgbClr val="1F243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Disease</a:t>
              </a:r>
            </a:p>
            <a:p>
              <a:pPr algn="ctr">
                <a:lnSpc>
                  <a:spcPts val="2330"/>
                </a:lnSpc>
              </a:pPr>
              <a:r>
                <a:rPr lang="en-US" sz="1849" b="true">
                  <a:solidFill>
                    <a:srgbClr val="1F243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Knowledge Base</a:t>
              </a:r>
            </a:p>
          </p:txBody>
        </p:sp>
      </p:grpSp>
      <p:sp>
        <p:nvSpPr>
          <p:cNvPr name="AutoShape 37" id="37"/>
          <p:cNvSpPr/>
          <p:nvPr/>
        </p:nvSpPr>
        <p:spPr>
          <a:xfrm rot="209880">
            <a:off x="14565382" y="4448175"/>
            <a:ext cx="468363" cy="0"/>
          </a:xfrm>
          <a:prstGeom prst="line">
            <a:avLst/>
          </a:prstGeom>
          <a:ln cap="rnd" w="19050">
            <a:solidFill>
              <a:srgbClr val="C7BFA8"/>
            </a:solidFill>
            <a:prstDash val="solid"/>
            <a:headEnd type="none" len="sm" w="sm"/>
            <a:tailEnd type="triangle" len="med" w="lg"/>
          </a:ln>
        </p:spPr>
      </p:sp>
      <p:grpSp>
        <p:nvGrpSpPr>
          <p:cNvPr name="Group 38" id="38"/>
          <p:cNvGrpSpPr/>
          <p:nvPr/>
        </p:nvGrpSpPr>
        <p:grpSpPr>
          <a:xfrm rot="0">
            <a:off x="15009495" y="3693795"/>
            <a:ext cx="2419350" cy="1527810"/>
            <a:chOff x="0" y="0"/>
            <a:chExt cx="3225800" cy="203708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3225800" cy="2037080"/>
            </a:xfrm>
            <a:custGeom>
              <a:avLst/>
              <a:gdLst/>
              <a:ahLst/>
              <a:cxnLst/>
              <a:rect r="r" b="b" t="t" l="l"/>
              <a:pathLst>
                <a:path h="2037080" w="3225800">
                  <a:moveTo>
                    <a:pt x="0" y="148209"/>
                  </a:moveTo>
                  <a:cubicBezTo>
                    <a:pt x="0" y="66294"/>
                    <a:pt x="66294" y="0"/>
                    <a:pt x="148209" y="0"/>
                  </a:cubicBezTo>
                  <a:lnTo>
                    <a:pt x="3077591" y="0"/>
                  </a:lnTo>
                  <a:cubicBezTo>
                    <a:pt x="3159506" y="0"/>
                    <a:pt x="3225800" y="66294"/>
                    <a:pt x="3225800" y="148209"/>
                  </a:cubicBezTo>
                  <a:lnTo>
                    <a:pt x="3225800" y="1888871"/>
                  </a:lnTo>
                  <a:cubicBezTo>
                    <a:pt x="3225800" y="1970659"/>
                    <a:pt x="3159506" y="2037080"/>
                    <a:pt x="3077591" y="2037080"/>
                  </a:cubicBezTo>
                  <a:lnTo>
                    <a:pt x="148209" y="2037080"/>
                  </a:lnTo>
                  <a:cubicBezTo>
                    <a:pt x="66294" y="2037080"/>
                    <a:pt x="0" y="1970786"/>
                    <a:pt x="0" y="1888871"/>
                  </a:cubicBezTo>
                  <a:close/>
                </a:path>
              </a:pathLst>
            </a:custGeom>
            <a:solidFill>
              <a:srgbClr val="F8F2E3"/>
            </a:solidFill>
            <a:ln w="19050" cap="sq">
              <a:solidFill>
                <a:srgbClr val="E0DACB"/>
              </a:solidFill>
              <a:prstDash val="solid"/>
              <a:miter/>
            </a:ln>
          </p:spPr>
        </p:sp>
      </p:grpSp>
      <p:grpSp>
        <p:nvGrpSpPr>
          <p:cNvPr name="Group 40" id="40"/>
          <p:cNvGrpSpPr/>
          <p:nvPr/>
        </p:nvGrpSpPr>
        <p:grpSpPr>
          <a:xfrm rot="0">
            <a:off x="15019020" y="3703320"/>
            <a:ext cx="2400300" cy="1508760"/>
            <a:chOff x="0" y="0"/>
            <a:chExt cx="3200400" cy="2011680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3200400" cy="2011680"/>
            </a:xfrm>
            <a:custGeom>
              <a:avLst/>
              <a:gdLst/>
              <a:ahLst/>
              <a:cxnLst/>
              <a:rect r="r" b="b" t="t" l="l"/>
              <a:pathLst>
                <a:path h="2011680" w="3200400">
                  <a:moveTo>
                    <a:pt x="0" y="0"/>
                  </a:moveTo>
                  <a:lnTo>
                    <a:pt x="3200400" y="0"/>
                  </a:lnTo>
                  <a:lnTo>
                    <a:pt x="3200400" y="2011680"/>
                  </a:lnTo>
                  <a:lnTo>
                    <a:pt x="0" y="20116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30647" t="0" r="-30647" b="0"/>
              </a:stretch>
            </a:blipFill>
          </p:spPr>
        </p:sp>
        <p:sp>
          <p:nvSpPr>
            <p:cNvPr name="TextBox 42" id="42"/>
            <p:cNvSpPr txBox="true"/>
            <p:nvPr/>
          </p:nvSpPr>
          <p:spPr>
            <a:xfrm>
              <a:off x="0" y="-38100"/>
              <a:ext cx="3200400" cy="20497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30"/>
                </a:lnSpc>
              </a:pPr>
              <a:r>
                <a:rPr lang="en-US" sz="1849" b="true">
                  <a:solidFill>
                    <a:srgbClr val="1F243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Treatment &amp;</a:t>
              </a:r>
            </a:p>
            <a:p>
              <a:pPr algn="ctr">
                <a:lnSpc>
                  <a:spcPts val="2330"/>
                </a:lnSpc>
              </a:pPr>
              <a:r>
                <a:rPr lang="en-US" sz="1849" b="true">
                  <a:solidFill>
                    <a:srgbClr val="1F243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Report</a:t>
              </a:r>
            </a:p>
          </p:txBody>
        </p:sp>
      </p:grpSp>
      <p:grpSp>
        <p:nvGrpSpPr>
          <p:cNvPr name="Group 43" id="43"/>
          <p:cNvGrpSpPr/>
          <p:nvPr/>
        </p:nvGrpSpPr>
        <p:grpSpPr>
          <a:xfrm rot="0">
            <a:off x="813435" y="5888355"/>
            <a:ext cx="16615410" cy="3448050"/>
            <a:chOff x="0" y="0"/>
            <a:chExt cx="22153880" cy="4597400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22153879" cy="4597400"/>
            </a:xfrm>
            <a:custGeom>
              <a:avLst/>
              <a:gdLst/>
              <a:ahLst/>
              <a:cxnLst/>
              <a:rect r="r" b="b" t="t" l="l"/>
              <a:pathLst>
                <a:path h="4597400" w="22153879">
                  <a:moveTo>
                    <a:pt x="0" y="147066"/>
                  </a:moveTo>
                  <a:cubicBezTo>
                    <a:pt x="0" y="65913"/>
                    <a:pt x="65913" y="0"/>
                    <a:pt x="147066" y="0"/>
                  </a:cubicBezTo>
                  <a:lnTo>
                    <a:pt x="22006813" y="0"/>
                  </a:lnTo>
                  <a:cubicBezTo>
                    <a:pt x="22088094" y="0"/>
                    <a:pt x="22153879" y="65913"/>
                    <a:pt x="22153879" y="147066"/>
                  </a:cubicBezTo>
                  <a:lnTo>
                    <a:pt x="22153879" y="4450334"/>
                  </a:lnTo>
                  <a:cubicBezTo>
                    <a:pt x="22153879" y="4531614"/>
                    <a:pt x="22087967" y="4597400"/>
                    <a:pt x="22006813" y="4597400"/>
                  </a:cubicBezTo>
                  <a:lnTo>
                    <a:pt x="147066" y="4597400"/>
                  </a:lnTo>
                  <a:cubicBezTo>
                    <a:pt x="65913" y="4597400"/>
                    <a:pt x="0" y="4531487"/>
                    <a:pt x="0" y="4450334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E6E1D3"/>
              </a:solidFill>
              <a:prstDash val="solid"/>
              <a:miter/>
            </a:ln>
          </p:spPr>
        </p:sp>
      </p:grpSp>
      <p:grpSp>
        <p:nvGrpSpPr>
          <p:cNvPr name="Group 45" id="45"/>
          <p:cNvGrpSpPr/>
          <p:nvPr/>
        </p:nvGrpSpPr>
        <p:grpSpPr>
          <a:xfrm rot="0">
            <a:off x="1303020" y="6172200"/>
            <a:ext cx="6858000" cy="438912"/>
            <a:chOff x="0" y="0"/>
            <a:chExt cx="9144000" cy="585216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9144000" cy="585216"/>
            </a:xfrm>
            <a:custGeom>
              <a:avLst/>
              <a:gdLst/>
              <a:ahLst/>
              <a:cxnLst/>
              <a:rect r="r" b="b" t="t" l="l"/>
              <a:pathLst>
                <a:path h="585216" w="9144000">
                  <a:moveTo>
                    <a:pt x="0" y="0"/>
                  </a:moveTo>
                  <a:lnTo>
                    <a:pt x="9144000" y="0"/>
                  </a:lnTo>
                  <a:lnTo>
                    <a:pt x="9144000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54453" r="0" b="-254453"/>
              </a:stretch>
            </a:blipFill>
          </p:spPr>
        </p:sp>
        <p:sp>
          <p:nvSpPr>
            <p:cNvPr name="TextBox 47" id="47"/>
            <p:cNvSpPr txBox="true"/>
            <p:nvPr/>
          </p:nvSpPr>
          <p:spPr>
            <a:xfrm>
              <a:off x="0" y="-19050"/>
              <a:ext cx="9144000" cy="60426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sz="1950" b="true">
                  <a:solidFill>
                    <a:srgbClr val="B08D3E"/>
                  </a:solidFill>
                  <a:latin typeface="Arial Bold"/>
                  <a:ea typeface="Arial Bold"/>
                  <a:cs typeface="Arial Bold"/>
                  <a:sym typeface="Arial Bold"/>
                </a:rPr>
                <a:t>Architecture Purpose</a:t>
              </a:r>
            </a:p>
          </p:txBody>
        </p:sp>
      </p:grpSp>
      <p:grpSp>
        <p:nvGrpSpPr>
          <p:cNvPr name="Group 48" id="48"/>
          <p:cNvGrpSpPr/>
          <p:nvPr/>
        </p:nvGrpSpPr>
        <p:grpSpPr>
          <a:xfrm rot="0">
            <a:off x="1303020" y="6693408"/>
            <a:ext cx="15636240" cy="1234440"/>
            <a:chOff x="0" y="0"/>
            <a:chExt cx="20848320" cy="1645920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20848320" cy="1645920"/>
            </a:xfrm>
            <a:custGeom>
              <a:avLst/>
              <a:gdLst/>
              <a:ahLst/>
              <a:cxnLst/>
              <a:rect r="r" b="b" t="t" l="l"/>
              <a:pathLst>
                <a:path h="1645920" w="20848320">
                  <a:moveTo>
                    <a:pt x="0" y="0"/>
                  </a:moveTo>
                  <a:lnTo>
                    <a:pt x="20848320" y="0"/>
                  </a:lnTo>
                  <a:lnTo>
                    <a:pt x="20848320" y="1645920"/>
                  </a:lnTo>
                  <a:lnTo>
                    <a:pt x="0" y="16459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6810" r="0" b="-196810"/>
              </a:stretch>
            </a:blipFill>
          </p:spPr>
        </p:sp>
        <p:sp>
          <p:nvSpPr>
            <p:cNvPr name="TextBox 50" id="50"/>
            <p:cNvSpPr txBox="true"/>
            <p:nvPr/>
          </p:nvSpPr>
          <p:spPr>
            <a:xfrm>
              <a:off x="0" y="-57150"/>
              <a:ext cx="20848320" cy="17030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71"/>
                </a:lnSpc>
              </a:pPr>
              <a:r>
                <a:rPr lang="en-US" sz="1924">
                  <a:solidFill>
                    <a:srgbClr val="666B78"/>
                  </a:solidFill>
                  <a:latin typeface="Arial"/>
                  <a:ea typeface="Arial"/>
                  <a:cs typeface="Arial"/>
                  <a:sym typeface="Arial"/>
                </a:rPr>
                <a:t>Separating symptom collection, reasoning, knowledge storage and output generation keeps each part easy to test and maintain. The web front end never reimplements diagnostic logic — it drives the same inference engine as the console application through the input adapter, so the two interfaces cannot disagree.</a:t>
              </a:r>
            </a:p>
          </p:txBody>
        </p:sp>
      </p:grpSp>
      <p:grpSp>
        <p:nvGrpSpPr>
          <p:cNvPr name="Group 51" id="51"/>
          <p:cNvGrpSpPr/>
          <p:nvPr/>
        </p:nvGrpSpPr>
        <p:grpSpPr>
          <a:xfrm rot="0">
            <a:off x="1303020" y="7982712"/>
            <a:ext cx="7818120" cy="384048"/>
            <a:chOff x="0" y="0"/>
            <a:chExt cx="10424160" cy="512064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10424160" cy="512064"/>
            </a:xfrm>
            <a:custGeom>
              <a:avLst/>
              <a:gdLst/>
              <a:ahLst/>
              <a:cxnLst/>
              <a:rect r="r" b="b" t="t" l="l"/>
              <a:pathLst>
                <a:path h="512064" w="10424160">
                  <a:moveTo>
                    <a:pt x="0" y="0"/>
                  </a:moveTo>
                  <a:lnTo>
                    <a:pt x="10424160" y="0"/>
                  </a:lnTo>
                  <a:lnTo>
                    <a:pt x="10424160" y="512064"/>
                  </a:lnTo>
                  <a:lnTo>
                    <a:pt x="0" y="5120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46659" r="0" b="-346659"/>
              </a:stretch>
            </a:blipFill>
          </p:spPr>
        </p:sp>
        <p:sp>
          <p:nvSpPr>
            <p:cNvPr name="TextBox 53" id="53"/>
            <p:cNvSpPr txBox="true"/>
            <p:nvPr/>
          </p:nvSpPr>
          <p:spPr>
            <a:xfrm>
              <a:off x="0" y="-19050"/>
              <a:ext cx="10424160" cy="53111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40"/>
                </a:lnSpc>
              </a:pPr>
              <a:r>
                <a:rPr lang="en-US" sz="1700">
                  <a:solidFill>
                    <a:srgbClr val="1F2430"/>
                  </a:solidFill>
                  <a:latin typeface="Arial"/>
                  <a:ea typeface="Arial"/>
                  <a:cs typeface="Arial"/>
                  <a:sym typeface="Arial"/>
                </a:rPr>
                <a:t>• Flask web front end + console front end</a:t>
              </a:r>
            </a:p>
          </p:txBody>
        </p:sp>
      </p:grpSp>
      <p:grpSp>
        <p:nvGrpSpPr>
          <p:cNvPr name="Group 54" id="54"/>
          <p:cNvGrpSpPr/>
          <p:nvPr/>
        </p:nvGrpSpPr>
        <p:grpSpPr>
          <a:xfrm rot="0">
            <a:off x="1303020" y="8339328"/>
            <a:ext cx="7818120" cy="384048"/>
            <a:chOff x="0" y="0"/>
            <a:chExt cx="10424160" cy="512064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10424160" cy="512064"/>
            </a:xfrm>
            <a:custGeom>
              <a:avLst/>
              <a:gdLst/>
              <a:ahLst/>
              <a:cxnLst/>
              <a:rect r="r" b="b" t="t" l="l"/>
              <a:pathLst>
                <a:path h="512064" w="10424160">
                  <a:moveTo>
                    <a:pt x="0" y="0"/>
                  </a:moveTo>
                  <a:lnTo>
                    <a:pt x="10424160" y="0"/>
                  </a:lnTo>
                  <a:lnTo>
                    <a:pt x="10424160" y="512064"/>
                  </a:lnTo>
                  <a:lnTo>
                    <a:pt x="0" y="5120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46659" r="0" b="-346659"/>
              </a:stretch>
            </a:blipFill>
          </p:spPr>
        </p:sp>
        <p:sp>
          <p:nvSpPr>
            <p:cNvPr name="TextBox 56" id="56"/>
            <p:cNvSpPr txBox="true"/>
            <p:nvPr/>
          </p:nvSpPr>
          <p:spPr>
            <a:xfrm>
              <a:off x="0" y="-19050"/>
              <a:ext cx="10424160" cy="53111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40"/>
                </a:lnSpc>
              </a:pPr>
              <a:r>
                <a:rPr lang="en-US" sz="1700">
                  <a:solidFill>
                    <a:srgbClr val="1F2430"/>
                  </a:solidFill>
                  <a:latin typeface="Arial"/>
                  <a:ea typeface="Arial"/>
                  <a:cs typeface="Arial"/>
                  <a:sym typeface="Arial"/>
                </a:rPr>
                <a:t>• DiagnosisFlow — session &amp; question controller</a:t>
              </a:r>
            </a:p>
          </p:txBody>
        </p:sp>
      </p:grpSp>
      <p:grpSp>
        <p:nvGrpSpPr>
          <p:cNvPr name="Group 57" id="57"/>
          <p:cNvGrpSpPr/>
          <p:nvPr/>
        </p:nvGrpSpPr>
        <p:grpSpPr>
          <a:xfrm rot="0">
            <a:off x="1325880" y="8723376"/>
            <a:ext cx="7818120" cy="384048"/>
            <a:chOff x="0" y="0"/>
            <a:chExt cx="10424160" cy="512064"/>
          </a:xfrm>
        </p:grpSpPr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10424160" cy="512064"/>
            </a:xfrm>
            <a:custGeom>
              <a:avLst/>
              <a:gdLst/>
              <a:ahLst/>
              <a:cxnLst/>
              <a:rect r="r" b="b" t="t" l="l"/>
              <a:pathLst>
                <a:path h="512064" w="10424160">
                  <a:moveTo>
                    <a:pt x="0" y="0"/>
                  </a:moveTo>
                  <a:lnTo>
                    <a:pt x="10424160" y="0"/>
                  </a:lnTo>
                  <a:lnTo>
                    <a:pt x="10424160" y="512064"/>
                  </a:lnTo>
                  <a:lnTo>
                    <a:pt x="0" y="5120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46659" r="0" b="-346659"/>
              </a:stretch>
            </a:blipFill>
          </p:spPr>
        </p:sp>
        <p:sp>
          <p:nvSpPr>
            <p:cNvPr name="TextBox 59" id="59"/>
            <p:cNvSpPr txBox="true"/>
            <p:nvPr/>
          </p:nvSpPr>
          <p:spPr>
            <a:xfrm>
              <a:off x="0" y="-19050"/>
              <a:ext cx="10424160" cy="53111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40"/>
                </a:lnSpc>
              </a:pPr>
              <a:r>
                <a:rPr lang="en-US" sz="1700">
                  <a:solidFill>
                    <a:srgbClr val="1F2430"/>
                  </a:solidFill>
                  <a:latin typeface="Arial"/>
                  <a:ea typeface="Arial"/>
                  <a:cs typeface="Arial"/>
                  <a:sym typeface="Arial"/>
                </a:rPr>
                <a:t>• MedicalExpert — Experta engine, 46 rules</a:t>
              </a:r>
            </a:p>
          </p:txBody>
        </p:sp>
      </p:grpSp>
      <p:grpSp>
        <p:nvGrpSpPr>
          <p:cNvPr name="Group 60" id="60"/>
          <p:cNvGrpSpPr/>
          <p:nvPr/>
        </p:nvGrpSpPr>
        <p:grpSpPr>
          <a:xfrm rot="0">
            <a:off x="9258300" y="7982712"/>
            <a:ext cx="7818120" cy="384048"/>
            <a:chOff x="0" y="0"/>
            <a:chExt cx="10424160" cy="512064"/>
          </a:xfrm>
        </p:grpSpPr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10424160" cy="512064"/>
            </a:xfrm>
            <a:custGeom>
              <a:avLst/>
              <a:gdLst/>
              <a:ahLst/>
              <a:cxnLst/>
              <a:rect r="r" b="b" t="t" l="l"/>
              <a:pathLst>
                <a:path h="512064" w="10424160">
                  <a:moveTo>
                    <a:pt x="0" y="0"/>
                  </a:moveTo>
                  <a:lnTo>
                    <a:pt x="10424160" y="0"/>
                  </a:lnTo>
                  <a:lnTo>
                    <a:pt x="10424160" y="512064"/>
                  </a:lnTo>
                  <a:lnTo>
                    <a:pt x="0" y="5120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46659" r="0" b="-346659"/>
              </a:stretch>
            </a:blipFill>
          </p:spPr>
        </p:sp>
        <p:sp>
          <p:nvSpPr>
            <p:cNvPr name="TextBox 62" id="62"/>
            <p:cNvSpPr txBox="true"/>
            <p:nvPr/>
          </p:nvSpPr>
          <p:spPr>
            <a:xfrm>
              <a:off x="0" y="-19050"/>
              <a:ext cx="10424160" cy="53111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40"/>
                </a:lnSpc>
              </a:pPr>
              <a:r>
                <a:rPr lang="en-US" sz="1700">
                  <a:solidFill>
                    <a:srgbClr val="1F2430"/>
                  </a:solidFill>
                  <a:latin typeface="Arial"/>
                  <a:ea typeface="Arial"/>
                  <a:cs typeface="Arial"/>
                  <a:sym typeface="Arial"/>
                </a:rPr>
                <a:t>• EngineIOAdapter — stateless replay &amp; pause</a:t>
              </a:r>
            </a:p>
          </p:txBody>
        </p:sp>
      </p:grpSp>
      <p:grpSp>
        <p:nvGrpSpPr>
          <p:cNvPr name="Group 63" id="63"/>
          <p:cNvGrpSpPr/>
          <p:nvPr/>
        </p:nvGrpSpPr>
        <p:grpSpPr>
          <a:xfrm rot="0">
            <a:off x="9258300" y="8339328"/>
            <a:ext cx="7818120" cy="384048"/>
            <a:chOff x="0" y="0"/>
            <a:chExt cx="10424160" cy="512064"/>
          </a:xfrm>
        </p:grpSpPr>
        <p:sp>
          <p:nvSpPr>
            <p:cNvPr name="Freeform 64" id="64"/>
            <p:cNvSpPr/>
            <p:nvPr/>
          </p:nvSpPr>
          <p:spPr>
            <a:xfrm flipH="false" flipV="false" rot="0">
              <a:off x="0" y="0"/>
              <a:ext cx="10424160" cy="512064"/>
            </a:xfrm>
            <a:custGeom>
              <a:avLst/>
              <a:gdLst/>
              <a:ahLst/>
              <a:cxnLst/>
              <a:rect r="r" b="b" t="t" l="l"/>
              <a:pathLst>
                <a:path h="512064" w="10424160">
                  <a:moveTo>
                    <a:pt x="0" y="0"/>
                  </a:moveTo>
                  <a:lnTo>
                    <a:pt x="10424160" y="0"/>
                  </a:lnTo>
                  <a:lnTo>
                    <a:pt x="10424160" y="512064"/>
                  </a:lnTo>
                  <a:lnTo>
                    <a:pt x="0" y="5120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46659" r="0" b="-346659"/>
              </a:stretch>
            </a:blipFill>
          </p:spPr>
        </p:sp>
        <p:sp>
          <p:nvSpPr>
            <p:cNvPr name="TextBox 65" id="65"/>
            <p:cNvSpPr txBox="true"/>
            <p:nvPr/>
          </p:nvSpPr>
          <p:spPr>
            <a:xfrm>
              <a:off x="0" y="-19050"/>
              <a:ext cx="10424160" cy="53111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40"/>
                </a:lnSpc>
              </a:pPr>
              <a:r>
                <a:rPr lang="en-US" sz="1700">
                  <a:solidFill>
                    <a:srgbClr val="1F2430"/>
                  </a:solidFill>
                  <a:latin typeface="Arial"/>
                  <a:ea typeface="Arial"/>
                  <a:cs typeface="Arial"/>
                  <a:sym typeface="Arial"/>
                </a:rPr>
                <a:t>• symptoms.ods + diseases_list.txt knowledge base</a:t>
              </a:r>
            </a:p>
          </p:txBody>
        </p:sp>
      </p:grpSp>
      <p:grpSp>
        <p:nvGrpSpPr>
          <p:cNvPr name="Group 66" id="66"/>
          <p:cNvGrpSpPr/>
          <p:nvPr/>
        </p:nvGrpSpPr>
        <p:grpSpPr>
          <a:xfrm rot="0">
            <a:off x="9258300" y="8695944"/>
            <a:ext cx="7818120" cy="384048"/>
            <a:chOff x="0" y="0"/>
            <a:chExt cx="10424160" cy="512064"/>
          </a:xfrm>
        </p:grpSpPr>
        <p:sp>
          <p:nvSpPr>
            <p:cNvPr name="Freeform 67" id="67"/>
            <p:cNvSpPr/>
            <p:nvPr/>
          </p:nvSpPr>
          <p:spPr>
            <a:xfrm flipH="false" flipV="false" rot="0">
              <a:off x="0" y="0"/>
              <a:ext cx="10424160" cy="512064"/>
            </a:xfrm>
            <a:custGeom>
              <a:avLst/>
              <a:gdLst/>
              <a:ahLst/>
              <a:cxnLst/>
              <a:rect r="r" b="b" t="t" l="l"/>
              <a:pathLst>
                <a:path h="512064" w="10424160">
                  <a:moveTo>
                    <a:pt x="0" y="0"/>
                  </a:moveTo>
                  <a:lnTo>
                    <a:pt x="10424160" y="0"/>
                  </a:lnTo>
                  <a:lnTo>
                    <a:pt x="10424160" y="512064"/>
                  </a:lnTo>
                  <a:lnTo>
                    <a:pt x="0" y="5120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46659" r="0" b="-346659"/>
              </a:stretch>
            </a:blipFill>
          </p:spPr>
        </p:sp>
        <p:sp>
          <p:nvSpPr>
            <p:cNvPr name="TextBox 68" id="68"/>
            <p:cNvSpPr txBox="true"/>
            <p:nvPr/>
          </p:nvSpPr>
          <p:spPr>
            <a:xfrm>
              <a:off x="0" y="-19050"/>
              <a:ext cx="10424160" cy="53111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40"/>
                </a:lnSpc>
              </a:pPr>
              <a:r>
                <a:rPr lang="en-US" sz="1700">
                  <a:solidFill>
                    <a:srgbClr val="1F2430"/>
                  </a:solidFill>
                  <a:latin typeface="Arial"/>
                  <a:ea typeface="Arial"/>
                  <a:cs typeface="Arial"/>
                  <a:sym typeface="Arial"/>
                </a:rPr>
                <a:t>• Markdown/HTML treatment docs + PDF writer</a:t>
              </a:r>
            </a:p>
          </p:txBody>
        </p:sp>
      </p:grpSp>
      <p:grpSp>
        <p:nvGrpSpPr>
          <p:cNvPr name="Group 69" id="69"/>
          <p:cNvGrpSpPr/>
          <p:nvPr/>
        </p:nvGrpSpPr>
        <p:grpSpPr>
          <a:xfrm rot="0">
            <a:off x="685800" y="9848088"/>
            <a:ext cx="9601200" cy="384048"/>
            <a:chOff x="0" y="0"/>
            <a:chExt cx="12801600" cy="512064"/>
          </a:xfrm>
        </p:grpSpPr>
        <p:sp>
          <p:nvSpPr>
            <p:cNvPr name="Freeform 70" id="70"/>
            <p:cNvSpPr/>
            <p:nvPr/>
          </p:nvSpPr>
          <p:spPr>
            <a:xfrm flipH="false" flipV="false" rot="0">
              <a:off x="0" y="0"/>
              <a:ext cx="12801600" cy="512064"/>
            </a:xfrm>
            <a:custGeom>
              <a:avLst/>
              <a:gdLst/>
              <a:ahLst/>
              <a:cxnLst/>
              <a:rect r="r" b="b" t="t" l="l"/>
              <a:pathLst>
                <a:path h="512064" w="12801600">
                  <a:moveTo>
                    <a:pt x="0" y="0"/>
                  </a:moveTo>
                  <a:lnTo>
                    <a:pt x="12801600" y="0"/>
                  </a:lnTo>
                  <a:lnTo>
                    <a:pt x="12801600" y="512064"/>
                  </a:lnTo>
                  <a:lnTo>
                    <a:pt x="0" y="5120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37125" r="0" b="-437125"/>
              </a:stretch>
            </a:blipFill>
          </p:spPr>
        </p:sp>
        <p:sp>
          <p:nvSpPr>
            <p:cNvPr name="TextBox 71" id="71"/>
            <p:cNvSpPr txBox="true"/>
            <p:nvPr/>
          </p:nvSpPr>
          <p:spPr>
            <a:xfrm>
              <a:off x="0" y="-19050"/>
              <a:ext cx="12801600" cy="53111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439"/>
                </a:lnSpc>
              </a:pPr>
              <a:r>
                <a:rPr lang="en-US" sz="1200">
                  <a:solidFill>
                    <a:srgbClr val="666B78"/>
                  </a:solidFill>
                  <a:latin typeface="Arial"/>
                  <a:ea typeface="Arial"/>
                  <a:cs typeface="Arial"/>
                  <a:sym typeface="Arial"/>
                </a:rPr>
                <a:t>Medical Diagnosis Expert System  |  CSE440</a:t>
              </a:r>
            </a:p>
          </p:txBody>
        </p:sp>
      </p:grpSp>
      <p:grpSp>
        <p:nvGrpSpPr>
          <p:cNvPr name="Group 72" id="72"/>
          <p:cNvGrpSpPr/>
          <p:nvPr/>
        </p:nvGrpSpPr>
        <p:grpSpPr>
          <a:xfrm rot="0">
            <a:off x="17145000" y="9848088"/>
            <a:ext cx="548640" cy="384048"/>
            <a:chOff x="0" y="0"/>
            <a:chExt cx="731520" cy="512064"/>
          </a:xfrm>
        </p:grpSpPr>
        <p:sp>
          <p:nvSpPr>
            <p:cNvPr name="Freeform 73" id="73"/>
            <p:cNvSpPr/>
            <p:nvPr/>
          </p:nvSpPr>
          <p:spPr>
            <a:xfrm flipH="false" flipV="false" rot="0">
              <a:off x="0" y="0"/>
              <a:ext cx="731520" cy="512064"/>
            </a:xfrm>
            <a:custGeom>
              <a:avLst/>
              <a:gdLst/>
              <a:ahLst/>
              <a:cxnLst/>
              <a:rect r="r" b="b" t="t" l="l"/>
              <a:pathLst>
                <a:path h="512064" w="731520">
                  <a:moveTo>
                    <a:pt x="0" y="0"/>
                  </a:moveTo>
                  <a:lnTo>
                    <a:pt x="731520" y="0"/>
                  </a:lnTo>
                  <a:lnTo>
                    <a:pt x="731520" y="512064"/>
                  </a:lnTo>
                  <a:lnTo>
                    <a:pt x="0" y="5120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39812" t="0" r="-39812" b="0"/>
              </a:stretch>
            </a:blipFill>
          </p:spPr>
        </p:sp>
        <p:sp>
          <p:nvSpPr>
            <p:cNvPr name="TextBox 74" id="74"/>
            <p:cNvSpPr txBox="true"/>
            <p:nvPr/>
          </p:nvSpPr>
          <p:spPr>
            <a:xfrm>
              <a:off x="0" y="-19050"/>
              <a:ext cx="731520" cy="53111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439"/>
                </a:lnSpc>
              </a:pPr>
              <a:r>
                <a:rPr lang="en-US" sz="1200">
                  <a:solidFill>
                    <a:srgbClr val="666B78"/>
                  </a:solidFill>
                  <a:latin typeface="Arial"/>
                  <a:ea typeface="Arial"/>
                  <a:cs typeface="Arial"/>
                  <a:sym typeface="Arial"/>
                </a:rPr>
                <a:t>6</a:t>
              </a:r>
            </a:p>
          </p:txBody>
        </p:sp>
      </p:grp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6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22960" y="685800"/>
            <a:ext cx="16596360" cy="822960"/>
            <a:chOff x="0" y="0"/>
            <a:chExt cx="22128480" cy="109728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2128480" cy="1097280"/>
            </a:xfrm>
            <a:custGeom>
              <a:avLst/>
              <a:gdLst/>
              <a:ahLst/>
              <a:cxnLst/>
              <a:rect r="r" b="b" t="t" l="l"/>
              <a:pathLst>
                <a:path h="1097280" w="22128480">
                  <a:moveTo>
                    <a:pt x="0" y="0"/>
                  </a:moveTo>
                  <a:lnTo>
                    <a:pt x="22128480" y="0"/>
                  </a:lnTo>
                  <a:lnTo>
                    <a:pt x="2212848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42948" r="0" b="-342948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19050"/>
              <a:ext cx="22128480" cy="11163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040"/>
                </a:lnSpc>
              </a:pPr>
              <a:r>
                <a:rPr lang="en-US" sz="4200" b="true">
                  <a:solidFill>
                    <a:srgbClr val="1F243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Inference Flow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822960" y="1508760"/>
            <a:ext cx="16596360" cy="548640"/>
            <a:chOff x="0" y="0"/>
            <a:chExt cx="22128480" cy="73152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2128480" cy="731520"/>
            </a:xfrm>
            <a:custGeom>
              <a:avLst/>
              <a:gdLst/>
              <a:ahLst/>
              <a:cxnLst/>
              <a:rect r="r" b="b" t="t" l="l"/>
              <a:pathLst>
                <a:path h="731520" w="22128480">
                  <a:moveTo>
                    <a:pt x="0" y="0"/>
                  </a:moveTo>
                  <a:lnTo>
                    <a:pt x="22128480" y="0"/>
                  </a:lnTo>
                  <a:lnTo>
                    <a:pt x="2212848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39422" r="0" b="-539422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19050"/>
              <a:ext cx="22128480" cy="7505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sz="1950">
                  <a:solidFill>
                    <a:srgbClr val="666B78"/>
                  </a:solidFill>
                  <a:latin typeface="Arial"/>
                  <a:ea typeface="Arial"/>
                  <a:cs typeface="Arial"/>
                  <a:sym typeface="Arial"/>
                </a:rPr>
                <a:t>Forward-chaining reasoning from patient answers to a matched, threshold-checked disease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813435" y="2665095"/>
            <a:ext cx="2556510" cy="1322070"/>
            <a:chOff x="0" y="0"/>
            <a:chExt cx="3408680" cy="176276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3408680" cy="1762760"/>
            </a:xfrm>
            <a:custGeom>
              <a:avLst/>
              <a:gdLst/>
              <a:ahLst/>
              <a:cxnLst/>
              <a:rect r="r" b="b" t="t" l="l"/>
              <a:pathLst>
                <a:path h="1762760" w="3408680">
                  <a:moveTo>
                    <a:pt x="0" y="148463"/>
                  </a:moveTo>
                  <a:cubicBezTo>
                    <a:pt x="0" y="66421"/>
                    <a:pt x="66421" y="0"/>
                    <a:pt x="148463" y="0"/>
                  </a:cubicBezTo>
                  <a:lnTo>
                    <a:pt x="3260217" y="0"/>
                  </a:lnTo>
                  <a:cubicBezTo>
                    <a:pt x="3342259" y="0"/>
                    <a:pt x="3408680" y="66421"/>
                    <a:pt x="3408680" y="148463"/>
                  </a:cubicBezTo>
                  <a:lnTo>
                    <a:pt x="3408680" y="1614297"/>
                  </a:lnTo>
                  <a:cubicBezTo>
                    <a:pt x="3408680" y="1696339"/>
                    <a:pt x="3342259" y="1762760"/>
                    <a:pt x="3260217" y="1762760"/>
                  </a:cubicBezTo>
                  <a:lnTo>
                    <a:pt x="148463" y="1762760"/>
                  </a:lnTo>
                  <a:cubicBezTo>
                    <a:pt x="66421" y="1762760"/>
                    <a:pt x="0" y="1696339"/>
                    <a:pt x="0" y="1614297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E0DACB"/>
              </a:solidFill>
              <a:prstDash val="solid"/>
              <a:miter/>
            </a:ln>
          </p:spPr>
        </p:sp>
      </p:grpSp>
      <p:grpSp>
        <p:nvGrpSpPr>
          <p:cNvPr name="Group 10" id="10"/>
          <p:cNvGrpSpPr/>
          <p:nvPr/>
        </p:nvGrpSpPr>
        <p:grpSpPr>
          <a:xfrm rot="0">
            <a:off x="822960" y="2674620"/>
            <a:ext cx="2537460" cy="1303020"/>
            <a:chOff x="0" y="0"/>
            <a:chExt cx="3383280" cy="173736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3383280" cy="1737360"/>
            </a:xfrm>
            <a:custGeom>
              <a:avLst/>
              <a:gdLst/>
              <a:ahLst/>
              <a:cxnLst/>
              <a:rect r="r" b="b" t="t" l="l"/>
              <a:pathLst>
                <a:path h="1737360" w="3383280">
                  <a:moveTo>
                    <a:pt x="0" y="0"/>
                  </a:moveTo>
                  <a:lnTo>
                    <a:pt x="3383280" y="0"/>
                  </a:lnTo>
                  <a:lnTo>
                    <a:pt x="3383280" y="1737360"/>
                  </a:lnTo>
                  <a:lnTo>
                    <a:pt x="0" y="1737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5885" t="0" r="-15885" b="0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28575"/>
              <a:ext cx="3383280" cy="176593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267"/>
                </a:lnSpc>
              </a:pPr>
              <a:r>
                <a:rPr lang="en-US" sz="1799" b="true">
                  <a:solidFill>
                    <a:srgbClr val="1F243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Start</a:t>
              </a:r>
            </a:p>
            <a:p>
              <a:pPr algn="ctr">
                <a:lnSpc>
                  <a:spcPts val="2267"/>
                </a:lnSpc>
              </a:pPr>
              <a:r>
                <a:rPr lang="en-US" sz="1799" b="true">
                  <a:solidFill>
                    <a:srgbClr val="1F243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Consultation</a:t>
              </a:r>
            </a:p>
          </p:txBody>
        </p:sp>
      </p:grpSp>
      <p:sp>
        <p:nvSpPr>
          <p:cNvPr name="AutoShape 13" id="13"/>
          <p:cNvSpPr/>
          <p:nvPr/>
        </p:nvSpPr>
        <p:spPr>
          <a:xfrm rot="323340">
            <a:off x="3345456" y="3316605"/>
            <a:ext cx="304238" cy="0"/>
          </a:xfrm>
          <a:prstGeom prst="line">
            <a:avLst/>
          </a:prstGeom>
          <a:ln cap="rnd" w="19050">
            <a:solidFill>
              <a:srgbClr val="C7BFA8"/>
            </a:solidFill>
            <a:prstDash val="solid"/>
            <a:headEnd type="none" len="sm" w="sm"/>
            <a:tailEnd type="triangle" len="med" w="lg"/>
          </a:ln>
        </p:spPr>
      </p:sp>
      <p:grpSp>
        <p:nvGrpSpPr>
          <p:cNvPr name="Group 14" id="14"/>
          <p:cNvGrpSpPr/>
          <p:nvPr/>
        </p:nvGrpSpPr>
        <p:grpSpPr>
          <a:xfrm rot="0">
            <a:off x="3625215" y="2665095"/>
            <a:ext cx="2556510" cy="1322070"/>
            <a:chOff x="0" y="0"/>
            <a:chExt cx="3408680" cy="176276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3408680" cy="1762760"/>
            </a:xfrm>
            <a:custGeom>
              <a:avLst/>
              <a:gdLst/>
              <a:ahLst/>
              <a:cxnLst/>
              <a:rect r="r" b="b" t="t" l="l"/>
              <a:pathLst>
                <a:path h="1762760" w="3408680">
                  <a:moveTo>
                    <a:pt x="0" y="148463"/>
                  </a:moveTo>
                  <a:cubicBezTo>
                    <a:pt x="0" y="66421"/>
                    <a:pt x="66421" y="0"/>
                    <a:pt x="148463" y="0"/>
                  </a:cubicBezTo>
                  <a:lnTo>
                    <a:pt x="3260217" y="0"/>
                  </a:lnTo>
                  <a:cubicBezTo>
                    <a:pt x="3342259" y="0"/>
                    <a:pt x="3408680" y="66421"/>
                    <a:pt x="3408680" y="148463"/>
                  </a:cubicBezTo>
                  <a:lnTo>
                    <a:pt x="3408680" y="1614297"/>
                  </a:lnTo>
                  <a:cubicBezTo>
                    <a:pt x="3408680" y="1696339"/>
                    <a:pt x="3342259" y="1762760"/>
                    <a:pt x="3260217" y="1762760"/>
                  </a:cubicBezTo>
                  <a:lnTo>
                    <a:pt x="148463" y="1762760"/>
                  </a:lnTo>
                  <a:cubicBezTo>
                    <a:pt x="66421" y="1762760"/>
                    <a:pt x="0" y="1696339"/>
                    <a:pt x="0" y="1614297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E0DACB"/>
              </a:solidFill>
              <a:prstDash val="solid"/>
              <a:miter/>
            </a:ln>
          </p:spPr>
        </p:sp>
      </p:grpSp>
      <p:grpSp>
        <p:nvGrpSpPr>
          <p:cNvPr name="Group 16" id="16"/>
          <p:cNvGrpSpPr/>
          <p:nvPr/>
        </p:nvGrpSpPr>
        <p:grpSpPr>
          <a:xfrm rot="0">
            <a:off x="3634740" y="2674620"/>
            <a:ext cx="2537460" cy="1303020"/>
            <a:chOff x="0" y="0"/>
            <a:chExt cx="3383280" cy="173736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3383280" cy="1737360"/>
            </a:xfrm>
            <a:custGeom>
              <a:avLst/>
              <a:gdLst/>
              <a:ahLst/>
              <a:cxnLst/>
              <a:rect r="r" b="b" t="t" l="l"/>
              <a:pathLst>
                <a:path h="1737360" w="3383280">
                  <a:moveTo>
                    <a:pt x="0" y="0"/>
                  </a:moveTo>
                  <a:lnTo>
                    <a:pt x="3383280" y="0"/>
                  </a:lnTo>
                  <a:lnTo>
                    <a:pt x="3383280" y="1737360"/>
                  </a:lnTo>
                  <a:lnTo>
                    <a:pt x="0" y="1737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5885" t="0" r="-15885" b="0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28575"/>
              <a:ext cx="3383280" cy="176593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267"/>
                </a:lnSpc>
              </a:pPr>
              <a:r>
                <a:rPr lang="en-US" sz="1799" b="true">
                  <a:solidFill>
                    <a:srgbClr val="1F243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Collect</a:t>
              </a:r>
            </a:p>
            <a:p>
              <a:pPr algn="ctr">
                <a:lnSpc>
                  <a:spcPts val="2267"/>
                </a:lnSpc>
              </a:pPr>
              <a:r>
                <a:rPr lang="en-US" sz="1799" b="true">
                  <a:solidFill>
                    <a:srgbClr val="1F243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History &amp; Symptoms</a:t>
              </a:r>
            </a:p>
          </p:txBody>
        </p:sp>
      </p:grpSp>
      <p:sp>
        <p:nvSpPr>
          <p:cNvPr name="AutoShape 19" id="19"/>
          <p:cNvSpPr/>
          <p:nvPr/>
        </p:nvSpPr>
        <p:spPr>
          <a:xfrm rot="323340">
            <a:off x="6157236" y="3316605"/>
            <a:ext cx="304238" cy="0"/>
          </a:xfrm>
          <a:prstGeom prst="line">
            <a:avLst/>
          </a:prstGeom>
          <a:ln cap="rnd" w="19050">
            <a:solidFill>
              <a:srgbClr val="C7BFA8"/>
            </a:solidFill>
            <a:prstDash val="solid"/>
            <a:headEnd type="none" len="sm" w="sm"/>
            <a:tailEnd type="triangle" len="med" w="lg"/>
          </a:ln>
        </p:spPr>
      </p:sp>
      <p:grpSp>
        <p:nvGrpSpPr>
          <p:cNvPr name="Group 20" id="20"/>
          <p:cNvGrpSpPr/>
          <p:nvPr/>
        </p:nvGrpSpPr>
        <p:grpSpPr>
          <a:xfrm rot="0">
            <a:off x="6436995" y="2665095"/>
            <a:ext cx="2556510" cy="1322070"/>
            <a:chOff x="0" y="0"/>
            <a:chExt cx="3408680" cy="176276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3408680" cy="1762760"/>
            </a:xfrm>
            <a:custGeom>
              <a:avLst/>
              <a:gdLst/>
              <a:ahLst/>
              <a:cxnLst/>
              <a:rect r="r" b="b" t="t" l="l"/>
              <a:pathLst>
                <a:path h="1762760" w="3408680">
                  <a:moveTo>
                    <a:pt x="0" y="148463"/>
                  </a:moveTo>
                  <a:cubicBezTo>
                    <a:pt x="0" y="66421"/>
                    <a:pt x="66421" y="0"/>
                    <a:pt x="148463" y="0"/>
                  </a:cubicBezTo>
                  <a:lnTo>
                    <a:pt x="3260217" y="0"/>
                  </a:lnTo>
                  <a:cubicBezTo>
                    <a:pt x="3342259" y="0"/>
                    <a:pt x="3408680" y="66421"/>
                    <a:pt x="3408680" y="148463"/>
                  </a:cubicBezTo>
                  <a:lnTo>
                    <a:pt x="3408680" y="1614297"/>
                  </a:lnTo>
                  <a:cubicBezTo>
                    <a:pt x="3408680" y="1696339"/>
                    <a:pt x="3342259" y="1762760"/>
                    <a:pt x="3260217" y="1762760"/>
                  </a:cubicBezTo>
                  <a:lnTo>
                    <a:pt x="148463" y="1762760"/>
                  </a:lnTo>
                  <a:cubicBezTo>
                    <a:pt x="66421" y="1762760"/>
                    <a:pt x="0" y="1696339"/>
                    <a:pt x="0" y="1614297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E0DACB"/>
              </a:solidFill>
              <a:prstDash val="solid"/>
              <a:miter/>
            </a:ln>
          </p:spPr>
        </p:sp>
      </p:grpSp>
      <p:grpSp>
        <p:nvGrpSpPr>
          <p:cNvPr name="Group 22" id="22"/>
          <p:cNvGrpSpPr/>
          <p:nvPr/>
        </p:nvGrpSpPr>
        <p:grpSpPr>
          <a:xfrm rot="0">
            <a:off x="6446520" y="2674620"/>
            <a:ext cx="2537460" cy="1303020"/>
            <a:chOff x="0" y="0"/>
            <a:chExt cx="3383280" cy="173736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3383280" cy="1737360"/>
            </a:xfrm>
            <a:custGeom>
              <a:avLst/>
              <a:gdLst/>
              <a:ahLst/>
              <a:cxnLst/>
              <a:rect r="r" b="b" t="t" l="l"/>
              <a:pathLst>
                <a:path h="1737360" w="3383280">
                  <a:moveTo>
                    <a:pt x="0" y="0"/>
                  </a:moveTo>
                  <a:lnTo>
                    <a:pt x="3383280" y="0"/>
                  </a:lnTo>
                  <a:lnTo>
                    <a:pt x="3383280" y="1737360"/>
                  </a:lnTo>
                  <a:lnTo>
                    <a:pt x="0" y="1737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5885" t="0" r="-15885" b="0"/>
              </a:stretch>
            </a:blip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19050"/>
              <a:ext cx="3383280" cy="17564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93"/>
                </a:lnSpc>
              </a:pPr>
              <a:r>
                <a:rPr lang="en-US" sz="1899" b="true">
                  <a:solidFill>
                    <a:srgbClr val="1F243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Store Answers</a:t>
              </a:r>
            </a:p>
            <a:p>
              <a:pPr algn="ctr">
                <a:lnSpc>
                  <a:spcPts val="2393"/>
                </a:lnSpc>
              </a:pPr>
              <a:r>
                <a:rPr lang="en-US" sz="1899" b="true">
                  <a:solidFill>
                    <a:srgbClr val="1F243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as Facts</a:t>
              </a:r>
            </a:p>
          </p:txBody>
        </p:sp>
      </p:grpSp>
      <p:sp>
        <p:nvSpPr>
          <p:cNvPr name="AutoShape 25" id="25"/>
          <p:cNvSpPr/>
          <p:nvPr/>
        </p:nvSpPr>
        <p:spPr>
          <a:xfrm rot="323340">
            <a:off x="8969016" y="3316605"/>
            <a:ext cx="304238" cy="0"/>
          </a:xfrm>
          <a:prstGeom prst="line">
            <a:avLst/>
          </a:prstGeom>
          <a:ln cap="rnd" w="19050">
            <a:solidFill>
              <a:srgbClr val="C7BFA8"/>
            </a:solidFill>
            <a:prstDash val="solid"/>
            <a:headEnd type="none" len="sm" w="sm"/>
            <a:tailEnd type="triangle" len="med" w="lg"/>
          </a:ln>
        </p:spPr>
      </p:sp>
      <p:grpSp>
        <p:nvGrpSpPr>
          <p:cNvPr name="Group 26" id="26"/>
          <p:cNvGrpSpPr/>
          <p:nvPr/>
        </p:nvGrpSpPr>
        <p:grpSpPr>
          <a:xfrm rot="0">
            <a:off x="9248775" y="2665095"/>
            <a:ext cx="2556510" cy="1322070"/>
            <a:chOff x="0" y="0"/>
            <a:chExt cx="3408680" cy="176276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3408680" cy="1762760"/>
            </a:xfrm>
            <a:custGeom>
              <a:avLst/>
              <a:gdLst/>
              <a:ahLst/>
              <a:cxnLst/>
              <a:rect r="r" b="b" t="t" l="l"/>
              <a:pathLst>
                <a:path h="1762760" w="3408680">
                  <a:moveTo>
                    <a:pt x="0" y="148463"/>
                  </a:moveTo>
                  <a:cubicBezTo>
                    <a:pt x="0" y="66421"/>
                    <a:pt x="66421" y="0"/>
                    <a:pt x="148463" y="0"/>
                  </a:cubicBezTo>
                  <a:lnTo>
                    <a:pt x="3260217" y="0"/>
                  </a:lnTo>
                  <a:cubicBezTo>
                    <a:pt x="3342259" y="0"/>
                    <a:pt x="3408680" y="66421"/>
                    <a:pt x="3408680" y="148463"/>
                  </a:cubicBezTo>
                  <a:lnTo>
                    <a:pt x="3408680" y="1614297"/>
                  </a:lnTo>
                  <a:cubicBezTo>
                    <a:pt x="3408680" y="1696339"/>
                    <a:pt x="3342259" y="1762760"/>
                    <a:pt x="3260217" y="1762760"/>
                  </a:cubicBezTo>
                  <a:lnTo>
                    <a:pt x="148463" y="1762760"/>
                  </a:lnTo>
                  <a:cubicBezTo>
                    <a:pt x="66421" y="1762760"/>
                    <a:pt x="0" y="1696339"/>
                    <a:pt x="0" y="1614297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E0DACB"/>
              </a:solidFill>
              <a:prstDash val="solid"/>
              <a:miter/>
            </a:ln>
          </p:spPr>
        </p:sp>
      </p:grpSp>
      <p:grpSp>
        <p:nvGrpSpPr>
          <p:cNvPr name="Group 28" id="28"/>
          <p:cNvGrpSpPr/>
          <p:nvPr/>
        </p:nvGrpSpPr>
        <p:grpSpPr>
          <a:xfrm rot="0">
            <a:off x="9258300" y="2674620"/>
            <a:ext cx="2537460" cy="1303020"/>
            <a:chOff x="0" y="0"/>
            <a:chExt cx="3383280" cy="173736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3383280" cy="1737360"/>
            </a:xfrm>
            <a:custGeom>
              <a:avLst/>
              <a:gdLst/>
              <a:ahLst/>
              <a:cxnLst/>
              <a:rect r="r" b="b" t="t" l="l"/>
              <a:pathLst>
                <a:path h="1737360" w="3383280">
                  <a:moveTo>
                    <a:pt x="0" y="0"/>
                  </a:moveTo>
                  <a:lnTo>
                    <a:pt x="3383280" y="0"/>
                  </a:lnTo>
                  <a:lnTo>
                    <a:pt x="3383280" y="1737360"/>
                  </a:lnTo>
                  <a:lnTo>
                    <a:pt x="0" y="1737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5885" t="0" r="-15885" b="0"/>
              </a:stretch>
            </a:blipFill>
          </p:spPr>
        </p:sp>
        <p:sp>
          <p:nvSpPr>
            <p:cNvPr name="TextBox 30" id="30"/>
            <p:cNvSpPr txBox="true"/>
            <p:nvPr/>
          </p:nvSpPr>
          <p:spPr>
            <a:xfrm>
              <a:off x="0" y="-19050"/>
              <a:ext cx="3383280" cy="17564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93"/>
                </a:lnSpc>
              </a:pPr>
              <a:r>
                <a:rPr lang="en-US" sz="1899" b="true">
                  <a:solidFill>
                    <a:srgbClr val="1F243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Activate Branch</a:t>
              </a:r>
            </a:p>
            <a:p>
              <a:pPr algn="ctr">
                <a:lnSpc>
                  <a:spcPts val="2393"/>
                </a:lnSpc>
              </a:pPr>
              <a:r>
                <a:rPr lang="en-US" sz="1899" b="true">
                  <a:solidFill>
                    <a:srgbClr val="1F243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by Salience</a:t>
              </a:r>
            </a:p>
          </p:txBody>
        </p:sp>
      </p:grpSp>
      <p:sp>
        <p:nvSpPr>
          <p:cNvPr name="AutoShape 31" id="31"/>
          <p:cNvSpPr/>
          <p:nvPr/>
        </p:nvSpPr>
        <p:spPr>
          <a:xfrm rot="323340">
            <a:off x="11780796" y="3316605"/>
            <a:ext cx="304238" cy="0"/>
          </a:xfrm>
          <a:prstGeom prst="line">
            <a:avLst/>
          </a:prstGeom>
          <a:ln cap="rnd" w="19050">
            <a:solidFill>
              <a:srgbClr val="C7BFA8"/>
            </a:solidFill>
            <a:prstDash val="solid"/>
            <a:headEnd type="none" len="sm" w="sm"/>
            <a:tailEnd type="triangle" len="med" w="lg"/>
          </a:ln>
        </p:spPr>
      </p:sp>
      <p:grpSp>
        <p:nvGrpSpPr>
          <p:cNvPr name="Group 32" id="32"/>
          <p:cNvGrpSpPr/>
          <p:nvPr/>
        </p:nvGrpSpPr>
        <p:grpSpPr>
          <a:xfrm rot="0">
            <a:off x="12060555" y="2665095"/>
            <a:ext cx="2556510" cy="1322070"/>
            <a:chOff x="0" y="0"/>
            <a:chExt cx="3408680" cy="176276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3408680" cy="1762760"/>
            </a:xfrm>
            <a:custGeom>
              <a:avLst/>
              <a:gdLst/>
              <a:ahLst/>
              <a:cxnLst/>
              <a:rect r="r" b="b" t="t" l="l"/>
              <a:pathLst>
                <a:path h="1762760" w="3408680">
                  <a:moveTo>
                    <a:pt x="0" y="148463"/>
                  </a:moveTo>
                  <a:cubicBezTo>
                    <a:pt x="0" y="66421"/>
                    <a:pt x="66421" y="0"/>
                    <a:pt x="148463" y="0"/>
                  </a:cubicBezTo>
                  <a:lnTo>
                    <a:pt x="3260217" y="0"/>
                  </a:lnTo>
                  <a:cubicBezTo>
                    <a:pt x="3342259" y="0"/>
                    <a:pt x="3408680" y="66421"/>
                    <a:pt x="3408680" y="148463"/>
                  </a:cubicBezTo>
                  <a:lnTo>
                    <a:pt x="3408680" y="1614297"/>
                  </a:lnTo>
                  <a:cubicBezTo>
                    <a:pt x="3408680" y="1696339"/>
                    <a:pt x="3342259" y="1762760"/>
                    <a:pt x="3260217" y="1762760"/>
                  </a:cubicBezTo>
                  <a:lnTo>
                    <a:pt x="148463" y="1762760"/>
                  </a:lnTo>
                  <a:cubicBezTo>
                    <a:pt x="66421" y="1762760"/>
                    <a:pt x="0" y="1696339"/>
                    <a:pt x="0" y="1614297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E0DACB"/>
              </a:solidFill>
              <a:prstDash val="solid"/>
              <a:miter/>
            </a:ln>
          </p:spPr>
        </p:sp>
      </p:grpSp>
      <p:grpSp>
        <p:nvGrpSpPr>
          <p:cNvPr name="Group 34" id="34"/>
          <p:cNvGrpSpPr/>
          <p:nvPr/>
        </p:nvGrpSpPr>
        <p:grpSpPr>
          <a:xfrm rot="0">
            <a:off x="12070080" y="2674620"/>
            <a:ext cx="2537460" cy="1303020"/>
            <a:chOff x="0" y="0"/>
            <a:chExt cx="3383280" cy="173736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3383280" cy="1737360"/>
            </a:xfrm>
            <a:custGeom>
              <a:avLst/>
              <a:gdLst/>
              <a:ahLst/>
              <a:cxnLst/>
              <a:rect r="r" b="b" t="t" l="l"/>
              <a:pathLst>
                <a:path h="1737360" w="3383280">
                  <a:moveTo>
                    <a:pt x="0" y="0"/>
                  </a:moveTo>
                  <a:lnTo>
                    <a:pt x="3383280" y="0"/>
                  </a:lnTo>
                  <a:lnTo>
                    <a:pt x="3383280" y="1737360"/>
                  </a:lnTo>
                  <a:lnTo>
                    <a:pt x="0" y="1737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5885" t="0" r="-15885" b="0"/>
              </a:stretch>
            </a:blipFill>
          </p:spPr>
        </p:sp>
        <p:sp>
          <p:nvSpPr>
            <p:cNvPr name="TextBox 36" id="36"/>
            <p:cNvSpPr txBox="true"/>
            <p:nvPr/>
          </p:nvSpPr>
          <p:spPr>
            <a:xfrm>
              <a:off x="0" y="-19050"/>
              <a:ext cx="3383280" cy="17564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93"/>
                </a:lnSpc>
              </a:pPr>
              <a:r>
                <a:rPr lang="en-US" sz="1899" b="true">
                  <a:solidFill>
                    <a:srgbClr val="1F243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Evaluate</a:t>
              </a:r>
            </a:p>
            <a:p>
              <a:pPr algn="ctr">
                <a:lnSpc>
                  <a:spcPts val="2393"/>
                </a:lnSpc>
              </a:pPr>
              <a:r>
                <a:rPr lang="en-US" sz="1899" b="true">
                  <a:solidFill>
                    <a:srgbClr val="1F243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Gate + Threshold</a:t>
              </a:r>
            </a:p>
          </p:txBody>
        </p:sp>
      </p:grpSp>
      <p:sp>
        <p:nvSpPr>
          <p:cNvPr name="AutoShape 37" id="37"/>
          <p:cNvSpPr/>
          <p:nvPr/>
        </p:nvSpPr>
        <p:spPr>
          <a:xfrm rot="323340">
            <a:off x="14592576" y="3316605"/>
            <a:ext cx="304238" cy="0"/>
          </a:xfrm>
          <a:prstGeom prst="line">
            <a:avLst/>
          </a:prstGeom>
          <a:ln cap="rnd" w="19050">
            <a:solidFill>
              <a:srgbClr val="C7BFA8"/>
            </a:solidFill>
            <a:prstDash val="solid"/>
            <a:headEnd type="none" len="sm" w="sm"/>
            <a:tailEnd type="triangle" len="med" w="lg"/>
          </a:ln>
        </p:spPr>
      </p:sp>
      <p:grpSp>
        <p:nvGrpSpPr>
          <p:cNvPr name="Group 38" id="38"/>
          <p:cNvGrpSpPr/>
          <p:nvPr/>
        </p:nvGrpSpPr>
        <p:grpSpPr>
          <a:xfrm rot="0">
            <a:off x="14872335" y="2665095"/>
            <a:ext cx="2556510" cy="1322070"/>
            <a:chOff x="0" y="0"/>
            <a:chExt cx="3408680" cy="176276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3408680" cy="1762760"/>
            </a:xfrm>
            <a:custGeom>
              <a:avLst/>
              <a:gdLst/>
              <a:ahLst/>
              <a:cxnLst/>
              <a:rect r="r" b="b" t="t" l="l"/>
              <a:pathLst>
                <a:path h="1762760" w="3408680">
                  <a:moveTo>
                    <a:pt x="0" y="148463"/>
                  </a:moveTo>
                  <a:cubicBezTo>
                    <a:pt x="0" y="66421"/>
                    <a:pt x="66421" y="0"/>
                    <a:pt x="148463" y="0"/>
                  </a:cubicBezTo>
                  <a:lnTo>
                    <a:pt x="3260217" y="0"/>
                  </a:lnTo>
                  <a:cubicBezTo>
                    <a:pt x="3342259" y="0"/>
                    <a:pt x="3408680" y="66421"/>
                    <a:pt x="3408680" y="148463"/>
                  </a:cubicBezTo>
                  <a:lnTo>
                    <a:pt x="3408680" y="1614297"/>
                  </a:lnTo>
                  <a:cubicBezTo>
                    <a:pt x="3408680" y="1696339"/>
                    <a:pt x="3342259" y="1762760"/>
                    <a:pt x="3260217" y="1762760"/>
                  </a:cubicBezTo>
                  <a:lnTo>
                    <a:pt x="148463" y="1762760"/>
                  </a:lnTo>
                  <a:cubicBezTo>
                    <a:pt x="66421" y="1762760"/>
                    <a:pt x="0" y="1696339"/>
                    <a:pt x="0" y="1614297"/>
                  </a:cubicBezTo>
                  <a:close/>
                </a:path>
              </a:pathLst>
            </a:custGeom>
            <a:solidFill>
              <a:srgbClr val="B08D3E"/>
            </a:solidFill>
            <a:ln w="19050" cap="sq">
              <a:solidFill>
                <a:srgbClr val="E0DACB"/>
              </a:solidFill>
              <a:prstDash val="solid"/>
              <a:miter/>
            </a:ln>
          </p:spPr>
        </p:sp>
      </p:grpSp>
      <p:grpSp>
        <p:nvGrpSpPr>
          <p:cNvPr name="Group 40" id="40"/>
          <p:cNvGrpSpPr/>
          <p:nvPr/>
        </p:nvGrpSpPr>
        <p:grpSpPr>
          <a:xfrm rot="0">
            <a:off x="14881860" y="2674620"/>
            <a:ext cx="2537460" cy="1303020"/>
            <a:chOff x="0" y="0"/>
            <a:chExt cx="3383280" cy="1737360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3383280" cy="1737360"/>
            </a:xfrm>
            <a:custGeom>
              <a:avLst/>
              <a:gdLst/>
              <a:ahLst/>
              <a:cxnLst/>
              <a:rect r="r" b="b" t="t" l="l"/>
              <a:pathLst>
                <a:path h="1737360" w="3383280">
                  <a:moveTo>
                    <a:pt x="0" y="0"/>
                  </a:moveTo>
                  <a:lnTo>
                    <a:pt x="3383280" y="0"/>
                  </a:lnTo>
                  <a:lnTo>
                    <a:pt x="3383280" y="1737360"/>
                  </a:lnTo>
                  <a:lnTo>
                    <a:pt x="0" y="1737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5885" t="0" r="-15885" b="0"/>
              </a:stretch>
            </a:blipFill>
          </p:spPr>
        </p:sp>
        <p:sp>
          <p:nvSpPr>
            <p:cNvPr name="TextBox 42" id="42"/>
            <p:cNvSpPr txBox="true"/>
            <p:nvPr/>
          </p:nvSpPr>
          <p:spPr>
            <a:xfrm>
              <a:off x="0" y="-19050"/>
              <a:ext cx="3383280" cy="17564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93"/>
                </a:lnSpc>
              </a:pPr>
              <a:r>
                <a:rPr lang="en-US" sz="1899" b="true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Explainable</a:t>
              </a:r>
            </a:p>
            <a:p>
              <a:pPr algn="ctr">
                <a:lnSpc>
                  <a:spcPts val="2393"/>
                </a:lnSpc>
              </a:pPr>
              <a:r>
                <a:rPr lang="en-US" sz="1899" b="true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Result</a:t>
              </a:r>
            </a:p>
          </p:txBody>
        </p:sp>
      </p:grpSp>
      <p:grpSp>
        <p:nvGrpSpPr>
          <p:cNvPr name="Group 43" id="43"/>
          <p:cNvGrpSpPr/>
          <p:nvPr/>
        </p:nvGrpSpPr>
        <p:grpSpPr>
          <a:xfrm rot="0">
            <a:off x="813435" y="4311015"/>
            <a:ext cx="8042910" cy="5250724"/>
            <a:chOff x="0" y="0"/>
            <a:chExt cx="10723880" cy="7000966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10723880" cy="7000966"/>
            </a:xfrm>
            <a:custGeom>
              <a:avLst/>
              <a:gdLst/>
              <a:ahLst/>
              <a:cxnLst/>
              <a:rect r="r" b="b" t="t" l="l"/>
              <a:pathLst>
                <a:path h="7000966" w="10723880">
                  <a:moveTo>
                    <a:pt x="0" y="155517"/>
                  </a:moveTo>
                  <a:cubicBezTo>
                    <a:pt x="0" y="69687"/>
                    <a:pt x="65786" y="0"/>
                    <a:pt x="146812" y="0"/>
                  </a:cubicBezTo>
                  <a:lnTo>
                    <a:pt x="10577068" y="0"/>
                  </a:lnTo>
                  <a:cubicBezTo>
                    <a:pt x="10658222" y="0"/>
                    <a:pt x="10723880" y="69687"/>
                    <a:pt x="10723880" y="155517"/>
                  </a:cubicBezTo>
                  <a:lnTo>
                    <a:pt x="10723880" y="6845449"/>
                  </a:lnTo>
                  <a:cubicBezTo>
                    <a:pt x="10723880" y="6931413"/>
                    <a:pt x="10658094" y="7000966"/>
                    <a:pt x="10577068" y="7000966"/>
                  </a:cubicBezTo>
                  <a:lnTo>
                    <a:pt x="146812" y="7000966"/>
                  </a:lnTo>
                  <a:cubicBezTo>
                    <a:pt x="65786" y="7000966"/>
                    <a:pt x="0" y="6931278"/>
                    <a:pt x="0" y="6845449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E6E1D3"/>
              </a:solidFill>
              <a:prstDash val="solid"/>
              <a:miter/>
            </a:ln>
          </p:spPr>
        </p:sp>
      </p:grpSp>
      <p:grpSp>
        <p:nvGrpSpPr>
          <p:cNvPr name="Group 45" id="45"/>
          <p:cNvGrpSpPr/>
          <p:nvPr/>
        </p:nvGrpSpPr>
        <p:grpSpPr>
          <a:xfrm rot="0">
            <a:off x="1303020" y="4636008"/>
            <a:ext cx="7132320" cy="480060"/>
            <a:chOff x="0" y="0"/>
            <a:chExt cx="9509760" cy="640080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9509760" cy="640080"/>
            </a:xfrm>
            <a:custGeom>
              <a:avLst/>
              <a:gdLst/>
              <a:ahLst/>
              <a:cxnLst/>
              <a:rect r="r" b="b" t="t" l="l"/>
              <a:pathLst>
                <a:path h="640080" w="9509760">
                  <a:moveTo>
                    <a:pt x="0" y="0"/>
                  </a:moveTo>
                  <a:lnTo>
                    <a:pt x="9509760" y="0"/>
                  </a:lnTo>
                  <a:lnTo>
                    <a:pt x="950976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39491" r="0" b="-239491"/>
              </a:stretch>
            </a:blipFill>
          </p:spPr>
        </p:sp>
        <p:sp>
          <p:nvSpPr>
            <p:cNvPr name="TextBox 47" id="47"/>
            <p:cNvSpPr txBox="true"/>
            <p:nvPr/>
          </p:nvSpPr>
          <p:spPr>
            <a:xfrm>
              <a:off x="0" y="-9525"/>
              <a:ext cx="9509760" cy="6496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 b="true">
                  <a:solidFill>
                    <a:srgbClr val="1F243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Diagnostic Criterion</a:t>
              </a:r>
            </a:p>
          </p:txBody>
        </p:sp>
      </p:grpSp>
      <p:grpSp>
        <p:nvGrpSpPr>
          <p:cNvPr name="Group 48" id="48"/>
          <p:cNvGrpSpPr/>
          <p:nvPr/>
        </p:nvGrpSpPr>
        <p:grpSpPr>
          <a:xfrm rot="0">
            <a:off x="1303020" y="5280660"/>
            <a:ext cx="7132320" cy="1165860"/>
            <a:chOff x="0" y="0"/>
            <a:chExt cx="9509760" cy="1554480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9509760" cy="1554480"/>
            </a:xfrm>
            <a:custGeom>
              <a:avLst/>
              <a:gdLst/>
              <a:ahLst/>
              <a:cxnLst/>
              <a:rect r="r" b="b" t="t" l="l"/>
              <a:pathLst>
                <a:path h="1554480" w="9509760">
                  <a:moveTo>
                    <a:pt x="0" y="91440"/>
                  </a:moveTo>
                  <a:cubicBezTo>
                    <a:pt x="0" y="40894"/>
                    <a:pt x="40894" y="0"/>
                    <a:pt x="91440" y="0"/>
                  </a:cubicBezTo>
                  <a:lnTo>
                    <a:pt x="9418320" y="0"/>
                  </a:lnTo>
                  <a:cubicBezTo>
                    <a:pt x="9468865" y="0"/>
                    <a:pt x="9509760" y="40894"/>
                    <a:pt x="9509760" y="91440"/>
                  </a:cubicBezTo>
                  <a:lnTo>
                    <a:pt x="9509760" y="1463040"/>
                  </a:lnTo>
                  <a:cubicBezTo>
                    <a:pt x="9509760" y="1513586"/>
                    <a:pt x="9468865" y="1554480"/>
                    <a:pt x="9418320" y="1554480"/>
                  </a:cubicBezTo>
                  <a:lnTo>
                    <a:pt x="91440" y="1554480"/>
                  </a:lnTo>
                  <a:cubicBezTo>
                    <a:pt x="40894" y="1554480"/>
                    <a:pt x="0" y="1513586"/>
                    <a:pt x="0" y="1463040"/>
                  </a:cubicBezTo>
                  <a:close/>
                </a:path>
              </a:pathLst>
            </a:custGeom>
            <a:solidFill>
              <a:srgbClr val="2B2F3D"/>
            </a:solidFill>
          </p:spPr>
        </p:sp>
      </p:grpSp>
      <p:grpSp>
        <p:nvGrpSpPr>
          <p:cNvPr name="Group 50" id="50"/>
          <p:cNvGrpSpPr/>
          <p:nvPr/>
        </p:nvGrpSpPr>
        <p:grpSpPr>
          <a:xfrm rot="0">
            <a:off x="1577340" y="5280660"/>
            <a:ext cx="6583680" cy="1165860"/>
            <a:chOff x="0" y="0"/>
            <a:chExt cx="8778240" cy="1554480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8778240" cy="1554480"/>
            </a:xfrm>
            <a:custGeom>
              <a:avLst/>
              <a:gdLst/>
              <a:ahLst/>
              <a:cxnLst/>
              <a:rect r="r" b="b" t="t" l="l"/>
              <a:pathLst>
                <a:path h="1554480" w="8778240">
                  <a:moveTo>
                    <a:pt x="0" y="0"/>
                  </a:moveTo>
                  <a:lnTo>
                    <a:pt x="8778240" y="0"/>
                  </a:lnTo>
                  <a:lnTo>
                    <a:pt x="8778240" y="1554480"/>
                  </a:lnTo>
                  <a:lnTo>
                    <a:pt x="0" y="15544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0033" r="0" b="-60033"/>
              </a:stretch>
            </a:blipFill>
          </p:spPr>
        </p:sp>
        <p:sp>
          <p:nvSpPr>
            <p:cNvPr name="TextBox 52" id="52"/>
            <p:cNvSpPr txBox="true"/>
            <p:nvPr/>
          </p:nvSpPr>
          <p:spPr>
            <a:xfrm>
              <a:off x="0" y="-57150"/>
              <a:ext cx="8778240" cy="16116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76"/>
                </a:lnSpc>
              </a:pPr>
              <a:r>
                <a:rPr lang="en-US" sz="1650" i="true">
                  <a:solidFill>
                    <a:srgbClr val="FFFFFF"/>
                  </a:solidFill>
                  <a:latin typeface="Arial Italics"/>
                  <a:ea typeface="Arial Italics"/>
                  <a:cs typeface="Arial Italics"/>
                  <a:sym typeface="Arial Italics"/>
                </a:rPr>
                <a:t>A disease d is reported when its gate symptoms G(d) are all present</a:t>
              </a:r>
            </a:p>
            <a:p>
              <a:pPr algn="l">
                <a:lnSpc>
                  <a:spcPts val="2376"/>
                </a:lnSpc>
              </a:pPr>
              <a:r>
                <a:rPr lang="en-US" sz="1650" i="true">
                  <a:solidFill>
                    <a:srgbClr val="FFFFFF"/>
                  </a:solidFill>
                  <a:latin typeface="Arial Italics"/>
                  <a:ea typeface="Arial Italics"/>
                  <a:cs typeface="Arial Italics"/>
                  <a:sym typeface="Arial Italics"/>
                </a:rPr>
                <a:t>AND at least θd of its supporting symptoms S(d) are present.</a:t>
              </a:r>
            </a:p>
          </p:txBody>
        </p:sp>
      </p:grpSp>
      <p:grpSp>
        <p:nvGrpSpPr>
          <p:cNvPr name="Group 53" id="53"/>
          <p:cNvGrpSpPr/>
          <p:nvPr/>
        </p:nvGrpSpPr>
        <p:grpSpPr>
          <a:xfrm rot="0">
            <a:off x="1303020" y="6652260"/>
            <a:ext cx="7132320" cy="1508760"/>
            <a:chOff x="0" y="0"/>
            <a:chExt cx="9509760" cy="2011680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9509760" cy="2011680"/>
            </a:xfrm>
            <a:custGeom>
              <a:avLst/>
              <a:gdLst/>
              <a:ahLst/>
              <a:cxnLst/>
              <a:rect r="r" b="b" t="t" l="l"/>
              <a:pathLst>
                <a:path h="2011680" w="9509760">
                  <a:moveTo>
                    <a:pt x="0" y="0"/>
                  </a:moveTo>
                  <a:lnTo>
                    <a:pt x="9509760" y="0"/>
                  </a:lnTo>
                  <a:lnTo>
                    <a:pt x="9509760" y="2011680"/>
                  </a:lnTo>
                  <a:lnTo>
                    <a:pt x="0" y="20116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2111" r="0" b="-42111"/>
              </a:stretch>
            </a:blipFill>
          </p:spPr>
        </p:sp>
        <p:sp>
          <p:nvSpPr>
            <p:cNvPr name="TextBox 55" id="55"/>
            <p:cNvSpPr txBox="true"/>
            <p:nvPr/>
          </p:nvSpPr>
          <p:spPr>
            <a:xfrm>
              <a:off x="0" y="-66675"/>
              <a:ext cx="9509760" cy="207835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87"/>
                </a:lnSpc>
              </a:pPr>
              <a:r>
                <a:rPr lang="en-US" sz="1725">
                  <a:solidFill>
                    <a:srgbClr val="666B78"/>
                  </a:solidFill>
                  <a:latin typeface="Arial"/>
                  <a:ea typeface="Arial"/>
                  <a:cs typeface="Arial"/>
                  <a:sym typeface="Arial"/>
                </a:rPr>
                <a:t>Example — Tuberculosis: gate = {normal fever, chest pain, fatigue, chills}, supporting set has 4 symptoms, θ = 2. The gate keeps the branch specific; the threshold stops a diagnosis being issued on one generic symptom.</a:t>
              </a:r>
            </a:p>
          </p:txBody>
        </p:sp>
      </p:grpSp>
      <p:grpSp>
        <p:nvGrpSpPr>
          <p:cNvPr name="Group 56" id="56"/>
          <p:cNvGrpSpPr/>
          <p:nvPr/>
        </p:nvGrpSpPr>
        <p:grpSpPr>
          <a:xfrm rot="0">
            <a:off x="1303020" y="8229600"/>
            <a:ext cx="7132320" cy="822960"/>
            <a:chOff x="0" y="0"/>
            <a:chExt cx="9509760" cy="1097280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9509760" cy="1097280"/>
            </a:xfrm>
            <a:custGeom>
              <a:avLst/>
              <a:gdLst/>
              <a:ahLst/>
              <a:cxnLst/>
              <a:rect r="r" b="b" t="t" l="l"/>
              <a:pathLst>
                <a:path h="1097280" w="9509760">
                  <a:moveTo>
                    <a:pt x="0" y="0"/>
                  </a:moveTo>
                  <a:lnTo>
                    <a:pt x="9509760" y="0"/>
                  </a:lnTo>
                  <a:lnTo>
                    <a:pt x="950976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8870" r="0" b="-118870"/>
              </a:stretch>
            </a:blipFill>
          </p:spPr>
        </p:sp>
        <p:sp>
          <p:nvSpPr>
            <p:cNvPr name="TextBox 58" id="58"/>
            <p:cNvSpPr txBox="true"/>
            <p:nvPr/>
          </p:nvSpPr>
          <p:spPr>
            <a:xfrm>
              <a:off x="0" y="-66675"/>
              <a:ext cx="9509760" cy="116395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87"/>
                </a:lnSpc>
              </a:pPr>
              <a:r>
                <a:rPr lang="en-US" sz="1725">
                  <a:solidFill>
                    <a:srgbClr val="666B78"/>
                  </a:solidFill>
                  <a:latin typeface="Arial"/>
                  <a:ea typeface="Arial"/>
                  <a:cs typeface="Arial"/>
                  <a:sym typeface="Arial"/>
                </a:rPr>
                <a:t>Example — Dengue: high fever gate, 7-symptom supporting set, θ = 5.</a:t>
              </a:r>
            </a:p>
          </p:txBody>
        </p:sp>
      </p:grpSp>
      <p:grpSp>
        <p:nvGrpSpPr>
          <p:cNvPr name="Group 59" id="59"/>
          <p:cNvGrpSpPr/>
          <p:nvPr/>
        </p:nvGrpSpPr>
        <p:grpSpPr>
          <a:xfrm rot="0">
            <a:off x="9111615" y="4311015"/>
            <a:ext cx="8317230" cy="5250724"/>
            <a:chOff x="0" y="0"/>
            <a:chExt cx="11089640" cy="7000966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11089640" cy="7000966"/>
            </a:xfrm>
            <a:custGeom>
              <a:avLst/>
              <a:gdLst/>
              <a:ahLst/>
              <a:cxnLst/>
              <a:rect r="r" b="b" t="t" l="l"/>
              <a:pathLst>
                <a:path h="7000966" w="11089640">
                  <a:moveTo>
                    <a:pt x="0" y="155517"/>
                  </a:moveTo>
                  <a:cubicBezTo>
                    <a:pt x="0" y="69687"/>
                    <a:pt x="65786" y="0"/>
                    <a:pt x="146812" y="0"/>
                  </a:cubicBezTo>
                  <a:lnTo>
                    <a:pt x="10942828" y="0"/>
                  </a:lnTo>
                  <a:cubicBezTo>
                    <a:pt x="11023981" y="0"/>
                    <a:pt x="11089640" y="69687"/>
                    <a:pt x="11089640" y="155517"/>
                  </a:cubicBezTo>
                  <a:lnTo>
                    <a:pt x="11089640" y="6845449"/>
                  </a:lnTo>
                  <a:cubicBezTo>
                    <a:pt x="11089640" y="6931413"/>
                    <a:pt x="11023854" y="7000966"/>
                    <a:pt x="10942828" y="7000966"/>
                  </a:cubicBezTo>
                  <a:lnTo>
                    <a:pt x="146812" y="7000966"/>
                  </a:lnTo>
                  <a:cubicBezTo>
                    <a:pt x="65786" y="7000966"/>
                    <a:pt x="0" y="6931278"/>
                    <a:pt x="0" y="6845449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E6E1D3"/>
              </a:solidFill>
              <a:prstDash val="solid"/>
              <a:miter/>
            </a:ln>
          </p:spPr>
        </p:sp>
      </p:grpSp>
      <p:grpSp>
        <p:nvGrpSpPr>
          <p:cNvPr name="Group 61" id="61"/>
          <p:cNvGrpSpPr/>
          <p:nvPr/>
        </p:nvGrpSpPr>
        <p:grpSpPr>
          <a:xfrm rot="0">
            <a:off x="9601200" y="4636008"/>
            <a:ext cx="7543800" cy="480060"/>
            <a:chOff x="0" y="0"/>
            <a:chExt cx="10058400" cy="640080"/>
          </a:xfrm>
        </p:grpSpPr>
        <p:sp>
          <p:nvSpPr>
            <p:cNvPr name="Freeform 62" id="62"/>
            <p:cNvSpPr/>
            <p:nvPr/>
          </p:nvSpPr>
          <p:spPr>
            <a:xfrm flipH="false" flipV="false" rot="0">
              <a:off x="0" y="0"/>
              <a:ext cx="10058400" cy="640080"/>
            </a:xfrm>
            <a:custGeom>
              <a:avLst/>
              <a:gdLst/>
              <a:ahLst/>
              <a:cxnLst/>
              <a:rect r="r" b="b" t="t" l="l"/>
              <a:pathLst>
                <a:path h="640080" w="10058400">
                  <a:moveTo>
                    <a:pt x="0" y="0"/>
                  </a:moveTo>
                  <a:lnTo>
                    <a:pt x="10058400" y="0"/>
                  </a:lnTo>
                  <a:lnTo>
                    <a:pt x="1005840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56193" r="0" b="-256193"/>
              </a:stretch>
            </a:blipFill>
          </p:spPr>
        </p:sp>
        <p:sp>
          <p:nvSpPr>
            <p:cNvPr name="TextBox 63" id="63"/>
            <p:cNvSpPr txBox="true"/>
            <p:nvPr/>
          </p:nvSpPr>
          <p:spPr>
            <a:xfrm>
              <a:off x="0" y="-9525"/>
              <a:ext cx="10058400" cy="6496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 b="true">
                  <a:solidFill>
                    <a:srgbClr val="1F243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Salience Resolves Shared Branches</a:t>
              </a:r>
            </a:p>
          </p:txBody>
        </p:sp>
      </p:grpSp>
      <p:grpSp>
        <p:nvGrpSpPr>
          <p:cNvPr name="Group 64" id="64"/>
          <p:cNvGrpSpPr/>
          <p:nvPr/>
        </p:nvGrpSpPr>
        <p:grpSpPr>
          <a:xfrm rot="0">
            <a:off x="9601200" y="5212080"/>
            <a:ext cx="7543800" cy="960120"/>
            <a:chOff x="0" y="0"/>
            <a:chExt cx="10058400" cy="1280160"/>
          </a:xfrm>
        </p:grpSpPr>
        <p:sp>
          <p:nvSpPr>
            <p:cNvPr name="Freeform 65" id="65"/>
            <p:cNvSpPr/>
            <p:nvPr/>
          </p:nvSpPr>
          <p:spPr>
            <a:xfrm flipH="false" flipV="false" rot="0">
              <a:off x="0" y="0"/>
              <a:ext cx="10058400" cy="1280160"/>
            </a:xfrm>
            <a:custGeom>
              <a:avLst/>
              <a:gdLst/>
              <a:ahLst/>
              <a:cxnLst/>
              <a:rect r="r" b="b" t="t" l="l"/>
              <a:pathLst>
                <a:path h="1280160" w="10058400">
                  <a:moveTo>
                    <a:pt x="0" y="0"/>
                  </a:moveTo>
                  <a:lnTo>
                    <a:pt x="10058400" y="0"/>
                  </a:lnTo>
                  <a:lnTo>
                    <a:pt x="10058400" y="1280160"/>
                  </a:lnTo>
                  <a:lnTo>
                    <a:pt x="0" y="12801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3096" r="0" b="-103096"/>
              </a:stretch>
            </a:blipFill>
          </p:spPr>
        </p:sp>
        <p:sp>
          <p:nvSpPr>
            <p:cNvPr name="TextBox 66" id="66"/>
            <p:cNvSpPr txBox="true"/>
            <p:nvPr/>
          </p:nvSpPr>
          <p:spPr>
            <a:xfrm>
              <a:off x="0" y="-57150"/>
              <a:ext cx="10058400" cy="13373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84"/>
                </a:lnSpc>
              </a:pPr>
              <a:r>
                <a:rPr lang="en-US" sz="1725">
                  <a:solidFill>
                    <a:srgbClr val="666B78"/>
                  </a:solidFill>
                  <a:latin typeface="Arial"/>
                  <a:ea typeface="Arial"/>
                  <a:cs typeface="Arial"/>
                  <a:sym typeface="Arial"/>
                </a:rPr>
                <a:t>Several diseases live in the same question branch. Salience orders which is tested first, so the more specific disease is offered before the general one.</a:t>
              </a:r>
            </a:p>
          </p:txBody>
        </p:sp>
      </p:grpSp>
      <p:grpSp>
        <p:nvGrpSpPr>
          <p:cNvPr name="Group 67" id="67"/>
          <p:cNvGrpSpPr/>
          <p:nvPr/>
        </p:nvGrpSpPr>
        <p:grpSpPr>
          <a:xfrm rot="0">
            <a:off x="9601200" y="6309360"/>
            <a:ext cx="7338060" cy="850392"/>
            <a:chOff x="0" y="0"/>
            <a:chExt cx="9784080" cy="1133856"/>
          </a:xfrm>
        </p:grpSpPr>
        <p:sp>
          <p:nvSpPr>
            <p:cNvPr name="Freeform 68" id="68"/>
            <p:cNvSpPr/>
            <p:nvPr/>
          </p:nvSpPr>
          <p:spPr>
            <a:xfrm flipH="false" flipV="false" rot="0">
              <a:off x="0" y="0"/>
              <a:ext cx="9784080" cy="1133856"/>
            </a:xfrm>
            <a:custGeom>
              <a:avLst/>
              <a:gdLst/>
              <a:ahLst/>
              <a:cxnLst/>
              <a:rect r="r" b="b" t="t" l="l"/>
              <a:pathLst>
                <a:path h="1133856" w="9784080">
                  <a:moveTo>
                    <a:pt x="0" y="91440"/>
                  </a:moveTo>
                  <a:cubicBezTo>
                    <a:pt x="0" y="40894"/>
                    <a:pt x="40894" y="0"/>
                    <a:pt x="91440" y="0"/>
                  </a:cubicBezTo>
                  <a:lnTo>
                    <a:pt x="9692640" y="0"/>
                  </a:lnTo>
                  <a:cubicBezTo>
                    <a:pt x="9743186" y="0"/>
                    <a:pt x="9784080" y="40894"/>
                    <a:pt x="9784080" y="91440"/>
                  </a:cubicBezTo>
                  <a:lnTo>
                    <a:pt x="9784080" y="1042416"/>
                  </a:lnTo>
                  <a:cubicBezTo>
                    <a:pt x="9784080" y="1092962"/>
                    <a:pt x="9743186" y="1133856"/>
                    <a:pt x="9692640" y="1133856"/>
                  </a:cubicBezTo>
                  <a:lnTo>
                    <a:pt x="91440" y="1133856"/>
                  </a:lnTo>
                  <a:cubicBezTo>
                    <a:pt x="40894" y="1133856"/>
                    <a:pt x="0" y="1092962"/>
                    <a:pt x="0" y="1042416"/>
                  </a:cubicBezTo>
                  <a:close/>
                </a:path>
              </a:pathLst>
            </a:custGeom>
            <a:solidFill>
              <a:srgbClr val="F8F2E3"/>
            </a:solidFill>
          </p:spPr>
        </p:sp>
      </p:grpSp>
      <p:grpSp>
        <p:nvGrpSpPr>
          <p:cNvPr name="Group 69" id="69"/>
          <p:cNvGrpSpPr/>
          <p:nvPr/>
        </p:nvGrpSpPr>
        <p:grpSpPr>
          <a:xfrm rot="0">
            <a:off x="9806940" y="6391656"/>
            <a:ext cx="1920240" cy="685800"/>
            <a:chOff x="0" y="0"/>
            <a:chExt cx="2560320" cy="914400"/>
          </a:xfrm>
        </p:grpSpPr>
        <p:sp>
          <p:nvSpPr>
            <p:cNvPr name="Freeform 70" id="70"/>
            <p:cNvSpPr/>
            <p:nvPr/>
          </p:nvSpPr>
          <p:spPr>
            <a:xfrm flipH="false" flipV="false" rot="0">
              <a:off x="0" y="0"/>
              <a:ext cx="2560320" cy="914400"/>
            </a:xfrm>
            <a:custGeom>
              <a:avLst/>
              <a:gdLst/>
              <a:ahLst/>
              <a:cxnLst/>
              <a:rect r="r" b="b" t="t" l="l"/>
              <a:pathLst>
                <a:path h="914400" w="2560320">
                  <a:moveTo>
                    <a:pt x="0" y="0"/>
                  </a:moveTo>
                  <a:lnTo>
                    <a:pt x="2560320" y="0"/>
                  </a:lnTo>
                  <a:lnTo>
                    <a:pt x="256032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558" r="0" b="-4558"/>
              </a:stretch>
            </a:blipFill>
          </p:spPr>
        </p:sp>
        <p:sp>
          <p:nvSpPr>
            <p:cNvPr name="TextBox 71" id="71"/>
            <p:cNvSpPr txBox="true"/>
            <p:nvPr/>
          </p:nvSpPr>
          <p:spPr>
            <a:xfrm>
              <a:off x="0" y="-9525"/>
              <a:ext cx="2560320" cy="9239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89"/>
                </a:lnSpc>
              </a:pPr>
              <a:r>
                <a:rPr lang="en-US" sz="1575" b="true">
                  <a:solidFill>
                    <a:srgbClr val="B08D3E"/>
                  </a:solidFill>
                  <a:latin typeface="Arial Bold"/>
                  <a:ea typeface="Arial Bold"/>
                  <a:cs typeface="Arial Bold"/>
                  <a:sym typeface="Arial Bold"/>
                </a:rPr>
                <a:t>High fever</a:t>
              </a:r>
            </a:p>
          </p:txBody>
        </p:sp>
      </p:grpSp>
      <p:grpSp>
        <p:nvGrpSpPr>
          <p:cNvPr name="Group 72" id="72"/>
          <p:cNvGrpSpPr/>
          <p:nvPr/>
        </p:nvGrpSpPr>
        <p:grpSpPr>
          <a:xfrm rot="0">
            <a:off x="11198039" y="6391656"/>
            <a:ext cx="5535481" cy="685800"/>
            <a:chOff x="0" y="0"/>
            <a:chExt cx="7380641" cy="914400"/>
          </a:xfrm>
        </p:grpSpPr>
        <p:sp>
          <p:nvSpPr>
            <p:cNvPr name="Freeform 73" id="73"/>
            <p:cNvSpPr/>
            <p:nvPr/>
          </p:nvSpPr>
          <p:spPr>
            <a:xfrm flipH="false" flipV="false" rot="0">
              <a:off x="0" y="0"/>
              <a:ext cx="7380642" cy="914400"/>
            </a:xfrm>
            <a:custGeom>
              <a:avLst/>
              <a:gdLst/>
              <a:ahLst/>
              <a:cxnLst/>
              <a:rect r="r" b="b" t="t" l="l"/>
              <a:pathLst>
                <a:path h="914400" w="7380642">
                  <a:moveTo>
                    <a:pt x="0" y="0"/>
                  </a:moveTo>
                  <a:lnTo>
                    <a:pt x="7380642" y="0"/>
                  </a:lnTo>
                  <a:lnTo>
                    <a:pt x="7380642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0292" r="10798" b="-90292"/>
              </a:stretch>
            </a:blipFill>
          </p:spPr>
        </p:sp>
        <p:sp>
          <p:nvSpPr>
            <p:cNvPr name="TextBox 74" id="74"/>
            <p:cNvSpPr txBox="true"/>
            <p:nvPr/>
          </p:nvSpPr>
          <p:spPr>
            <a:xfrm>
              <a:off x="0" y="-19050"/>
              <a:ext cx="7380641" cy="9334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1F2430"/>
                  </a:solidFill>
                  <a:latin typeface="Arial"/>
                  <a:ea typeface="Arial"/>
                  <a:cs typeface="Arial"/>
                  <a:sym typeface="Arial"/>
                </a:rPr>
                <a:t>Dengue (0) → Typhoid (–10) → Chikungunya (–20)</a:t>
              </a:r>
            </a:p>
          </p:txBody>
        </p:sp>
      </p:grpSp>
      <p:grpSp>
        <p:nvGrpSpPr>
          <p:cNvPr name="Group 75" id="75"/>
          <p:cNvGrpSpPr/>
          <p:nvPr/>
        </p:nvGrpSpPr>
        <p:grpSpPr>
          <a:xfrm rot="0">
            <a:off x="9601200" y="7324344"/>
            <a:ext cx="7338060" cy="850392"/>
            <a:chOff x="0" y="0"/>
            <a:chExt cx="9784080" cy="1133856"/>
          </a:xfrm>
        </p:grpSpPr>
        <p:sp>
          <p:nvSpPr>
            <p:cNvPr name="Freeform 76" id="76"/>
            <p:cNvSpPr/>
            <p:nvPr/>
          </p:nvSpPr>
          <p:spPr>
            <a:xfrm flipH="false" flipV="false" rot="0">
              <a:off x="0" y="0"/>
              <a:ext cx="9784080" cy="1133856"/>
            </a:xfrm>
            <a:custGeom>
              <a:avLst/>
              <a:gdLst/>
              <a:ahLst/>
              <a:cxnLst/>
              <a:rect r="r" b="b" t="t" l="l"/>
              <a:pathLst>
                <a:path h="1133856" w="9784080">
                  <a:moveTo>
                    <a:pt x="0" y="91440"/>
                  </a:moveTo>
                  <a:cubicBezTo>
                    <a:pt x="0" y="40894"/>
                    <a:pt x="40894" y="0"/>
                    <a:pt x="91440" y="0"/>
                  </a:cubicBezTo>
                  <a:lnTo>
                    <a:pt x="9692640" y="0"/>
                  </a:lnTo>
                  <a:cubicBezTo>
                    <a:pt x="9743186" y="0"/>
                    <a:pt x="9784080" y="40894"/>
                    <a:pt x="9784080" y="91440"/>
                  </a:cubicBezTo>
                  <a:lnTo>
                    <a:pt x="9784080" y="1042416"/>
                  </a:lnTo>
                  <a:cubicBezTo>
                    <a:pt x="9784080" y="1092962"/>
                    <a:pt x="9743186" y="1133856"/>
                    <a:pt x="9692640" y="1133856"/>
                  </a:cubicBezTo>
                  <a:lnTo>
                    <a:pt x="91440" y="1133856"/>
                  </a:lnTo>
                  <a:cubicBezTo>
                    <a:pt x="40894" y="1133856"/>
                    <a:pt x="0" y="1092962"/>
                    <a:pt x="0" y="1042416"/>
                  </a:cubicBezTo>
                  <a:close/>
                </a:path>
              </a:pathLst>
            </a:custGeom>
            <a:solidFill>
              <a:srgbClr val="F8F2E3"/>
            </a:solidFill>
          </p:spPr>
        </p:sp>
      </p:grpSp>
      <p:grpSp>
        <p:nvGrpSpPr>
          <p:cNvPr name="Group 77" id="77"/>
          <p:cNvGrpSpPr/>
          <p:nvPr/>
        </p:nvGrpSpPr>
        <p:grpSpPr>
          <a:xfrm rot="0">
            <a:off x="9806940" y="7406640"/>
            <a:ext cx="1920240" cy="685800"/>
            <a:chOff x="0" y="0"/>
            <a:chExt cx="2560320" cy="914400"/>
          </a:xfrm>
        </p:grpSpPr>
        <p:sp>
          <p:nvSpPr>
            <p:cNvPr name="Freeform 78" id="78"/>
            <p:cNvSpPr/>
            <p:nvPr/>
          </p:nvSpPr>
          <p:spPr>
            <a:xfrm flipH="false" flipV="false" rot="0">
              <a:off x="0" y="0"/>
              <a:ext cx="2560320" cy="914400"/>
            </a:xfrm>
            <a:custGeom>
              <a:avLst/>
              <a:gdLst/>
              <a:ahLst/>
              <a:cxnLst/>
              <a:rect r="r" b="b" t="t" l="l"/>
              <a:pathLst>
                <a:path h="914400" w="2560320">
                  <a:moveTo>
                    <a:pt x="0" y="0"/>
                  </a:moveTo>
                  <a:lnTo>
                    <a:pt x="2560320" y="0"/>
                  </a:lnTo>
                  <a:lnTo>
                    <a:pt x="256032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558" r="0" b="-4558"/>
              </a:stretch>
            </a:blipFill>
          </p:spPr>
        </p:sp>
        <p:sp>
          <p:nvSpPr>
            <p:cNvPr name="TextBox 79" id="79"/>
            <p:cNvSpPr txBox="true"/>
            <p:nvPr/>
          </p:nvSpPr>
          <p:spPr>
            <a:xfrm>
              <a:off x="0" y="-9525"/>
              <a:ext cx="2560320" cy="9239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89"/>
                </a:lnSpc>
              </a:pPr>
              <a:r>
                <a:rPr lang="en-US" sz="1575" b="true">
                  <a:solidFill>
                    <a:srgbClr val="B08D3E"/>
                  </a:solidFill>
                  <a:latin typeface="Arial Bold"/>
                  <a:ea typeface="Arial Bold"/>
                  <a:cs typeface="Arial Bold"/>
                  <a:sym typeface="Arial Bold"/>
                </a:rPr>
                <a:t>Low fever</a:t>
              </a:r>
            </a:p>
          </p:txBody>
        </p:sp>
      </p:grpSp>
      <p:grpSp>
        <p:nvGrpSpPr>
          <p:cNvPr name="Group 80" id="80"/>
          <p:cNvGrpSpPr/>
          <p:nvPr/>
        </p:nvGrpSpPr>
        <p:grpSpPr>
          <a:xfrm rot="0">
            <a:off x="11198039" y="7406640"/>
            <a:ext cx="5535481" cy="685800"/>
            <a:chOff x="0" y="0"/>
            <a:chExt cx="7380641" cy="914400"/>
          </a:xfrm>
        </p:grpSpPr>
        <p:sp>
          <p:nvSpPr>
            <p:cNvPr name="Freeform 81" id="81"/>
            <p:cNvSpPr/>
            <p:nvPr/>
          </p:nvSpPr>
          <p:spPr>
            <a:xfrm flipH="false" flipV="false" rot="0">
              <a:off x="0" y="0"/>
              <a:ext cx="7380642" cy="914400"/>
            </a:xfrm>
            <a:custGeom>
              <a:avLst/>
              <a:gdLst/>
              <a:ahLst/>
              <a:cxnLst/>
              <a:rect r="r" b="b" t="t" l="l"/>
              <a:pathLst>
                <a:path h="914400" w="7380642">
                  <a:moveTo>
                    <a:pt x="0" y="0"/>
                  </a:moveTo>
                  <a:lnTo>
                    <a:pt x="7380642" y="0"/>
                  </a:lnTo>
                  <a:lnTo>
                    <a:pt x="7380642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0292" r="10798" b="-90292"/>
              </a:stretch>
            </a:blipFill>
          </p:spPr>
        </p:sp>
        <p:sp>
          <p:nvSpPr>
            <p:cNvPr name="TextBox 82" id="82"/>
            <p:cNvSpPr txBox="true"/>
            <p:nvPr/>
          </p:nvSpPr>
          <p:spPr>
            <a:xfrm>
              <a:off x="0" y="-19050"/>
              <a:ext cx="7380641" cy="9334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40"/>
                </a:lnSpc>
              </a:pPr>
              <a:r>
                <a:rPr lang="en-US" sz="1700">
                  <a:solidFill>
                    <a:srgbClr val="1F2430"/>
                  </a:solidFill>
                  <a:latin typeface="Arial"/>
                  <a:ea typeface="Arial"/>
                  <a:cs typeface="Arial"/>
                  <a:sym typeface="Arial"/>
                </a:rPr>
                <a:t>Bronchitis (0) → Sinusitis (–10) → Common cold (–20)</a:t>
              </a:r>
            </a:p>
          </p:txBody>
        </p:sp>
      </p:grpSp>
      <p:grpSp>
        <p:nvGrpSpPr>
          <p:cNvPr name="Group 83" id="83"/>
          <p:cNvGrpSpPr/>
          <p:nvPr/>
        </p:nvGrpSpPr>
        <p:grpSpPr>
          <a:xfrm rot="0">
            <a:off x="9601200" y="8339328"/>
            <a:ext cx="7338060" cy="850392"/>
            <a:chOff x="0" y="0"/>
            <a:chExt cx="9784080" cy="1133856"/>
          </a:xfrm>
        </p:grpSpPr>
        <p:sp>
          <p:nvSpPr>
            <p:cNvPr name="Freeform 84" id="84"/>
            <p:cNvSpPr/>
            <p:nvPr/>
          </p:nvSpPr>
          <p:spPr>
            <a:xfrm flipH="false" flipV="false" rot="0">
              <a:off x="0" y="0"/>
              <a:ext cx="9784080" cy="1133856"/>
            </a:xfrm>
            <a:custGeom>
              <a:avLst/>
              <a:gdLst/>
              <a:ahLst/>
              <a:cxnLst/>
              <a:rect r="r" b="b" t="t" l="l"/>
              <a:pathLst>
                <a:path h="1133856" w="9784080">
                  <a:moveTo>
                    <a:pt x="0" y="91440"/>
                  </a:moveTo>
                  <a:cubicBezTo>
                    <a:pt x="0" y="40894"/>
                    <a:pt x="40894" y="0"/>
                    <a:pt x="91440" y="0"/>
                  </a:cubicBezTo>
                  <a:lnTo>
                    <a:pt x="9692640" y="0"/>
                  </a:lnTo>
                  <a:cubicBezTo>
                    <a:pt x="9743186" y="0"/>
                    <a:pt x="9784080" y="40894"/>
                    <a:pt x="9784080" y="91440"/>
                  </a:cubicBezTo>
                  <a:lnTo>
                    <a:pt x="9784080" y="1042416"/>
                  </a:lnTo>
                  <a:cubicBezTo>
                    <a:pt x="9784080" y="1092962"/>
                    <a:pt x="9743186" y="1133856"/>
                    <a:pt x="9692640" y="1133856"/>
                  </a:cubicBezTo>
                  <a:lnTo>
                    <a:pt x="91440" y="1133856"/>
                  </a:lnTo>
                  <a:cubicBezTo>
                    <a:pt x="40894" y="1133856"/>
                    <a:pt x="0" y="1092962"/>
                    <a:pt x="0" y="1042416"/>
                  </a:cubicBezTo>
                  <a:close/>
                </a:path>
              </a:pathLst>
            </a:custGeom>
            <a:solidFill>
              <a:srgbClr val="F8F2E3"/>
            </a:solidFill>
          </p:spPr>
        </p:sp>
      </p:grpSp>
      <p:grpSp>
        <p:nvGrpSpPr>
          <p:cNvPr name="Group 85" id="85"/>
          <p:cNvGrpSpPr/>
          <p:nvPr/>
        </p:nvGrpSpPr>
        <p:grpSpPr>
          <a:xfrm rot="0">
            <a:off x="9806940" y="8421624"/>
            <a:ext cx="1920240" cy="685800"/>
            <a:chOff x="0" y="0"/>
            <a:chExt cx="2560320" cy="914400"/>
          </a:xfrm>
        </p:grpSpPr>
        <p:sp>
          <p:nvSpPr>
            <p:cNvPr name="Freeform 86" id="86"/>
            <p:cNvSpPr/>
            <p:nvPr/>
          </p:nvSpPr>
          <p:spPr>
            <a:xfrm flipH="false" flipV="false" rot="0">
              <a:off x="0" y="0"/>
              <a:ext cx="2560320" cy="914400"/>
            </a:xfrm>
            <a:custGeom>
              <a:avLst/>
              <a:gdLst/>
              <a:ahLst/>
              <a:cxnLst/>
              <a:rect r="r" b="b" t="t" l="l"/>
              <a:pathLst>
                <a:path h="914400" w="2560320">
                  <a:moveTo>
                    <a:pt x="0" y="0"/>
                  </a:moveTo>
                  <a:lnTo>
                    <a:pt x="2560320" y="0"/>
                  </a:lnTo>
                  <a:lnTo>
                    <a:pt x="256032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558" r="0" b="-4558"/>
              </a:stretch>
            </a:blipFill>
          </p:spPr>
        </p:sp>
        <p:sp>
          <p:nvSpPr>
            <p:cNvPr name="TextBox 87" id="87"/>
            <p:cNvSpPr txBox="true"/>
            <p:nvPr/>
          </p:nvSpPr>
          <p:spPr>
            <a:xfrm>
              <a:off x="0" y="-9525"/>
              <a:ext cx="2560320" cy="9239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89"/>
                </a:lnSpc>
              </a:pPr>
              <a:r>
                <a:rPr lang="en-US" sz="1575" b="true">
                  <a:solidFill>
                    <a:srgbClr val="B08D3E"/>
                  </a:solidFill>
                  <a:latin typeface="Arial Bold"/>
                  <a:ea typeface="Arial Bold"/>
                  <a:cs typeface="Arial Bold"/>
                  <a:sym typeface="Arial Bold"/>
                </a:rPr>
                <a:t>Breathlessness</a:t>
              </a:r>
            </a:p>
          </p:txBody>
        </p:sp>
      </p:grpSp>
      <p:grpSp>
        <p:nvGrpSpPr>
          <p:cNvPr name="Group 88" id="88"/>
          <p:cNvGrpSpPr/>
          <p:nvPr/>
        </p:nvGrpSpPr>
        <p:grpSpPr>
          <a:xfrm rot="0">
            <a:off x="11386793" y="8421624"/>
            <a:ext cx="5346727" cy="685800"/>
            <a:chOff x="0" y="0"/>
            <a:chExt cx="7128969" cy="914400"/>
          </a:xfrm>
        </p:grpSpPr>
        <p:sp>
          <p:nvSpPr>
            <p:cNvPr name="Freeform 89" id="89"/>
            <p:cNvSpPr/>
            <p:nvPr/>
          </p:nvSpPr>
          <p:spPr>
            <a:xfrm flipH="false" flipV="false" rot="0">
              <a:off x="0" y="0"/>
              <a:ext cx="7128970" cy="914400"/>
            </a:xfrm>
            <a:custGeom>
              <a:avLst/>
              <a:gdLst/>
              <a:ahLst/>
              <a:cxnLst/>
              <a:rect r="r" b="b" t="t" l="l"/>
              <a:pathLst>
                <a:path h="914400" w="7128970">
                  <a:moveTo>
                    <a:pt x="0" y="0"/>
                  </a:moveTo>
                  <a:lnTo>
                    <a:pt x="7128970" y="0"/>
                  </a:lnTo>
                  <a:lnTo>
                    <a:pt x="712897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0292" r="7648" b="-90292"/>
              </a:stretch>
            </a:blipFill>
          </p:spPr>
        </p:sp>
        <p:sp>
          <p:nvSpPr>
            <p:cNvPr name="TextBox 90" id="90"/>
            <p:cNvSpPr txBox="true"/>
            <p:nvPr/>
          </p:nvSpPr>
          <p:spPr>
            <a:xfrm>
              <a:off x="0" y="-9525"/>
              <a:ext cx="7128969" cy="9239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1F2430"/>
                  </a:solidFill>
                  <a:latin typeface="Arial"/>
                  <a:ea typeface="Arial"/>
                  <a:cs typeface="Arial"/>
                  <a:sym typeface="Arial"/>
                </a:rPr>
                <a:t>Asthma (0) → COPD (–10)</a:t>
              </a:r>
            </a:p>
          </p:txBody>
        </p:sp>
      </p:grpSp>
      <p:grpSp>
        <p:nvGrpSpPr>
          <p:cNvPr name="Group 91" id="91"/>
          <p:cNvGrpSpPr/>
          <p:nvPr/>
        </p:nvGrpSpPr>
        <p:grpSpPr>
          <a:xfrm rot="0">
            <a:off x="685800" y="9848088"/>
            <a:ext cx="9601200" cy="384048"/>
            <a:chOff x="0" y="0"/>
            <a:chExt cx="12801600" cy="512064"/>
          </a:xfrm>
        </p:grpSpPr>
        <p:sp>
          <p:nvSpPr>
            <p:cNvPr name="Freeform 92" id="92"/>
            <p:cNvSpPr/>
            <p:nvPr/>
          </p:nvSpPr>
          <p:spPr>
            <a:xfrm flipH="false" flipV="false" rot="0">
              <a:off x="0" y="0"/>
              <a:ext cx="12801600" cy="512064"/>
            </a:xfrm>
            <a:custGeom>
              <a:avLst/>
              <a:gdLst/>
              <a:ahLst/>
              <a:cxnLst/>
              <a:rect r="r" b="b" t="t" l="l"/>
              <a:pathLst>
                <a:path h="512064" w="12801600">
                  <a:moveTo>
                    <a:pt x="0" y="0"/>
                  </a:moveTo>
                  <a:lnTo>
                    <a:pt x="12801600" y="0"/>
                  </a:lnTo>
                  <a:lnTo>
                    <a:pt x="12801600" y="512064"/>
                  </a:lnTo>
                  <a:lnTo>
                    <a:pt x="0" y="5120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37125" r="0" b="-437125"/>
              </a:stretch>
            </a:blipFill>
          </p:spPr>
        </p:sp>
        <p:sp>
          <p:nvSpPr>
            <p:cNvPr name="TextBox 93" id="93"/>
            <p:cNvSpPr txBox="true"/>
            <p:nvPr/>
          </p:nvSpPr>
          <p:spPr>
            <a:xfrm>
              <a:off x="0" y="-19050"/>
              <a:ext cx="12801600" cy="53111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439"/>
                </a:lnSpc>
              </a:pPr>
              <a:r>
                <a:rPr lang="en-US" sz="1200">
                  <a:solidFill>
                    <a:srgbClr val="666B78"/>
                  </a:solidFill>
                  <a:latin typeface="Arial"/>
                  <a:ea typeface="Arial"/>
                  <a:cs typeface="Arial"/>
                  <a:sym typeface="Arial"/>
                </a:rPr>
                <a:t>Medical Diagnosis Expert System  |  CSE440</a:t>
              </a:r>
            </a:p>
          </p:txBody>
        </p:sp>
      </p:grpSp>
      <p:grpSp>
        <p:nvGrpSpPr>
          <p:cNvPr name="Group 94" id="94"/>
          <p:cNvGrpSpPr/>
          <p:nvPr/>
        </p:nvGrpSpPr>
        <p:grpSpPr>
          <a:xfrm rot="0">
            <a:off x="17145000" y="9848088"/>
            <a:ext cx="548640" cy="384048"/>
            <a:chOff x="0" y="0"/>
            <a:chExt cx="731520" cy="512064"/>
          </a:xfrm>
        </p:grpSpPr>
        <p:sp>
          <p:nvSpPr>
            <p:cNvPr name="Freeform 95" id="95"/>
            <p:cNvSpPr/>
            <p:nvPr/>
          </p:nvSpPr>
          <p:spPr>
            <a:xfrm flipH="false" flipV="false" rot="0">
              <a:off x="0" y="0"/>
              <a:ext cx="731520" cy="512064"/>
            </a:xfrm>
            <a:custGeom>
              <a:avLst/>
              <a:gdLst/>
              <a:ahLst/>
              <a:cxnLst/>
              <a:rect r="r" b="b" t="t" l="l"/>
              <a:pathLst>
                <a:path h="512064" w="731520">
                  <a:moveTo>
                    <a:pt x="0" y="0"/>
                  </a:moveTo>
                  <a:lnTo>
                    <a:pt x="731520" y="0"/>
                  </a:lnTo>
                  <a:lnTo>
                    <a:pt x="731520" y="512064"/>
                  </a:lnTo>
                  <a:lnTo>
                    <a:pt x="0" y="5120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39812" t="0" r="-39812" b="0"/>
              </a:stretch>
            </a:blipFill>
          </p:spPr>
        </p:sp>
        <p:sp>
          <p:nvSpPr>
            <p:cNvPr name="TextBox 96" id="96"/>
            <p:cNvSpPr txBox="true"/>
            <p:nvPr/>
          </p:nvSpPr>
          <p:spPr>
            <a:xfrm>
              <a:off x="0" y="-19050"/>
              <a:ext cx="731520" cy="53111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439"/>
                </a:lnSpc>
              </a:pPr>
              <a:r>
                <a:rPr lang="en-US" sz="1200">
                  <a:solidFill>
                    <a:srgbClr val="666B78"/>
                  </a:solidFill>
                  <a:latin typeface="Arial"/>
                  <a:ea typeface="Arial"/>
                  <a:cs typeface="Arial"/>
                  <a:sym typeface="Arial"/>
                </a:rPr>
                <a:t>7</a:t>
              </a:r>
            </a:p>
          </p:txBody>
        </p:sp>
      </p:grp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6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22960" y="685800"/>
            <a:ext cx="16596360" cy="822960"/>
            <a:chOff x="0" y="0"/>
            <a:chExt cx="22128480" cy="109728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2128480" cy="1097280"/>
            </a:xfrm>
            <a:custGeom>
              <a:avLst/>
              <a:gdLst/>
              <a:ahLst/>
              <a:cxnLst/>
              <a:rect r="r" b="b" t="t" l="l"/>
              <a:pathLst>
                <a:path h="1097280" w="22128480">
                  <a:moveTo>
                    <a:pt x="0" y="0"/>
                  </a:moveTo>
                  <a:lnTo>
                    <a:pt x="22128480" y="0"/>
                  </a:lnTo>
                  <a:lnTo>
                    <a:pt x="2212848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42948" r="0" b="-342948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19050"/>
              <a:ext cx="22128480" cy="11163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040"/>
                </a:lnSpc>
              </a:pPr>
              <a:r>
                <a:rPr lang="en-US" sz="4200" b="true">
                  <a:solidFill>
                    <a:srgbClr val="1F243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Implementation Overview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822960" y="1508760"/>
            <a:ext cx="16596360" cy="548640"/>
            <a:chOff x="0" y="0"/>
            <a:chExt cx="22128480" cy="73152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2128480" cy="731520"/>
            </a:xfrm>
            <a:custGeom>
              <a:avLst/>
              <a:gdLst/>
              <a:ahLst/>
              <a:cxnLst/>
              <a:rect r="r" b="b" t="t" l="l"/>
              <a:pathLst>
                <a:path h="731520" w="22128480">
                  <a:moveTo>
                    <a:pt x="0" y="0"/>
                  </a:moveTo>
                  <a:lnTo>
                    <a:pt x="22128480" y="0"/>
                  </a:lnTo>
                  <a:lnTo>
                    <a:pt x="2212848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39422" r="0" b="-539422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19050"/>
              <a:ext cx="22128480" cy="7505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sz="1950">
                  <a:solidFill>
                    <a:srgbClr val="666B78"/>
                  </a:solidFill>
                  <a:latin typeface="Arial"/>
                  <a:ea typeface="Arial"/>
                  <a:cs typeface="Arial"/>
                  <a:sym typeface="Arial"/>
                </a:rPr>
                <a:t>One rule base drives a console engine and a Flask web app through stateless replay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813435" y="2665095"/>
            <a:ext cx="8111490" cy="2967990"/>
            <a:chOff x="0" y="0"/>
            <a:chExt cx="10815320" cy="395732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0815320" cy="3957320"/>
            </a:xfrm>
            <a:custGeom>
              <a:avLst/>
              <a:gdLst/>
              <a:ahLst/>
              <a:cxnLst/>
              <a:rect r="r" b="b" t="t" l="l"/>
              <a:pathLst>
                <a:path h="3957320" w="10815320">
                  <a:moveTo>
                    <a:pt x="0" y="147193"/>
                  </a:moveTo>
                  <a:cubicBezTo>
                    <a:pt x="0" y="65913"/>
                    <a:pt x="65913" y="0"/>
                    <a:pt x="147193" y="0"/>
                  </a:cubicBezTo>
                  <a:lnTo>
                    <a:pt x="10668127" y="0"/>
                  </a:lnTo>
                  <a:cubicBezTo>
                    <a:pt x="10749407" y="0"/>
                    <a:pt x="10815320" y="65913"/>
                    <a:pt x="10815320" y="147193"/>
                  </a:cubicBezTo>
                  <a:lnTo>
                    <a:pt x="10815320" y="3810127"/>
                  </a:lnTo>
                  <a:cubicBezTo>
                    <a:pt x="10815320" y="3891407"/>
                    <a:pt x="10749407" y="3957320"/>
                    <a:pt x="10668127" y="3957320"/>
                  </a:cubicBezTo>
                  <a:lnTo>
                    <a:pt x="147193" y="3957320"/>
                  </a:lnTo>
                  <a:cubicBezTo>
                    <a:pt x="65913" y="3957320"/>
                    <a:pt x="0" y="3891407"/>
                    <a:pt x="0" y="3810127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E6E1D3"/>
              </a:solidFill>
              <a:prstDash val="solid"/>
              <a:miter/>
            </a:ln>
          </p:spPr>
        </p:sp>
      </p:grpSp>
      <p:grpSp>
        <p:nvGrpSpPr>
          <p:cNvPr name="Group 10" id="10"/>
          <p:cNvGrpSpPr/>
          <p:nvPr/>
        </p:nvGrpSpPr>
        <p:grpSpPr>
          <a:xfrm rot="0">
            <a:off x="1234440" y="3086100"/>
            <a:ext cx="617220" cy="109728"/>
            <a:chOff x="0" y="0"/>
            <a:chExt cx="822960" cy="146304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822960" cy="146304"/>
            </a:xfrm>
            <a:custGeom>
              <a:avLst/>
              <a:gdLst/>
              <a:ahLst/>
              <a:cxnLst/>
              <a:rect r="r" b="b" t="t" l="l"/>
              <a:pathLst>
                <a:path h="146304" w="822960">
                  <a:moveTo>
                    <a:pt x="0" y="0"/>
                  </a:moveTo>
                  <a:lnTo>
                    <a:pt x="822960" y="0"/>
                  </a:lnTo>
                  <a:lnTo>
                    <a:pt x="822960" y="146304"/>
                  </a:lnTo>
                  <a:lnTo>
                    <a:pt x="0" y="146304"/>
                  </a:lnTo>
                  <a:close/>
                </a:path>
              </a:pathLst>
            </a:custGeom>
            <a:solidFill>
              <a:srgbClr val="B08D3E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1234440" y="3332988"/>
            <a:ext cx="7269480" cy="548640"/>
            <a:chOff x="0" y="0"/>
            <a:chExt cx="9692640" cy="73152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9692640" cy="731520"/>
            </a:xfrm>
            <a:custGeom>
              <a:avLst/>
              <a:gdLst/>
              <a:ahLst/>
              <a:cxnLst/>
              <a:rect r="r" b="b" t="t" l="l"/>
              <a:pathLst>
                <a:path h="731520" w="9692640">
                  <a:moveTo>
                    <a:pt x="0" y="0"/>
                  </a:moveTo>
                  <a:lnTo>
                    <a:pt x="9692640" y="0"/>
                  </a:lnTo>
                  <a:lnTo>
                    <a:pt x="969264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08176" r="0" b="-208176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19050"/>
              <a:ext cx="9692640" cy="7505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39"/>
                </a:lnSpc>
              </a:pPr>
              <a:r>
                <a:rPr lang="en-US" sz="2199" b="true">
                  <a:solidFill>
                    <a:srgbClr val="1F243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Console Diagnosis Engine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234440" y="3977640"/>
            <a:ext cx="7269480" cy="1440180"/>
            <a:chOff x="0" y="0"/>
            <a:chExt cx="9692640" cy="192024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9692640" cy="1920240"/>
            </a:xfrm>
            <a:custGeom>
              <a:avLst/>
              <a:gdLst/>
              <a:ahLst/>
              <a:cxnLst/>
              <a:rect r="r" b="b" t="t" l="l"/>
              <a:pathLst>
                <a:path h="1920240" w="9692640">
                  <a:moveTo>
                    <a:pt x="0" y="0"/>
                  </a:moveTo>
                  <a:lnTo>
                    <a:pt x="9692640" y="0"/>
                  </a:lnTo>
                  <a:lnTo>
                    <a:pt x="9692640" y="1920240"/>
                  </a:lnTo>
                  <a:lnTo>
                    <a:pt x="0" y="19202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8353" r="0" b="-48353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57150"/>
              <a:ext cx="9692640" cy="19773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074"/>
                </a:lnSpc>
              </a:pPr>
              <a:r>
                <a:rPr lang="en-US" sz="2100">
                  <a:solidFill>
                    <a:srgbClr val="666B78"/>
                  </a:solidFill>
                  <a:latin typeface="Arial"/>
                  <a:ea typeface="Arial"/>
                  <a:cs typeface="Arial"/>
                  <a:sym typeface="Arial"/>
                </a:rPr>
                <a:t>expert.py holds the MedicalExpert knowledge engine with all 46 rules and prints a full terminal consultation.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9317355" y="2665095"/>
            <a:ext cx="8111490" cy="2967990"/>
            <a:chOff x="0" y="0"/>
            <a:chExt cx="10815320" cy="395732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0815320" cy="3957320"/>
            </a:xfrm>
            <a:custGeom>
              <a:avLst/>
              <a:gdLst/>
              <a:ahLst/>
              <a:cxnLst/>
              <a:rect r="r" b="b" t="t" l="l"/>
              <a:pathLst>
                <a:path h="3957320" w="10815320">
                  <a:moveTo>
                    <a:pt x="0" y="147193"/>
                  </a:moveTo>
                  <a:cubicBezTo>
                    <a:pt x="0" y="65913"/>
                    <a:pt x="65913" y="0"/>
                    <a:pt x="147193" y="0"/>
                  </a:cubicBezTo>
                  <a:lnTo>
                    <a:pt x="10668127" y="0"/>
                  </a:lnTo>
                  <a:cubicBezTo>
                    <a:pt x="10749407" y="0"/>
                    <a:pt x="10815320" y="65913"/>
                    <a:pt x="10815320" y="147193"/>
                  </a:cubicBezTo>
                  <a:lnTo>
                    <a:pt x="10815320" y="3810127"/>
                  </a:lnTo>
                  <a:cubicBezTo>
                    <a:pt x="10815320" y="3891407"/>
                    <a:pt x="10749407" y="3957320"/>
                    <a:pt x="10668127" y="3957320"/>
                  </a:cubicBezTo>
                  <a:lnTo>
                    <a:pt x="147193" y="3957320"/>
                  </a:lnTo>
                  <a:cubicBezTo>
                    <a:pt x="65913" y="3957320"/>
                    <a:pt x="0" y="3891407"/>
                    <a:pt x="0" y="3810127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E6E1D3"/>
              </a:solidFill>
              <a:prstDash val="solid"/>
              <a:miter/>
            </a:ln>
          </p:spPr>
        </p:sp>
      </p:grpSp>
      <p:grpSp>
        <p:nvGrpSpPr>
          <p:cNvPr name="Group 20" id="20"/>
          <p:cNvGrpSpPr/>
          <p:nvPr/>
        </p:nvGrpSpPr>
        <p:grpSpPr>
          <a:xfrm rot="0">
            <a:off x="9738360" y="3086100"/>
            <a:ext cx="617220" cy="109728"/>
            <a:chOff x="0" y="0"/>
            <a:chExt cx="822960" cy="146304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822960" cy="146304"/>
            </a:xfrm>
            <a:custGeom>
              <a:avLst/>
              <a:gdLst/>
              <a:ahLst/>
              <a:cxnLst/>
              <a:rect r="r" b="b" t="t" l="l"/>
              <a:pathLst>
                <a:path h="146304" w="822960">
                  <a:moveTo>
                    <a:pt x="0" y="0"/>
                  </a:moveTo>
                  <a:lnTo>
                    <a:pt x="822960" y="0"/>
                  </a:lnTo>
                  <a:lnTo>
                    <a:pt x="822960" y="146304"/>
                  </a:lnTo>
                  <a:lnTo>
                    <a:pt x="0" y="146304"/>
                  </a:lnTo>
                  <a:close/>
                </a:path>
              </a:pathLst>
            </a:custGeom>
            <a:solidFill>
              <a:srgbClr val="7A4360"/>
            </a:solid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9738360" y="3332988"/>
            <a:ext cx="7269480" cy="548640"/>
            <a:chOff x="0" y="0"/>
            <a:chExt cx="9692640" cy="73152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9692640" cy="731520"/>
            </a:xfrm>
            <a:custGeom>
              <a:avLst/>
              <a:gdLst/>
              <a:ahLst/>
              <a:cxnLst/>
              <a:rect r="r" b="b" t="t" l="l"/>
              <a:pathLst>
                <a:path h="731520" w="9692640">
                  <a:moveTo>
                    <a:pt x="0" y="0"/>
                  </a:moveTo>
                  <a:lnTo>
                    <a:pt x="9692640" y="0"/>
                  </a:lnTo>
                  <a:lnTo>
                    <a:pt x="969264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08176" r="0" b="-208176"/>
              </a:stretch>
            </a:blip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19050"/>
              <a:ext cx="9692640" cy="7505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39"/>
                </a:lnSpc>
              </a:pPr>
              <a:r>
                <a:rPr lang="en-US" sz="2199" b="true">
                  <a:solidFill>
                    <a:srgbClr val="1F243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Web-Based Interface</a:t>
              </a: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9738360" y="3977640"/>
            <a:ext cx="7269480" cy="1440180"/>
            <a:chOff x="0" y="0"/>
            <a:chExt cx="9692640" cy="192024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9692640" cy="1920240"/>
            </a:xfrm>
            <a:custGeom>
              <a:avLst/>
              <a:gdLst/>
              <a:ahLst/>
              <a:cxnLst/>
              <a:rect r="r" b="b" t="t" l="l"/>
              <a:pathLst>
                <a:path h="1920240" w="9692640">
                  <a:moveTo>
                    <a:pt x="0" y="0"/>
                  </a:moveTo>
                  <a:lnTo>
                    <a:pt x="9692640" y="0"/>
                  </a:lnTo>
                  <a:lnTo>
                    <a:pt x="9692640" y="1920240"/>
                  </a:lnTo>
                  <a:lnTo>
                    <a:pt x="0" y="19202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8353" r="0" b="-48353"/>
              </a:stretch>
            </a:blipFill>
          </p:spPr>
        </p:sp>
        <p:sp>
          <p:nvSpPr>
            <p:cNvPr name="TextBox 27" id="27"/>
            <p:cNvSpPr txBox="true"/>
            <p:nvPr/>
          </p:nvSpPr>
          <p:spPr>
            <a:xfrm>
              <a:off x="0" y="-57150"/>
              <a:ext cx="9692640" cy="19773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074"/>
                </a:lnSpc>
              </a:pPr>
              <a:r>
                <a:rPr lang="en-US" sz="2100">
                  <a:solidFill>
                    <a:srgbClr val="666B78"/>
                  </a:solidFill>
                  <a:latin typeface="Arial"/>
                  <a:ea typeface="Arial"/>
                  <a:cs typeface="Arial"/>
                  <a:sym typeface="Arial"/>
                </a:rPr>
                <a:t>web.py built in Flask. 10 routes render questions, store answers and return early predictions as HTML fragments.</a:t>
              </a: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813435" y="6025515"/>
            <a:ext cx="8111490" cy="2967990"/>
            <a:chOff x="0" y="0"/>
            <a:chExt cx="10815320" cy="395732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10815320" cy="3957320"/>
            </a:xfrm>
            <a:custGeom>
              <a:avLst/>
              <a:gdLst/>
              <a:ahLst/>
              <a:cxnLst/>
              <a:rect r="r" b="b" t="t" l="l"/>
              <a:pathLst>
                <a:path h="3957320" w="10815320">
                  <a:moveTo>
                    <a:pt x="0" y="147193"/>
                  </a:moveTo>
                  <a:cubicBezTo>
                    <a:pt x="0" y="65913"/>
                    <a:pt x="65913" y="0"/>
                    <a:pt x="147193" y="0"/>
                  </a:cubicBezTo>
                  <a:lnTo>
                    <a:pt x="10668127" y="0"/>
                  </a:lnTo>
                  <a:cubicBezTo>
                    <a:pt x="10749407" y="0"/>
                    <a:pt x="10815320" y="65913"/>
                    <a:pt x="10815320" y="147193"/>
                  </a:cubicBezTo>
                  <a:lnTo>
                    <a:pt x="10815320" y="3810127"/>
                  </a:lnTo>
                  <a:cubicBezTo>
                    <a:pt x="10815320" y="3891407"/>
                    <a:pt x="10749407" y="3957320"/>
                    <a:pt x="10668127" y="3957320"/>
                  </a:cubicBezTo>
                  <a:lnTo>
                    <a:pt x="147193" y="3957320"/>
                  </a:lnTo>
                  <a:cubicBezTo>
                    <a:pt x="65913" y="3957320"/>
                    <a:pt x="0" y="3891407"/>
                    <a:pt x="0" y="3810127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E6E1D3"/>
              </a:solidFill>
              <a:prstDash val="solid"/>
              <a:miter/>
            </a:ln>
          </p:spPr>
        </p:sp>
      </p:grpSp>
      <p:grpSp>
        <p:nvGrpSpPr>
          <p:cNvPr name="Group 30" id="30"/>
          <p:cNvGrpSpPr/>
          <p:nvPr/>
        </p:nvGrpSpPr>
        <p:grpSpPr>
          <a:xfrm rot="0">
            <a:off x="1234440" y="6446520"/>
            <a:ext cx="617220" cy="109728"/>
            <a:chOff x="0" y="0"/>
            <a:chExt cx="822960" cy="146304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822960" cy="146304"/>
            </a:xfrm>
            <a:custGeom>
              <a:avLst/>
              <a:gdLst/>
              <a:ahLst/>
              <a:cxnLst/>
              <a:rect r="r" b="b" t="t" l="l"/>
              <a:pathLst>
                <a:path h="146304" w="822960">
                  <a:moveTo>
                    <a:pt x="0" y="0"/>
                  </a:moveTo>
                  <a:lnTo>
                    <a:pt x="822960" y="0"/>
                  </a:lnTo>
                  <a:lnTo>
                    <a:pt x="822960" y="146304"/>
                  </a:lnTo>
                  <a:lnTo>
                    <a:pt x="0" y="146304"/>
                  </a:lnTo>
                  <a:close/>
                </a:path>
              </a:pathLst>
            </a:custGeom>
            <a:solidFill>
              <a:srgbClr val="2B2F3D"/>
            </a:solidFill>
          </p:spPr>
        </p:sp>
      </p:grpSp>
      <p:grpSp>
        <p:nvGrpSpPr>
          <p:cNvPr name="Group 32" id="32"/>
          <p:cNvGrpSpPr/>
          <p:nvPr/>
        </p:nvGrpSpPr>
        <p:grpSpPr>
          <a:xfrm rot="0">
            <a:off x="1234440" y="6693408"/>
            <a:ext cx="7269480" cy="548640"/>
            <a:chOff x="0" y="0"/>
            <a:chExt cx="9692640" cy="73152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9692640" cy="731520"/>
            </a:xfrm>
            <a:custGeom>
              <a:avLst/>
              <a:gdLst/>
              <a:ahLst/>
              <a:cxnLst/>
              <a:rect r="r" b="b" t="t" l="l"/>
              <a:pathLst>
                <a:path h="731520" w="9692640">
                  <a:moveTo>
                    <a:pt x="0" y="0"/>
                  </a:moveTo>
                  <a:lnTo>
                    <a:pt x="9692640" y="0"/>
                  </a:lnTo>
                  <a:lnTo>
                    <a:pt x="969264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08176" r="0" b="-208176"/>
              </a:stretch>
            </a:blipFill>
          </p:spPr>
        </p:sp>
        <p:sp>
          <p:nvSpPr>
            <p:cNvPr name="TextBox 34" id="34"/>
            <p:cNvSpPr txBox="true"/>
            <p:nvPr/>
          </p:nvSpPr>
          <p:spPr>
            <a:xfrm>
              <a:off x="0" y="-19050"/>
              <a:ext cx="9692640" cy="7505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39"/>
                </a:lnSpc>
              </a:pPr>
              <a:r>
                <a:rPr lang="en-US" sz="2199" b="true">
                  <a:solidFill>
                    <a:srgbClr val="1F243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Stateless Engine Replay</a:t>
              </a: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1234440" y="7338060"/>
            <a:ext cx="7269480" cy="1440180"/>
            <a:chOff x="0" y="0"/>
            <a:chExt cx="9692640" cy="192024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9692640" cy="1920240"/>
            </a:xfrm>
            <a:custGeom>
              <a:avLst/>
              <a:gdLst/>
              <a:ahLst/>
              <a:cxnLst/>
              <a:rect r="r" b="b" t="t" l="l"/>
              <a:pathLst>
                <a:path h="1920240" w="9692640">
                  <a:moveTo>
                    <a:pt x="0" y="0"/>
                  </a:moveTo>
                  <a:lnTo>
                    <a:pt x="9692640" y="0"/>
                  </a:lnTo>
                  <a:lnTo>
                    <a:pt x="9692640" y="1920240"/>
                  </a:lnTo>
                  <a:lnTo>
                    <a:pt x="0" y="19202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8353" r="0" b="-48353"/>
              </a:stretch>
            </a:blipFill>
          </p:spPr>
        </p:sp>
        <p:sp>
          <p:nvSpPr>
            <p:cNvPr name="TextBox 37" id="37"/>
            <p:cNvSpPr txBox="true"/>
            <p:nvPr/>
          </p:nvSpPr>
          <p:spPr>
            <a:xfrm>
              <a:off x="0" y="-57150"/>
              <a:ext cx="9692640" cy="19773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074"/>
                </a:lnSpc>
              </a:pPr>
              <a:r>
                <a:rPr lang="en-US" sz="2100">
                  <a:solidFill>
                    <a:srgbClr val="666B78"/>
                  </a:solidFill>
                  <a:latin typeface="Arial"/>
                  <a:ea typeface="Arial"/>
                  <a:cs typeface="Arial"/>
                  <a:sym typeface="Arial"/>
                </a:rPr>
                <a:t>EngineIOAdapter re-runs the console engine on every request and pauses on the first unanswered question — the web layer holds no diagnostic logic of its own.</a:t>
              </a: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9317355" y="6025515"/>
            <a:ext cx="8111490" cy="2967990"/>
            <a:chOff x="0" y="0"/>
            <a:chExt cx="10815320" cy="395732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10815320" cy="3957320"/>
            </a:xfrm>
            <a:custGeom>
              <a:avLst/>
              <a:gdLst/>
              <a:ahLst/>
              <a:cxnLst/>
              <a:rect r="r" b="b" t="t" l="l"/>
              <a:pathLst>
                <a:path h="3957320" w="10815320">
                  <a:moveTo>
                    <a:pt x="0" y="147193"/>
                  </a:moveTo>
                  <a:cubicBezTo>
                    <a:pt x="0" y="65913"/>
                    <a:pt x="65913" y="0"/>
                    <a:pt x="147193" y="0"/>
                  </a:cubicBezTo>
                  <a:lnTo>
                    <a:pt x="10668127" y="0"/>
                  </a:lnTo>
                  <a:cubicBezTo>
                    <a:pt x="10749407" y="0"/>
                    <a:pt x="10815320" y="65913"/>
                    <a:pt x="10815320" y="147193"/>
                  </a:cubicBezTo>
                  <a:lnTo>
                    <a:pt x="10815320" y="3810127"/>
                  </a:lnTo>
                  <a:cubicBezTo>
                    <a:pt x="10815320" y="3891407"/>
                    <a:pt x="10749407" y="3957320"/>
                    <a:pt x="10668127" y="3957320"/>
                  </a:cubicBezTo>
                  <a:lnTo>
                    <a:pt x="147193" y="3957320"/>
                  </a:lnTo>
                  <a:cubicBezTo>
                    <a:pt x="65913" y="3957320"/>
                    <a:pt x="0" y="3891407"/>
                    <a:pt x="0" y="3810127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E6E1D3"/>
              </a:solidFill>
              <a:prstDash val="solid"/>
              <a:miter/>
            </a:ln>
          </p:spPr>
        </p:sp>
      </p:grpSp>
      <p:grpSp>
        <p:nvGrpSpPr>
          <p:cNvPr name="Group 40" id="40"/>
          <p:cNvGrpSpPr/>
          <p:nvPr/>
        </p:nvGrpSpPr>
        <p:grpSpPr>
          <a:xfrm rot="0">
            <a:off x="9738360" y="6446520"/>
            <a:ext cx="617220" cy="109728"/>
            <a:chOff x="0" y="0"/>
            <a:chExt cx="822960" cy="146304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822960" cy="146304"/>
            </a:xfrm>
            <a:custGeom>
              <a:avLst/>
              <a:gdLst/>
              <a:ahLst/>
              <a:cxnLst/>
              <a:rect r="r" b="b" t="t" l="l"/>
              <a:pathLst>
                <a:path h="146304" w="822960">
                  <a:moveTo>
                    <a:pt x="0" y="0"/>
                  </a:moveTo>
                  <a:lnTo>
                    <a:pt x="822960" y="0"/>
                  </a:lnTo>
                  <a:lnTo>
                    <a:pt x="822960" y="146304"/>
                  </a:lnTo>
                  <a:lnTo>
                    <a:pt x="0" y="146304"/>
                  </a:lnTo>
                  <a:close/>
                </a:path>
              </a:pathLst>
            </a:custGeom>
            <a:solidFill>
              <a:srgbClr val="B08D3E"/>
            </a:solidFill>
          </p:spPr>
        </p:sp>
      </p:grpSp>
      <p:grpSp>
        <p:nvGrpSpPr>
          <p:cNvPr name="Group 42" id="42"/>
          <p:cNvGrpSpPr/>
          <p:nvPr/>
        </p:nvGrpSpPr>
        <p:grpSpPr>
          <a:xfrm rot="0">
            <a:off x="9738360" y="6693408"/>
            <a:ext cx="7269480" cy="548640"/>
            <a:chOff x="0" y="0"/>
            <a:chExt cx="9692640" cy="731520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9692640" cy="731520"/>
            </a:xfrm>
            <a:custGeom>
              <a:avLst/>
              <a:gdLst/>
              <a:ahLst/>
              <a:cxnLst/>
              <a:rect r="r" b="b" t="t" l="l"/>
              <a:pathLst>
                <a:path h="731520" w="9692640">
                  <a:moveTo>
                    <a:pt x="0" y="0"/>
                  </a:moveTo>
                  <a:lnTo>
                    <a:pt x="9692640" y="0"/>
                  </a:lnTo>
                  <a:lnTo>
                    <a:pt x="969264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08176" r="0" b="-208176"/>
              </a:stretch>
            </a:blipFill>
          </p:spPr>
        </p:sp>
        <p:sp>
          <p:nvSpPr>
            <p:cNvPr name="TextBox 44" id="44"/>
            <p:cNvSpPr txBox="true"/>
            <p:nvPr/>
          </p:nvSpPr>
          <p:spPr>
            <a:xfrm>
              <a:off x="0" y="-9525"/>
              <a:ext cx="9692640" cy="7410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 b="true">
                  <a:solidFill>
                    <a:srgbClr val="1F243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Treatment &amp; PDF Module</a:t>
              </a:r>
            </a:p>
          </p:txBody>
        </p:sp>
      </p:grpSp>
      <p:grpSp>
        <p:nvGrpSpPr>
          <p:cNvPr name="Group 45" id="45"/>
          <p:cNvGrpSpPr/>
          <p:nvPr/>
        </p:nvGrpSpPr>
        <p:grpSpPr>
          <a:xfrm rot="0">
            <a:off x="9738360" y="7338060"/>
            <a:ext cx="7269480" cy="1440180"/>
            <a:chOff x="0" y="0"/>
            <a:chExt cx="9692640" cy="1920240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9692640" cy="1920240"/>
            </a:xfrm>
            <a:custGeom>
              <a:avLst/>
              <a:gdLst/>
              <a:ahLst/>
              <a:cxnLst/>
              <a:rect r="r" b="b" t="t" l="l"/>
              <a:pathLst>
                <a:path h="1920240" w="9692640">
                  <a:moveTo>
                    <a:pt x="0" y="0"/>
                  </a:moveTo>
                  <a:lnTo>
                    <a:pt x="9692640" y="0"/>
                  </a:lnTo>
                  <a:lnTo>
                    <a:pt x="9692640" y="1920240"/>
                  </a:lnTo>
                  <a:lnTo>
                    <a:pt x="0" y="19202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8353" r="0" b="-48353"/>
              </a:stretch>
            </a:blipFill>
          </p:spPr>
        </p:sp>
        <p:sp>
          <p:nvSpPr>
            <p:cNvPr name="TextBox 47" id="47"/>
            <p:cNvSpPr txBox="true"/>
            <p:nvPr/>
          </p:nvSpPr>
          <p:spPr>
            <a:xfrm>
              <a:off x="0" y="-57150"/>
              <a:ext cx="9692640" cy="19773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074"/>
                </a:lnSpc>
              </a:pPr>
              <a:r>
                <a:rPr lang="en-US" sz="2100">
                  <a:solidFill>
                    <a:srgbClr val="666B78"/>
                  </a:solidFill>
                  <a:latin typeface="Arial"/>
                  <a:ea typeface="Arial"/>
                  <a:cs typeface="Arial"/>
                  <a:sym typeface="Arial"/>
                </a:rPr>
                <a:t>Per-disease Markdown/HTML treatment files, plus a from-scratch PDF writer that lays out a report with no external PDF library.</a:t>
              </a:r>
            </a:p>
          </p:txBody>
        </p:sp>
      </p:grpSp>
      <p:grpSp>
        <p:nvGrpSpPr>
          <p:cNvPr name="Group 48" id="48"/>
          <p:cNvGrpSpPr/>
          <p:nvPr/>
        </p:nvGrpSpPr>
        <p:grpSpPr>
          <a:xfrm rot="0">
            <a:off x="822960" y="9121140"/>
            <a:ext cx="16596360" cy="480060"/>
            <a:chOff x="0" y="0"/>
            <a:chExt cx="22128480" cy="640080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22128480" cy="640080"/>
            </a:xfrm>
            <a:custGeom>
              <a:avLst/>
              <a:gdLst/>
              <a:ahLst/>
              <a:cxnLst/>
              <a:rect r="r" b="b" t="t" l="l"/>
              <a:pathLst>
                <a:path h="640080" w="22128480">
                  <a:moveTo>
                    <a:pt x="0" y="0"/>
                  </a:moveTo>
                  <a:lnTo>
                    <a:pt x="22128480" y="0"/>
                  </a:lnTo>
                  <a:lnTo>
                    <a:pt x="2212848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23625" r="0" b="-623625"/>
              </a:stretch>
            </a:blipFill>
          </p:spPr>
        </p:sp>
        <p:sp>
          <p:nvSpPr>
            <p:cNvPr name="TextBox 50" id="50"/>
            <p:cNvSpPr txBox="true"/>
            <p:nvPr/>
          </p:nvSpPr>
          <p:spPr>
            <a:xfrm>
              <a:off x="0" y="-19050"/>
              <a:ext cx="22128480" cy="6591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80"/>
                </a:lnSpc>
              </a:pPr>
              <a:r>
                <a:rPr lang="en-US" sz="1650" i="true">
                  <a:solidFill>
                    <a:srgbClr val="666B78"/>
                  </a:solidFill>
                  <a:latin typeface="Arial Italics"/>
                  <a:ea typeface="Arial Italics"/>
                  <a:cs typeface="Arial Italics"/>
                  <a:sym typeface="Arial Italics"/>
                </a:rPr>
                <a:t>Main tools:  Python 3.8+  •  Experta 1.9.4  •  Flask 3.1.3  •  HTML/CSS/JS  •  Custom PDF writer  •  LibreOffice (.ods)</a:t>
              </a:r>
            </a:p>
          </p:txBody>
        </p:sp>
      </p:grpSp>
      <p:grpSp>
        <p:nvGrpSpPr>
          <p:cNvPr name="Group 51" id="51"/>
          <p:cNvGrpSpPr/>
          <p:nvPr/>
        </p:nvGrpSpPr>
        <p:grpSpPr>
          <a:xfrm rot="0">
            <a:off x="685800" y="9848088"/>
            <a:ext cx="9601200" cy="384048"/>
            <a:chOff x="0" y="0"/>
            <a:chExt cx="12801600" cy="512064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12801600" cy="512064"/>
            </a:xfrm>
            <a:custGeom>
              <a:avLst/>
              <a:gdLst/>
              <a:ahLst/>
              <a:cxnLst/>
              <a:rect r="r" b="b" t="t" l="l"/>
              <a:pathLst>
                <a:path h="512064" w="12801600">
                  <a:moveTo>
                    <a:pt x="0" y="0"/>
                  </a:moveTo>
                  <a:lnTo>
                    <a:pt x="12801600" y="0"/>
                  </a:lnTo>
                  <a:lnTo>
                    <a:pt x="12801600" y="512064"/>
                  </a:lnTo>
                  <a:lnTo>
                    <a:pt x="0" y="5120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37125" r="0" b="-437125"/>
              </a:stretch>
            </a:blipFill>
          </p:spPr>
        </p:sp>
        <p:sp>
          <p:nvSpPr>
            <p:cNvPr name="TextBox 53" id="53"/>
            <p:cNvSpPr txBox="true"/>
            <p:nvPr/>
          </p:nvSpPr>
          <p:spPr>
            <a:xfrm>
              <a:off x="0" y="-19050"/>
              <a:ext cx="12801600" cy="53111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439"/>
                </a:lnSpc>
              </a:pPr>
              <a:r>
                <a:rPr lang="en-US" sz="1200">
                  <a:solidFill>
                    <a:srgbClr val="666B78"/>
                  </a:solidFill>
                  <a:latin typeface="Arial"/>
                  <a:ea typeface="Arial"/>
                  <a:cs typeface="Arial"/>
                  <a:sym typeface="Arial"/>
                </a:rPr>
                <a:t>Medical Diagnosis Expert System  |  CSE440</a:t>
              </a:r>
            </a:p>
          </p:txBody>
        </p:sp>
      </p:grpSp>
      <p:grpSp>
        <p:nvGrpSpPr>
          <p:cNvPr name="Group 54" id="54"/>
          <p:cNvGrpSpPr/>
          <p:nvPr/>
        </p:nvGrpSpPr>
        <p:grpSpPr>
          <a:xfrm rot="0">
            <a:off x="17145000" y="9848088"/>
            <a:ext cx="548640" cy="384048"/>
            <a:chOff x="0" y="0"/>
            <a:chExt cx="731520" cy="512064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731520" cy="512064"/>
            </a:xfrm>
            <a:custGeom>
              <a:avLst/>
              <a:gdLst/>
              <a:ahLst/>
              <a:cxnLst/>
              <a:rect r="r" b="b" t="t" l="l"/>
              <a:pathLst>
                <a:path h="512064" w="731520">
                  <a:moveTo>
                    <a:pt x="0" y="0"/>
                  </a:moveTo>
                  <a:lnTo>
                    <a:pt x="731520" y="0"/>
                  </a:lnTo>
                  <a:lnTo>
                    <a:pt x="731520" y="512064"/>
                  </a:lnTo>
                  <a:lnTo>
                    <a:pt x="0" y="5120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39812" t="0" r="-39812" b="0"/>
              </a:stretch>
            </a:blipFill>
          </p:spPr>
        </p:sp>
        <p:sp>
          <p:nvSpPr>
            <p:cNvPr name="TextBox 56" id="56"/>
            <p:cNvSpPr txBox="true"/>
            <p:nvPr/>
          </p:nvSpPr>
          <p:spPr>
            <a:xfrm>
              <a:off x="0" y="-19050"/>
              <a:ext cx="731520" cy="53111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439"/>
                </a:lnSpc>
              </a:pPr>
              <a:r>
                <a:rPr lang="en-US" sz="1200">
                  <a:solidFill>
                    <a:srgbClr val="666B78"/>
                  </a:solidFill>
                  <a:latin typeface="Arial"/>
                  <a:ea typeface="Arial"/>
                  <a:cs typeface="Arial"/>
                  <a:sym typeface="Arial"/>
                </a:rPr>
                <a:t>8</a:t>
              </a:r>
            </a:p>
          </p:txBody>
        </p:sp>
      </p:grp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6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22960" y="685800"/>
            <a:ext cx="16596360" cy="822960"/>
            <a:chOff x="0" y="0"/>
            <a:chExt cx="22128480" cy="109728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2128480" cy="1097280"/>
            </a:xfrm>
            <a:custGeom>
              <a:avLst/>
              <a:gdLst/>
              <a:ahLst/>
              <a:cxnLst/>
              <a:rect r="r" b="b" t="t" l="l"/>
              <a:pathLst>
                <a:path h="1097280" w="22128480">
                  <a:moveTo>
                    <a:pt x="0" y="0"/>
                  </a:moveTo>
                  <a:lnTo>
                    <a:pt x="22128480" y="0"/>
                  </a:lnTo>
                  <a:lnTo>
                    <a:pt x="2212848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42948" r="0" b="-342948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19050"/>
              <a:ext cx="22128480" cy="11163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040"/>
                </a:lnSpc>
              </a:pPr>
              <a:r>
                <a:rPr lang="en-US" sz="4200" b="true">
                  <a:solidFill>
                    <a:srgbClr val="1F243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Disease Knowledge Base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822960" y="1508760"/>
            <a:ext cx="16596360" cy="548640"/>
            <a:chOff x="0" y="0"/>
            <a:chExt cx="22128480" cy="73152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2128480" cy="731520"/>
            </a:xfrm>
            <a:custGeom>
              <a:avLst/>
              <a:gdLst/>
              <a:ahLst/>
              <a:cxnLst/>
              <a:rect r="r" b="b" t="t" l="l"/>
              <a:pathLst>
                <a:path h="731520" w="22128480">
                  <a:moveTo>
                    <a:pt x="0" y="0"/>
                  </a:moveTo>
                  <a:lnTo>
                    <a:pt x="22128480" y="0"/>
                  </a:lnTo>
                  <a:lnTo>
                    <a:pt x="2212848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39422" r="0" b="-539422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9525"/>
              <a:ext cx="22128480" cy="7410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>
                  <a:solidFill>
                    <a:srgbClr val="666B78"/>
                  </a:solidFill>
                  <a:latin typeface="Arial"/>
                  <a:ea typeface="Arial"/>
                  <a:cs typeface="Arial"/>
                  <a:sym typeface="Arial"/>
                </a:rPr>
                <a:t>31 supported diseases organized into 7 clinical symptom groups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822960" y="2743200"/>
            <a:ext cx="2276856" cy="2125980"/>
            <a:chOff x="0" y="0"/>
            <a:chExt cx="3035808" cy="283464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3035808" cy="2834640"/>
            </a:xfrm>
            <a:custGeom>
              <a:avLst/>
              <a:gdLst/>
              <a:ahLst/>
              <a:cxnLst/>
              <a:rect r="r" b="b" t="t" l="l"/>
              <a:pathLst>
                <a:path h="2834640" w="3035808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2889504" y="0"/>
                  </a:lnTo>
                  <a:cubicBezTo>
                    <a:pt x="2970276" y="0"/>
                    <a:pt x="3035808" y="65532"/>
                    <a:pt x="3035808" y="146304"/>
                  </a:cubicBezTo>
                  <a:lnTo>
                    <a:pt x="3035808" y="2688336"/>
                  </a:lnTo>
                  <a:cubicBezTo>
                    <a:pt x="3035808" y="2769108"/>
                    <a:pt x="2970276" y="2834640"/>
                    <a:pt x="2889504" y="2834640"/>
                  </a:cubicBezTo>
                  <a:lnTo>
                    <a:pt x="146304" y="2834640"/>
                  </a:lnTo>
                  <a:cubicBezTo>
                    <a:pt x="65532" y="2834640"/>
                    <a:pt x="0" y="2769108"/>
                    <a:pt x="0" y="2688336"/>
                  </a:cubicBezTo>
                  <a:close/>
                </a:path>
              </a:pathLst>
            </a:custGeom>
            <a:solidFill>
              <a:srgbClr val="B08D3E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822960" y="2990088"/>
            <a:ext cx="2276856" cy="822960"/>
            <a:chOff x="0" y="0"/>
            <a:chExt cx="3035808" cy="109728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3035808" cy="1097280"/>
            </a:xfrm>
            <a:custGeom>
              <a:avLst/>
              <a:gdLst/>
              <a:ahLst/>
              <a:cxnLst/>
              <a:rect r="r" b="b" t="t" l="l"/>
              <a:pathLst>
                <a:path h="1097280" w="3035808">
                  <a:moveTo>
                    <a:pt x="0" y="0"/>
                  </a:moveTo>
                  <a:lnTo>
                    <a:pt x="3035808" y="0"/>
                  </a:lnTo>
                  <a:lnTo>
                    <a:pt x="3035808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908" r="0" b="-3908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19050"/>
              <a:ext cx="3035808" cy="11163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680"/>
                </a:lnSpc>
              </a:pPr>
              <a:r>
                <a:rPr lang="en-US" sz="3900" b="true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9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932688" y="3977640"/>
            <a:ext cx="2057400" cy="754380"/>
            <a:chOff x="0" y="0"/>
            <a:chExt cx="2743200" cy="100584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2743200" cy="1005840"/>
            </a:xfrm>
            <a:custGeom>
              <a:avLst/>
              <a:gdLst/>
              <a:ahLst/>
              <a:cxnLst/>
              <a:rect r="r" b="b" t="t" l="l"/>
              <a:pathLst>
                <a:path h="1005840" w="2743200">
                  <a:moveTo>
                    <a:pt x="0" y="0"/>
                  </a:moveTo>
                  <a:lnTo>
                    <a:pt x="2743200" y="0"/>
                  </a:lnTo>
                  <a:lnTo>
                    <a:pt x="2743200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141" r="0" b="-3141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28575"/>
              <a:ext cx="2743200" cy="10344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268"/>
                </a:lnSpc>
              </a:pPr>
              <a:r>
                <a:rPr lang="en-US" sz="1800" b="true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Respiratory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3291840" y="2743200"/>
            <a:ext cx="2276856" cy="2125980"/>
            <a:chOff x="0" y="0"/>
            <a:chExt cx="3035808" cy="283464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3035808" cy="2834640"/>
            </a:xfrm>
            <a:custGeom>
              <a:avLst/>
              <a:gdLst/>
              <a:ahLst/>
              <a:cxnLst/>
              <a:rect r="r" b="b" t="t" l="l"/>
              <a:pathLst>
                <a:path h="2834640" w="3035808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2889504" y="0"/>
                  </a:lnTo>
                  <a:cubicBezTo>
                    <a:pt x="2970276" y="0"/>
                    <a:pt x="3035808" y="65532"/>
                    <a:pt x="3035808" y="146304"/>
                  </a:cubicBezTo>
                  <a:lnTo>
                    <a:pt x="3035808" y="2688336"/>
                  </a:lnTo>
                  <a:cubicBezTo>
                    <a:pt x="3035808" y="2769108"/>
                    <a:pt x="2970276" y="2834640"/>
                    <a:pt x="2889504" y="2834640"/>
                  </a:cubicBezTo>
                  <a:lnTo>
                    <a:pt x="146304" y="2834640"/>
                  </a:lnTo>
                  <a:cubicBezTo>
                    <a:pt x="65532" y="2834640"/>
                    <a:pt x="0" y="2769108"/>
                    <a:pt x="0" y="2688336"/>
                  </a:cubicBezTo>
                  <a:close/>
                </a:path>
              </a:pathLst>
            </a:custGeom>
            <a:solidFill>
              <a:srgbClr val="7A4360"/>
            </a:solid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3291840" y="2990088"/>
            <a:ext cx="2276856" cy="822960"/>
            <a:chOff x="0" y="0"/>
            <a:chExt cx="3035808" cy="109728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3035808" cy="1097280"/>
            </a:xfrm>
            <a:custGeom>
              <a:avLst/>
              <a:gdLst/>
              <a:ahLst/>
              <a:cxnLst/>
              <a:rect r="r" b="b" t="t" l="l"/>
              <a:pathLst>
                <a:path h="1097280" w="3035808">
                  <a:moveTo>
                    <a:pt x="0" y="0"/>
                  </a:moveTo>
                  <a:lnTo>
                    <a:pt x="3035808" y="0"/>
                  </a:lnTo>
                  <a:lnTo>
                    <a:pt x="3035808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908" r="0" b="-3908"/>
              </a:stretch>
            </a:blip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19050"/>
              <a:ext cx="3035808" cy="11163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680"/>
                </a:lnSpc>
              </a:pPr>
              <a:r>
                <a:rPr lang="en-US" sz="3900" b="true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6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3401568" y="3977640"/>
            <a:ext cx="2057400" cy="754380"/>
            <a:chOff x="0" y="0"/>
            <a:chExt cx="2743200" cy="100584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2743200" cy="1005840"/>
            </a:xfrm>
            <a:custGeom>
              <a:avLst/>
              <a:gdLst/>
              <a:ahLst/>
              <a:cxnLst/>
              <a:rect r="r" b="b" t="t" l="l"/>
              <a:pathLst>
                <a:path h="1005840" w="2743200">
                  <a:moveTo>
                    <a:pt x="0" y="0"/>
                  </a:moveTo>
                  <a:lnTo>
                    <a:pt x="2743200" y="0"/>
                  </a:lnTo>
                  <a:lnTo>
                    <a:pt x="2743200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141" r="0" b="-3141"/>
              </a:stretch>
            </a:blip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28575"/>
              <a:ext cx="2743200" cy="10344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268"/>
                </a:lnSpc>
              </a:pPr>
              <a:r>
                <a:rPr lang="en-US" sz="1800" b="true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Vector-borne</a:t>
              </a: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5760720" y="2743200"/>
            <a:ext cx="2276856" cy="2125980"/>
            <a:chOff x="0" y="0"/>
            <a:chExt cx="3035808" cy="283464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3035808" cy="2834640"/>
            </a:xfrm>
            <a:custGeom>
              <a:avLst/>
              <a:gdLst/>
              <a:ahLst/>
              <a:cxnLst/>
              <a:rect r="r" b="b" t="t" l="l"/>
              <a:pathLst>
                <a:path h="2834640" w="3035808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2889504" y="0"/>
                  </a:lnTo>
                  <a:cubicBezTo>
                    <a:pt x="2970276" y="0"/>
                    <a:pt x="3035808" y="65532"/>
                    <a:pt x="3035808" y="146304"/>
                  </a:cubicBezTo>
                  <a:lnTo>
                    <a:pt x="3035808" y="2688336"/>
                  </a:lnTo>
                  <a:cubicBezTo>
                    <a:pt x="3035808" y="2769108"/>
                    <a:pt x="2970276" y="2834640"/>
                    <a:pt x="2889504" y="2834640"/>
                  </a:cubicBezTo>
                  <a:lnTo>
                    <a:pt x="146304" y="2834640"/>
                  </a:lnTo>
                  <a:cubicBezTo>
                    <a:pt x="65532" y="2834640"/>
                    <a:pt x="0" y="2769108"/>
                    <a:pt x="0" y="2688336"/>
                  </a:cubicBezTo>
                  <a:close/>
                </a:path>
              </a:pathLst>
            </a:custGeom>
            <a:solidFill>
              <a:srgbClr val="2B2F3D"/>
            </a:solid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5760720" y="2990088"/>
            <a:ext cx="2276856" cy="822960"/>
            <a:chOff x="0" y="0"/>
            <a:chExt cx="3035808" cy="109728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3035808" cy="1097280"/>
            </a:xfrm>
            <a:custGeom>
              <a:avLst/>
              <a:gdLst/>
              <a:ahLst/>
              <a:cxnLst/>
              <a:rect r="r" b="b" t="t" l="l"/>
              <a:pathLst>
                <a:path h="1097280" w="3035808">
                  <a:moveTo>
                    <a:pt x="0" y="0"/>
                  </a:moveTo>
                  <a:lnTo>
                    <a:pt x="3035808" y="0"/>
                  </a:lnTo>
                  <a:lnTo>
                    <a:pt x="3035808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908" r="0" b="-3908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19050"/>
              <a:ext cx="3035808" cy="11163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680"/>
                </a:lnSpc>
              </a:pPr>
              <a:r>
                <a:rPr lang="en-US" sz="3900" b="true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5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5870448" y="3977640"/>
            <a:ext cx="2057400" cy="754380"/>
            <a:chOff x="0" y="0"/>
            <a:chExt cx="2743200" cy="100584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2743200" cy="1005840"/>
            </a:xfrm>
            <a:custGeom>
              <a:avLst/>
              <a:gdLst/>
              <a:ahLst/>
              <a:cxnLst/>
              <a:rect r="r" b="b" t="t" l="l"/>
              <a:pathLst>
                <a:path h="1005840" w="2743200">
                  <a:moveTo>
                    <a:pt x="0" y="0"/>
                  </a:moveTo>
                  <a:lnTo>
                    <a:pt x="2743200" y="0"/>
                  </a:lnTo>
                  <a:lnTo>
                    <a:pt x="2743200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141" r="0" b="-3141"/>
              </a:stretch>
            </a:blip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28575"/>
              <a:ext cx="2743200" cy="10344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268"/>
                </a:lnSpc>
              </a:pPr>
              <a:r>
                <a:rPr lang="en-US" sz="1800" b="true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GI / Hepatic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8229600" y="2743200"/>
            <a:ext cx="2276856" cy="2125980"/>
            <a:chOff x="0" y="0"/>
            <a:chExt cx="3035808" cy="283464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3035808" cy="2834640"/>
            </a:xfrm>
            <a:custGeom>
              <a:avLst/>
              <a:gdLst/>
              <a:ahLst/>
              <a:cxnLst/>
              <a:rect r="r" b="b" t="t" l="l"/>
              <a:pathLst>
                <a:path h="2834640" w="3035808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2889504" y="0"/>
                  </a:lnTo>
                  <a:cubicBezTo>
                    <a:pt x="2970276" y="0"/>
                    <a:pt x="3035808" y="65532"/>
                    <a:pt x="3035808" y="146304"/>
                  </a:cubicBezTo>
                  <a:lnTo>
                    <a:pt x="3035808" y="2688336"/>
                  </a:lnTo>
                  <a:cubicBezTo>
                    <a:pt x="3035808" y="2769108"/>
                    <a:pt x="2970276" y="2834640"/>
                    <a:pt x="2889504" y="2834640"/>
                  </a:cubicBezTo>
                  <a:lnTo>
                    <a:pt x="146304" y="2834640"/>
                  </a:lnTo>
                  <a:cubicBezTo>
                    <a:pt x="65532" y="2834640"/>
                    <a:pt x="0" y="2769108"/>
                    <a:pt x="0" y="2688336"/>
                  </a:cubicBezTo>
                  <a:close/>
                </a:path>
              </a:pathLst>
            </a:custGeom>
            <a:solidFill>
              <a:srgbClr val="9C8355"/>
            </a:solidFill>
          </p:spPr>
        </p:sp>
      </p:grpSp>
      <p:grpSp>
        <p:nvGrpSpPr>
          <p:cNvPr name="Group 34" id="34"/>
          <p:cNvGrpSpPr/>
          <p:nvPr/>
        </p:nvGrpSpPr>
        <p:grpSpPr>
          <a:xfrm rot="0">
            <a:off x="8229600" y="2990088"/>
            <a:ext cx="2276856" cy="822960"/>
            <a:chOff x="0" y="0"/>
            <a:chExt cx="3035808" cy="109728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3035808" cy="1097280"/>
            </a:xfrm>
            <a:custGeom>
              <a:avLst/>
              <a:gdLst/>
              <a:ahLst/>
              <a:cxnLst/>
              <a:rect r="r" b="b" t="t" l="l"/>
              <a:pathLst>
                <a:path h="1097280" w="3035808">
                  <a:moveTo>
                    <a:pt x="0" y="0"/>
                  </a:moveTo>
                  <a:lnTo>
                    <a:pt x="3035808" y="0"/>
                  </a:lnTo>
                  <a:lnTo>
                    <a:pt x="3035808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908" r="0" b="-3908"/>
              </a:stretch>
            </a:blipFill>
          </p:spPr>
        </p:sp>
        <p:sp>
          <p:nvSpPr>
            <p:cNvPr name="TextBox 36" id="36"/>
            <p:cNvSpPr txBox="true"/>
            <p:nvPr/>
          </p:nvSpPr>
          <p:spPr>
            <a:xfrm>
              <a:off x="0" y="-19050"/>
              <a:ext cx="3035808" cy="11163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680"/>
                </a:lnSpc>
              </a:pPr>
              <a:r>
                <a:rPr lang="en-US" sz="3900" b="true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5</a:t>
              </a:r>
            </a:p>
          </p:txBody>
        </p:sp>
      </p:grpSp>
      <p:grpSp>
        <p:nvGrpSpPr>
          <p:cNvPr name="Group 37" id="37"/>
          <p:cNvGrpSpPr/>
          <p:nvPr/>
        </p:nvGrpSpPr>
        <p:grpSpPr>
          <a:xfrm rot="0">
            <a:off x="8339328" y="3977640"/>
            <a:ext cx="2057400" cy="754380"/>
            <a:chOff x="0" y="0"/>
            <a:chExt cx="2743200" cy="1005840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2743200" cy="1005840"/>
            </a:xfrm>
            <a:custGeom>
              <a:avLst/>
              <a:gdLst/>
              <a:ahLst/>
              <a:cxnLst/>
              <a:rect r="r" b="b" t="t" l="l"/>
              <a:pathLst>
                <a:path h="1005840" w="2743200">
                  <a:moveTo>
                    <a:pt x="0" y="0"/>
                  </a:moveTo>
                  <a:lnTo>
                    <a:pt x="2743200" y="0"/>
                  </a:lnTo>
                  <a:lnTo>
                    <a:pt x="2743200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141" r="0" b="-3141"/>
              </a:stretch>
            </a:blipFill>
          </p:spPr>
        </p:sp>
        <p:sp>
          <p:nvSpPr>
            <p:cNvPr name="TextBox 39" id="39"/>
            <p:cNvSpPr txBox="true"/>
            <p:nvPr/>
          </p:nvSpPr>
          <p:spPr>
            <a:xfrm>
              <a:off x="0" y="-28575"/>
              <a:ext cx="2743200" cy="10344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268"/>
                </a:lnSpc>
              </a:pPr>
              <a:r>
                <a:rPr lang="en-US" sz="1800" b="true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Metabolic</a:t>
              </a:r>
            </a:p>
          </p:txBody>
        </p:sp>
      </p:grpSp>
      <p:grpSp>
        <p:nvGrpSpPr>
          <p:cNvPr name="Group 40" id="40"/>
          <p:cNvGrpSpPr/>
          <p:nvPr/>
        </p:nvGrpSpPr>
        <p:grpSpPr>
          <a:xfrm rot="0">
            <a:off x="10698480" y="2743200"/>
            <a:ext cx="2276856" cy="2125980"/>
            <a:chOff x="0" y="0"/>
            <a:chExt cx="3035808" cy="2834640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3035808" cy="2834640"/>
            </a:xfrm>
            <a:custGeom>
              <a:avLst/>
              <a:gdLst/>
              <a:ahLst/>
              <a:cxnLst/>
              <a:rect r="r" b="b" t="t" l="l"/>
              <a:pathLst>
                <a:path h="2834640" w="3035808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2889504" y="0"/>
                  </a:lnTo>
                  <a:cubicBezTo>
                    <a:pt x="2970276" y="0"/>
                    <a:pt x="3035808" y="65532"/>
                    <a:pt x="3035808" y="146304"/>
                  </a:cubicBezTo>
                  <a:lnTo>
                    <a:pt x="3035808" y="2688336"/>
                  </a:lnTo>
                  <a:cubicBezTo>
                    <a:pt x="3035808" y="2769108"/>
                    <a:pt x="2970276" y="2834640"/>
                    <a:pt x="2889504" y="2834640"/>
                  </a:cubicBezTo>
                  <a:lnTo>
                    <a:pt x="146304" y="2834640"/>
                  </a:lnTo>
                  <a:cubicBezTo>
                    <a:pt x="65532" y="2834640"/>
                    <a:pt x="0" y="2769108"/>
                    <a:pt x="0" y="2688336"/>
                  </a:cubicBezTo>
                  <a:close/>
                </a:path>
              </a:pathLst>
            </a:custGeom>
            <a:solidFill>
              <a:srgbClr val="A65D7C"/>
            </a:solidFill>
          </p:spPr>
        </p:sp>
      </p:grpSp>
      <p:grpSp>
        <p:nvGrpSpPr>
          <p:cNvPr name="Group 42" id="42"/>
          <p:cNvGrpSpPr/>
          <p:nvPr/>
        </p:nvGrpSpPr>
        <p:grpSpPr>
          <a:xfrm rot="0">
            <a:off x="10698480" y="2990088"/>
            <a:ext cx="2276856" cy="822960"/>
            <a:chOff x="0" y="0"/>
            <a:chExt cx="3035808" cy="1097280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3035808" cy="1097280"/>
            </a:xfrm>
            <a:custGeom>
              <a:avLst/>
              <a:gdLst/>
              <a:ahLst/>
              <a:cxnLst/>
              <a:rect r="r" b="b" t="t" l="l"/>
              <a:pathLst>
                <a:path h="1097280" w="3035808">
                  <a:moveTo>
                    <a:pt x="0" y="0"/>
                  </a:moveTo>
                  <a:lnTo>
                    <a:pt x="3035808" y="0"/>
                  </a:lnTo>
                  <a:lnTo>
                    <a:pt x="3035808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908" r="0" b="-3908"/>
              </a:stretch>
            </a:blipFill>
          </p:spPr>
        </p:sp>
        <p:sp>
          <p:nvSpPr>
            <p:cNvPr name="TextBox 44" id="44"/>
            <p:cNvSpPr txBox="true"/>
            <p:nvPr/>
          </p:nvSpPr>
          <p:spPr>
            <a:xfrm>
              <a:off x="0" y="-19050"/>
              <a:ext cx="3035808" cy="11163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680"/>
                </a:lnSpc>
              </a:pPr>
              <a:r>
                <a:rPr lang="en-US" sz="3900" b="true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3</a:t>
              </a:r>
            </a:p>
          </p:txBody>
        </p:sp>
      </p:grpSp>
      <p:grpSp>
        <p:nvGrpSpPr>
          <p:cNvPr name="Group 45" id="45"/>
          <p:cNvGrpSpPr/>
          <p:nvPr/>
        </p:nvGrpSpPr>
        <p:grpSpPr>
          <a:xfrm rot="0">
            <a:off x="10808208" y="3977640"/>
            <a:ext cx="2057400" cy="754380"/>
            <a:chOff x="0" y="0"/>
            <a:chExt cx="2743200" cy="1005840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2743200" cy="1005840"/>
            </a:xfrm>
            <a:custGeom>
              <a:avLst/>
              <a:gdLst/>
              <a:ahLst/>
              <a:cxnLst/>
              <a:rect r="r" b="b" t="t" l="l"/>
              <a:pathLst>
                <a:path h="1005840" w="2743200">
                  <a:moveTo>
                    <a:pt x="0" y="0"/>
                  </a:moveTo>
                  <a:lnTo>
                    <a:pt x="2743200" y="0"/>
                  </a:lnTo>
                  <a:lnTo>
                    <a:pt x="2743200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141" r="0" b="-3141"/>
              </a:stretch>
            </a:blipFill>
          </p:spPr>
        </p:sp>
        <p:sp>
          <p:nvSpPr>
            <p:cNvPr name="TextBox 47" id="47"/>
            <p:cNvSpPr txBox="true"/>
            <p:nvPr/>
          </p:nvSpPr>
          <p:spPr>
            <a:xfrm>
              <a:off x="0" y="-28575"/>
              <a:ext cx="2743200" cy="10344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268"/>
                </a:lnSpc>
              </a:pPr>
              <a:r>
                <a:rPr lang="en-US" sz="1800" b="true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Eye-related</a:t>
              </a:r>
            </a:p>
          </p:txBody>
        </p:sp>
      </p:grpSp>
      <p:grpSp>
        <p:nvGrpSpPr>
          <p:cNvPr name="Group 48" id="48"/>
          <p:cNvGrpSpPr/>
          <p:nvPr/>
        </p:nvGrpSpPr>
        <p:grpSpPr>
          <a:xfrm rot="0">
            <a:off x="13167360" y="2743200"/>
            <a:ext cx="2276856" cy="2125980"/>
            <a:chOff x="0" y="0"/>
            <a:chExt cx="3035808" cy="2834640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3035808" cy="2834640"/>
            </a:xfrm>
            <a:custGeom>
              <a:avLst/>
              <a:gdLst/>
              <a:ahLst/>
              <a:cxnLst/>
              <a:rect r="r" b="b" t="t" l="l"/>
              <a:pathLst>
                <a:path h="2834640" w="3035808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2889504" y="0"/>
                  </a:lnTo>
                  <a:cubicBezTo>
                    <a:pt x="2970276" y="0"/>
                    <a:pt x="3035808" y="65532"/>
                    <a:pt x="3035808" y="146304"/>
                  </a:cubicBezTo>
                  <a:lnTo>
                    <a:pt x="3035808" y="2688336"/>
                  </a:lnTo>
                  <a:cubicBezTo>
                    <a:pt x="3035808" y="2769108"/>
                    <a:pt x="2970276" y="2834640"/>
                    <a:pt x="2889504" y="2834640"/>
                  </a:cubicBezTo>
                  <a:lnTo>
                    <a:pt x="146304" y="2834640"/>
                  </a:lnTo>
                  <a:cubicBezTo>
                    <a:pt x="65532" y="2834640"/>
                    <a:pt x="0" y="2769108"/>
                    <a:pt x="0" y="2688336"/>
                  </a:cubicBezTo>
                  <a:close/>
                </a:path>
              </a:pathLst>
            </a:custGeom>
            <a:solidFill>
              <a:srgbClr val="5B5A7A"/>
            </a:solidFill>
          </p:spPr>
        </p:sp>
      </p:grpSp>
      <p:grpSp>
        <p:nvGrpSpPr>
          <p:cNvPr name="Group 50" id="50"/>
          <p:cNvGrpSpPr/>
          <p:nvPr/>
        </p:nvGrpSpPr>
        <p:grpSpPr>
          <a:xfrm rot="0">
            <a:off x="13167360" y="2990088"/>
            <a:ext cx="2276856" cy="822960"/>
            <a:chOff x="0" y="0"/>
            <a:chExt cx="3035808" cy="1097280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3035808" cy="1097280"/>
            </a:xfrm>
            <a:custGeom>
              <a:avLst/>
              <a:gdLst/>
              <a:ahLst/>
              <a:cxnLst/>
              <a:rect r="r" b="b" t="t" l="l"/>
              <a:pathLst>
                <a:path h="1097280" w="3035808">
                  <a:moveTo>
                    <a:pt x="0" y="0"/>
                  </a:moveTo>
                  <a:lnTo>
                    <a:pt x="3035808" y="0"/>
                  </a:lnTo>
                  <a:lnTo>
                    <a:pt x="3035808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908" r="0" b="-3908"/>
              </a:stretch>
            </a:blipFill>
          </p:spPr>
        </p:sp>
        <p:sp>
          <p:nvSpPr>
            <p:cNvPr name="TextBox 52" id="52"/>
            <p:cNvSpPr txBox="true"/>
            <p:nvPr/>
          </p:nvSpPr>
          <p:spPr>
            <a:xfrm>
              <a:off x="0" y="-19050"/>
              <a:ext cx="3035808" cy="11163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680"/>
                </a:lnSpc>
              </a:pPr>
              <a:r>
                <a:rPr lang="en-US" sz="3900" b="true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2</a:t>
              </a:r>
            </a:p>
          </p:txBody>
        </p:sp>
      </p:grpSp>
      <p:grpSp>
        <p:nvGrpSpPr>
          <p:cNvPr name="Group 53" id="53"/>
          <p:cNvGrpSpPr/>
          <p:nvPr/>
        </p:nvGrpSpPr>
        <p:grpSpPr>
          <a:xfrm rot="0">
            <a:off x="13277088" y="3977640"/>
            <a:ext cx="2057400" cy="754380"/>
            <a:chOff x="0" y="0"/>
            <a:chExt cx="2743200" cy="1005840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2743200" cy="1005840"/>
            </a:xfrm>
            <a:custGeom>
              <a:avLst/>
              <a:gdLst/>
              <a:ahLst/>
              <a:cxnLst/>
              <a:rect r="r" b="b" t="t" l="l"/>
              <a:pathLst>
                <a:path h="1005840" w="2743200">
                  <a:moveTo>
                    <a:pt x="0" y="0"/>
                  </a:moveTo>
                  <a:lnTo>
                    <a:pt x="2743200" y="0"/>
                  </a:lnTo>
                  <a:lnTo>
                    <a:pt x="2743200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141" r="0" b="-3141"/>
              </a:stretch>
            </a:blipFill>
          </p:spPr>
        </p:sp>
        <p:sp>
          <p:nvSpPr>
            <p:cNvPr name="TextBox 55" id="55"/>
            <p:cNvSpPr txBox="true"/>
            <p:nvPr/>
          </p:nvSpPr>
          <p:spPr>
            <a:xfrm>
              <a:off x="0" y="-28575"/>
              <a:ext cx="2743200" cy="10344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268"/>
                </a:lnSpc>
              </a:pPr>
              <a:r>
                <a:rPr lang="en-US" sz="1800" b="true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Cardiovascular</a:t>
              </a:r>
            </a:p>
          </p:txBody>
        </p:sp>
      </p:grpSp>
      <p:grpSp>
        <p:nvGrpSpPr>
          <p:cNvPr name="Group 56" id="56"/>
          <p:cNvGrpSpPr/>
          <p:nvPr/>
        </p:nvGrpSpPr>
        <p:grpSpPr>
          <a:xfrm rot="0">
            <a:off x="15636240" y="2743200"/>
            <a:ext cx="2276856" cy="2125980"/>
            <a:chOff x="0" y="0"/>
            <a:chExt cx="3035808" cy="2834640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3035808" cy="2834640"/>
            </a:xfrm>
            <a:custGeom>
              <a:avLst/>
              <a:gdLst/>
              <a:ahLst/>
              <a:cxnLst/>
              <a:rect r="r" b="b" t="t" l="l"/>
              <a:pathLst>
                <a:path h="2834640" w="3035808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2889504" y="0"/>
                  </a:lnTo>
                  <a:cubicBezTo>
                    <a:pt x="2970276" y="0"/>
                    <a:pt x="3035808" y="65532"/>
                    <a:pt x="3035808" y="146304"/>
                  </a:cubicBezTo>
                  <a:lnTo>
                    <a:pt x="3035808" y="2688336"/>
                  </a:lnTo>
                  <a:cubicBezTo>
                    <a:pt x="3035808" y="2769108"/>
                    <a:pt x="2970276" y="2834640"/>
                    <a:pt x="2889504" y="2834640"/>
                  </a:cubicBezTo>
                  <a:lnTo>
                    <a:pt x="146304" y="2834640"/>
                  </a:lnTo>
                  <a:cubicBezTo>
                    <a:pt x="65532" y="2834640"/>
                    <a:pt x="0" y="2769108"/>
                    <a:pt x="0" y="2688336"/>
                  </a:cubicBezTo>
                  <a:close/>
                </a:path>
              </a:pathLst>
            </a:custGeom>
            <a:solidFill>
              <a:srgbClr val="8C6C42"/>
            </a:solidFill>
          </p:spPr>
        </p:sp>
      </p:grpSp>
      <p:grpSp>
        <p:nvGrpSpPr>
          <p:cNvPr name="Group 58" id="58"/>
          <p:cNvGrpSpPr/>
          <p:nvPr/>
        </p:nvGrpSpPr>
        <p:grpSpPr>
          <a:xfrm rot="0">
            <a:off x="15636240" y="2990088"/>
            <a:ext cx="2276856" cy="822960"/>
            <a:chOff x="0" y="0"/>
            <a:chExt cx="3035808" cy="1097280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3035808" cy="1097280"/>
            </a:xfrm>
            <a:custGeom>
              <a:avLst/>
              <a:gdLst/>
              <a:ahLst/>
              <a:cxnLst/>
              <a:rect r="r" b="b" t="t" l="l"/>
              <a:pathLst>
                <a:path h="1097280" w="3035808">
                  <a:moveTo>
                    <a:pt x="0" y="0"/>
                  </a:moveTo>
                  <a:lnTo>
                    <a:pt x="3035808" y="0"/>
                  </a:lnTo>
                  <a:lnTo>
                    <a:pt x="3035808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908" r="0" b="-3908"/>
              </a:stretch>
            </a:blipFill>
          </p:spPr>
        </p:sp>
        <p:sp>
          <p:nvSpPr>
            <p:cNvPr name="TextBox 60" id="60"/>
            <p:cNvSpPr txBox="true"/>
            <p:nvPr/>
          </p:nvSpPr>
          <p:spPr>
            <a:xfrm>
              <a:off x="0" y="-19050"/>
              <a:ext cx="3035808" cy="11163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680"/>
                </a:lnSpc>
              </a:pPr>
              <a:r>
                <a:rPr lang="en-US" sz="3900" b="true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1</a:t>
              </a:r>
            </a:p>
          </p:txBody>
        </p:sp>
      </p:grpSp>
      <p:grpSp>
        <p:nvGrpSpPr>
          <p:cNvPr name="Group 61" id="61"/>
          <p:cNvGrpSpPr/>
          <p:nvPr/>
        </p:nvGrpSpPr>
        <p:grpSpPr>
          <a:xfrm rot="0">
            <a:off x="15745968" y="3977640"/>
            <a:ext cx="2057400" cy="754380"/>
            <a:chOff x="0" y="0"/>
            <a:chExt cx="2743200" cy="1005840"/>
          </a:xfrm>
        </p:grpSpPr>
        <p:sp>
          <p:nvSpPr>
            <p:cNvPr name="Freeform 62" id="62"/>
            <p:cNvSpPr/>
            <p:nvPr/>
          </p:nvSpPr>
          <p:spPr>
            <a:xfrm flipH="false" flipV="false" rot="0">
              <a:off x="0" y="0"/>
              <a:ext cx="2743200" cy="1005840"/>
            </a:xfrm>
            <a:custGeom>
              <a:avLst/>
              <a:gdLst/>
              <a:ahLst/>
              <a:cxnLst/>
              <a:rect r="r" b="b" t="t" l="l"/>
              <a:pathLst>
                <a:path h="1005840" w="2743200">
                  <a:moveTo>
                    <a:pt x="0" y="0"/>
                  </a:moveTo>
                  <a:lnTo>
                    <a:pt x="2743200" y="0"/>
                  </a:lnTo>
                  <a:lnTo>
                    <a:pt x="2743200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141" r="0" b="-3141"/>
              </a:stretch>
            </a:blipFill>
          </p:spPr>
        </p:sp>
        <p:sp>
          <p:nvSpPr>
            <p:cNvPr name="TextBox 63" id="63"/>
            <p:cNvSpPr txBox="true"/>
            <p:nvPr/>
          </p:nvSpPr>
          <p:spPr>
            <a:xfrm>
              <a:off x="0" y="-28575"/>
              <a:ext cx="2743200" cy="10344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268"/>
                </a:lnSpc>
              </a:pPr>
              <a:r>
                <a:rPr lang="en-US" sz="1800" b="true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Musculoskeletal</a:t>
              </a:r>
            </a:p>
          </p:txBody>
        </p:sp>
      </p:grpSp>
      <p:grpSp>
        <p:nvGrpSpPr>
          <p:cNvPr name="Group 64" id="64"/>
          <p:cNvGrpSpPr/>
          <p:nvPr/>
        </p:nvGrpSpPr>
        <p:grpSpPr>
          <a:xfrm rot="0">
            <a:off x="932688" y="5511165"/>
            <a:ext cx="16615410" cy="3928110"/>
            <a:chOff x="0" y="0"/>
            <a:chExt cx="22153880" cy="5237480"/>
          </a:xfrm>
        </p:grpSpPr>
        <p:sp>
          <p:nvSpPr>
            <p:cNvPr name="Freeform 65" id="65"/>
            <p:cNvSpPr/>
            <p:nvPr/>
          </p:nvSpPr>
          <p:spPr>
            <a:xfrm flipH="false" flipV="false" rot="0">
              <a:off x="0" y="0"/>
              <a:ext cx="22153879" cy="5237480"/>
            </a:xfrm>
            <a:custGeom>
              <a:avLst/>
              <a:gdLst/>
              <a:ahLst/>
              <a:cxnLst/>
              <a:rect r="r" b="b" t="t" l="l"/>
              <a:pathLst>
                <a:path h="5237480" w="22153879">
                  <a:moveTo>
                    <a:pt x="0" y="147066"/>
                  </a:moveTo>
                  <a:cubicBezTo>
                    <a:pt x="0" y="65786"/>
                    <a:pt x="65786" y="0"/>
                    <a:pt x="147066" y="0"/>
                  </a:cubicBezTo>
                  <a:lnTo>
                    <a:pt x="22006813" y="0"/>
                  </a:lnTo>
                  <a:cubicBezTo>
                    <a:pt x="22087967" y="0"/>
                    <a:pt x="22153879" y="65786"/>
                    <a:pt x="22153879" y="147066"/>
                  </a:cubicBezTo>
                  <a:lnTo>
                    <a:pt x="22153879" y="5090414"/>
                  </a:lnTo>
                  <a:cubicBezTo>
                    <a:pt x="22153879" y="5171567"/>
                    <a:pt x="22088094" y="5237480"/>
                    <a:pt x="22006813" y="5237480"/>
                  </a:cubicBezTo>
                  <a:lnTo>
                    <a:pt x="147066" y="5237480"/>
                  </a:lnTo>
                  <a:cubicBezTo>
                    <a:pt x="65786" y="5237480"/>
                    <a:pt x="0" y="5171694"/>
                    <a:pt x="0" y="5090414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E6E1D3"/>
              </a:solidFill>
              <a:prstDash val="solid"/>
              <a:miter/>
            </a:ln>
          </p:spPr>
        </p:sp>
      </p:grpSp>
      <p:grpSp>
        <p:nvGrpSpPr>
          <p:cNvPr name="Group 66" id="66"/>
          <p:cNvGrpSpPr/>
          <p:nvPr/>
        </p:nvGrpSpPr>
        <p:grpSpPr>
          <a:xfrm rot="0">
            <a:off x="1303020" y="5596128"/>
            <a:ext cx="15636240" cy="493663"/>
            <a:chOff x="0" y="0"/>
            <a:chExt cx="20848320" cy="658217"/>
          </a:xfrm>
        </p:grpSpPr>
        <p:sp>
          <p:nvSpPr>
            <p:cNvPr name="Freeform 67" id="67"/>
            <p:cNvSpPr/>
            <p:nvPr/>
          </p:nvSpPr>
          <p:spPr>
            <a:xfrm flipH="false" flipV="false" rot="0">
              <a:off x="0" y="0"/>
              <a:ext cx="20848320" cy="658217"/>
            </a:xfrm>
            <a:custGeom>
              <a:avLst/>
              <a:gdLst/>
              <a:ahLst/>
              <a:cxnLst/>
              <a:rect r="r" b="b" t="t" l="l"/>
              <a:pathLst>
                <a:path h="658217" w="20848320">
                  <a:moveTo>
                    <a:pt x="0" y="0"/>
                  </a:moveTo>
                  <a:lnTo>
                    <a:pt x="20848320" y="0"/>
                  </a:lnTo>
                  <a:lnTo>
                    <a:pt x="20848320" y="658217"/>
                  </a:lnTo>
                  <a:lnTo>
                    <a:pt x="0" y="658217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68545" r="0" b="-565789"/>
              </a:stretch>
            </a:blipFill>
          </p:spPr>
        </p:sp>
        <p:sp>
          <p:nvSpPr>
            <p:cNvPr name="TextBox 68" id="68"/>
            <p:cNvSpPr txBox="true"/>
            <p:nvPr/>
          </p:nvSpPr>
          <p:spPr>
            <a:xfrm>
              <a:off x="0" y="-9525"/>
              <a:ext cx="20848320" cy="66774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B08D3E"/>
                  </a:solidFill>
                  <a:latin typeface="Arial Bold"/>
                  <a:ea typeface="Arial Bold"/>
                  <a:cs typeface="Arial Bold"/>
                  <a:sym typeface="Arial Bold"/>
                </a:rPr>
                <a:t>Category Distribution Highlights the Prototype's Breadth</a:t>
              </a:r>
            </a:p>
          </p:txBody>
        </p:sp>
      </p:grpSp>
      <p:grpSp>
        <p:nvGrpSpPr>
          <p:cNvPr name="Group 69" id="69"/>
          <p:cNvGrpSpPr/>
          <p:nvPr/>
        </p:nvGrpSpPr>
        <p:grpSpPr>
          <a:xfrm rot="0">
            <a:off x="1303020" y="6240780"/>
            <a:ext cx="15636240" cy="548640"/>
            <a:chOff x="0" y="0"/>
            <a:chExt cx="20848320" cy="731520"/>
          </a:xfrm>
        </p:grpSpPr>
        <p:sp>
          <p:nvSpPr>
            <p:cNvPr name="Freeform 70" id="70"/>
            <p:cNvSpPr/>
            <p:nvPr/>
          </p:nvSpPr>
          <p:spPr>
            <a:xfrm flipH="false" flipV="false" rot="0">
              <a:off x="0" y="0"/>
              <a:ext cx="20848320" cy="731520"/>
            </a:xfrm>
            <a:custGeom>
              <a:avLst/>
              <a:gdLst/>
              <a:ahLst/>
              <a:cxnLst/>
              <a:rect r="r" b="b" t="t" l="l"/>
              <a:pathLst>
                <a:path h="731520" w="20848320">
                  <a:moveTo>
                    <a:pt x="0" y="0"/>
                  </a:moveTo>
                  <a:lnTo>
                    <a:pt x="20848320" y="0"/>
                  </a:lnTo>
                  <a:lnTo>
                    <a:pt x="2084832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05323" r="0" b="-505323"/>
              </a:stretch>
            </a:blipFill>
          </p:spPr>
        </p:sp>
        <p:sp>
          <p:nvSpPr>
            <p:cNvPr name="TextBox 71" id="71"/>
            <p:cNvSpPr txBox="true"/>
            <p:nvPr/>
          </p:nvSpPr>
          <p:spPr>
            <a:xfrm>
              <a:off x="0" y="-9525"/>
              <a:ext cx="20848320" cy="7410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1F2430"/>
                  </a:solidFill>
                  <a:latin typeface="Arial"/>
                  <a:ea typeface="Arial"/>
                  <a:cs typeface="Arial"/>
                  <a:sym typeface="Arial"/>
                </a:rPr>
                <a:t>1 Diabetes  2 Coronary Arteriosclerosis  3 Pneumonia  4 Asthma  5 Anemia  6 Hypothyroidism  7 AIDS  8 Dehydration</a:t>
              </a:r>
            </a:p>
          </p:txBody>
        </p:sp>
      </p:grpSp>
      <p:grpSp>
        <p:nvGrpSpPr>
          <p:cNvPr name="Group 72" id="72"/>
          <p:cNvGrpSpPr/>
          <p:nvPr/>
        </p:nvGrpSpPr>
        <p:grpSpPr>
          <a:xfrm rot="0">
            <a:off x="1303020" y="6858000"/>
            <a:ext cx="15636240" cy="548640"/>
            <a:chOff x="0" y="0"/>
            <a:chExt cx="20848320" cy="731520"/>
          </a:xfrm>
        </p:grpSpPr>
        <p:sp>
          <p:nvSpPr>
            <p:cNvPr name="Freeform 73" id="73"/>
            <p:cNvSpPr/>
            <p:nvPr/>
          </p:nvSpPr>
          <p:spPr>
            <a:xfrm flipH="false" flipV="false" rot="0">
              <a:off x="0" y="0"/>
              <a:ext cx="20848320" cy="731520"/>
            </a:xfrm>
            <a:custGeom>
              <a:avLst/>
              <a:gdLst/>
              <a:ahLst/>
              <a:cxnLst/>
              <a:rect r="r" b="b" t="t" l="l"/>
              <a:pathLst>
                <a:path h="731520" w="20848320">
                  <a:moveTo>
                    <a:pt x="0" y="0"/>
                  </a:moveTo>
                  <a:lnTo>
                    <a:pt x="20848320" y="0"/>
                  </a:lnTo>
                  <a:lnTo>
                    <a:pt x="2084832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05323" r="0" b="-505323"/>
              </a:stretch>
            </a:blipFill>
          </p:spPr>
        </p:sp>
        <p:sp>
          <p:nvSpPr>
            <p:cNvPr name="TextBox 74" id="74"/>
            <p:cNvSpPr txBox="true"/>
            <p:nvPr/>
          </p:nvSpPr>
          <p:spPr>
            <a:xfrm>
              <a:off x="0" y="-9525"/>
              <a:ext cx="20848320" cy="7410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1F2430"/>
                  </a:solidFill>
                  <a:latin typeface="Arial"/>
                  <a:ea typeface="Arial"/>
                  <a:cs typeface="Arial"/>
                  <a:sym typeface="Arial"/>
                </a:rPr>
                <a:t>9 Obesity  10 Arthritis  11 Bronchitis  12 Pancreatitis  13 Peptic Ulcer  14 Gastritis  15 Hepatitis  16 Influenza</a:t>
              </a:r>
            </a:p>
          </p:txBody>
        </p:sp>
      </p:grpSp>
      <p:grpSp>
        <p:nvGrpSpPr>
          <p:cNvPr name="Group 75" id="75"/>
          <p:cNvGrpSpPr/>
          <p:nvPr/>
        </p:nvGrpSpPr>
        <p:grpSpPr>
          <a:xfrm rot="0">
            <a:off x="1303020" y="7475220"/>
            <a:ext cx="15636240" cy="548640"/>
            <a:chOff x="0" y="0"/>
            <a:chExt cx="20848320" cy="731520"/>
          </a:xfrm>
        </p:grpSpPr>
        <p:sp>
          <p:nvSpPr>
            <p:cNvPr name="Freeform 76" id="76"/>
            <p:cNvSpPr/>
            <p:nvPr/>
          </p:nvSpPr>
          <p:spPr>
            <a:xfrm flipH="false" flipV="false" rot="0">
              <a:off x="0" y="0"/>
              <a:ext cx="20848320" cy="731520"/>
            </a:xfrm>
            <a:custGeom>
              <a:avLst/>
              <a:gdLst/>
              <a:ahLst/>
              <a:cxnLst/>
              <a:rect r="r" b="b" t="t" l="l"/>
              <a:pathLst>
                <a:path h="731520" w="20848320">
                  <a:moveTo>
                    <a:pt x="0" y="0"/>
                  </a:moveTo>
                  <a:lnTo>
                    <a:pt x="20848320" y="0"/>
                  </a:lnTo>
                  <a:lnTo>
                    <a:pt x="2084832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05323" r="0" b="-505323"/>
              </a:stretch>
            </a:blipFill>
          </p:spPr>
        </p:sp>
        <p:sp>
          <p:nvSpPr>
            <p:cNvPr name="TextBox 77" id="77"/>
            <p:cNvSpPr txBox="true"/>
            <p:nvPr/>
          </p:nvSpPr>
          <p:spPr>
            <a:xfrm>
              <a:off x="0" y="-9525"/>
              <a:ext cx="20848320" cy="7410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1F2430"/>
                  </a:solidFill>
                  <a:latin typeface="Arial"/>
                  <a:ea typeface="Arial"/>
                  <a:cs typeface="Arial"/>
                  <a:sym typeface="Arial"/>
                </a:rPr>
                <a:t>17 Tuberculosis  18 Malaria  19 Dengue  20 Corona Virus  21 Conjunctivitis  22 Eye Allergy  23 Typhoid</a:t>
              </a:r>
            </a:p>
          </p:txBody>
        </p:sp>
      </p:grpSp>
      <p:grpSp>
        <p:nvGrpSpPr>
          <p:cNvPr name="Group 78" id="78"/>
          <p:cNvGrpSpPr/>
          <p:nvPr/>
        </p:nvGrpSpPr>
        <p:grpSpPr>
          <a:xfrm rot="0">
            <a:off x="1303020" y="8092440"/>
            <a:ext cx="15636240" cy="548640"/>
            <a:chOff x="0" y="0"/>
            <a:chExt cx="20848320" cy="731520"/>
          </a:xfrm>
        </p:grpSpPr>
        <p:sp>
          <p:nvSpPr>
            <p:cNvPr name="Freeform 79" id="79"/>
            <p:cNvSpPr/>
            <p:nvPr/>
          </p:nvSpPr>
          <p:spPr>
            <a:xfrm flipH="false" flipV="false" rot="0">
              <a:off x="0" y="0"/>
              <a:ext cx="20848320" cy="731520"/>
            </a:xfrm>
            <a:custGeom>
              <a:avLst/>
              <a:gdLst/>
              <a:ahLst/>
              <a:cxnLst/>
              <a:rect r="r" b="b" t="t" l="l"/>
              <a:pathLst>
                <a:path h="731520" w="20848320">
                  <a:moveTo>
                    <a:pt x="0" y="0"/>
                  </a:moveTo>
                  <a:lnTo>
                    <a:pt x="20848320" y="0"/>
                  </a:lnTo>
                  <a:lnTo>
                    <a:pt x="2084832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05323" r="0" b="-505323"/>
              </a:stretch>
            </a:blipFill>
          </p:spPr>
        </p:sp>
        <p:sp>
          <p:nvSpPr>
            <p:cNvPr name="TextBox 80" id="80"/>
            <p:cNvSpPr txBox="true"/>
            <p:nvPr/>
          </p:nvSpPr>
          <p:spPr>
            <a:xfrm>
              <a:off x="0" y="-9525"/>
              <a:ext cx="20848320" cy="7410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1F2430"/>
                  </a:solidFill>
                  <a:latin typeface="Arial"/>
                  <a:ea typeface="Arial"/>
                  <a:cs typeface="Arial"/>
                  <a:sym typeface="Arial"/>
                </a:rPr>
                <a:t>24 Chikungunya  25 Sinusitis  26 Common Cold  27 UTI  28 Gastroenteritis  29 COPD  30 Hyperthyroidism  31 Dry Eye Syndrome</a:t>
              </a:r>
            </a:p>
          </p:txBody>
        </p:sp>
      </p:grpSp>
      <p:grpSp>
        <p:nvGrpSpPr>
          <p:cNvPr name="Group 81" id="81"/>
          <p:cNvGrpSpPr/>
          <p:nvPr/>
        </p:nvGrpSpPr>
        <p:grpSpPr>
          <a:xfrm rot="0">
            <a:off x="685800" y="9848088"/>
            <a:ext cx="9601200" cy="384048"/>
            <a:chOff x="0" y="0"/>
            <a:chExt cx="12801600" cy="512064"/>
          </a:xfrm>
        </p:grpSpPr>
        <p:sp>
          <p:nvSpPr>
            <p:cNvPr name="Freeform 82" id="82"/>
            <p:cNvSpPr/>
            <p:nvPr/>
          </p:nvSpPr>
          <p:spPr>
            <a:xfrm flipH="false" flipV="false" rot="0">
              <a:off x="0" y="0"/>
              <a:ext cx="12801600" cy="512064"/>
            </a:xfrm>
            <a:custGeom>
              <a:avLst/>
              <a:gdLst/>
              <a:ahLst/>
              <a:cxnLst/>
              <a:rect r="r" b="b" t="t" l="l"/>
              <a:pathLst>
                <a:path h="512064" w="12801600">
                  <a:moveTo>
                    <a:pt x="0" y="0"/>
                  </a:moveTo>
                  <a:lnTo>
                    <a:pt x="12801600" y="0"/>
                  </a:lnTo>
                  <a:lnTo>
                    <a:pt x="12801600" y="512064"/>
                  </a:lnTo>
                  <a:lnTo>
                    <a:pt x="0" y="5120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37125" r="0" b="-437125"/>
              </a:stretch>
            </a:blipFill>
          </p:spPr>
        </p:sp>
        <p:sp>
          <p:nvSpPr>
            <p:cNvPr name="TextBox 83" id="83"/>
            <p:cNvSpPr txBox="true"/>
            <p:nvPr/>
          </p:nvSpPr>
          <p:spPr>
            <a:xfrm>
              <a:off x="0" y="-19050"/>
              <a:ext cx="12801600" cy="53111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439"/>
                </a:lnSpc>
              </a:pPr>
              <a:r>
                <a:rPr lang="en-US" sz="1200">
                  <a:solidFill>
                    <a:srgbClr val="666B78"/>
                  </a:solidFill>
                  <a:latin typeface="Arial"/>
                  <a:ea typeface="Arial"/>
                  <a:cs typeface="Arial"/>
                  <a:sym typeface="Arial"/>
                </a:rPr>
                <a:t>Medical Diagnosis Expert System  |  CSE440</a:t>
              </a:r>
            </a:p>
          </p:txBody>
        </p:sp>
      </p:grpSp>
      <p:grpSp>
        <p:nvGrpSpPr>
          <p:cNvPr name="Group 84" id="84"/>
          <p:cNvGrpSpPr/>
          <p:nvPr/>
        </p:nvGrpSpPr>
        <p:grpSpPr>
          <a:xfrm rot="0">
            <a:off x="17145000" y="9848088"/>
            <a:ext cx="548640" cy="384048"/>
            <a:chOff x="0" y="0"/>
            <a:chExt cx="731520" cy="512064"/>
          </a:xfrm>
        </p:grpSpPr>
        <p:sp>
          <p:nvSpPr>
            <p:cNvPr name="Freeform 85" id="85"/>
            <p:cNvSpPr/>
            <p:nvPr/>
          </p:nvSpPr>
          <p:spPr>
            <a:xfrm flipH="false" flipV="false" rot="0">
              <a:off x="0" y="0"/>
              <a:ext cx="731520" cy="512064"/>
            </a:xfrm>
            <a:custGeom>
              <a:avLst/>
              <a:gdLst/>
              <a:ahLst/>
              <a:cxnLst/>
              <a:rect r="r" b="b" t="t" l="l"/>
              <a:pathLst>
                <a:path h="512064" w="731520">
                  <a:moveTo>
                    <a:pt x="0" y="0"/>
                  </a:moveTo>
                  <a:lnTo>
                    <a:pt x="731520" y="0"/>
                  </a:lnTo>
                  <a:lnTo>
                    <a:pt x="731520" y="512064"/>
                  </a:lnTo>
                  <a:lnTo>
                    <a:pt x="0" y="5120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39812" t="0" r="-39812" b="0"/>
              </a:stretch>
            </a:blipFill>
          </p:spPr>
        </p:sp>
        <p:sp>
          <p:nvSpPr>
            <p:cNvPr name="TextBox 86" id="86"/>
            <p:cNvSpPr txBox="true"/>
            <p:nvPr/>
          </p:nvSpPr>
          <p:spPr>
            <a:xfrm>
              <a:off x="0" y="-19050"/>
              <a:ext cx="731520" cy="53111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439"/>
                </a:lnSpc>
              </a:pPr>
              <a:r>
                <a:rPr lang="en-US" sz="1200">
                  <a:solidFill>
                    <a:srgbClr val="666B78"/>
                  </a:solidFill>
                  <a:latin typeface="Arial"/>
                  <a:ea typeface="Arial"/>
                  <a:cs typeface="Arial"/>
                  <a:sym typeface="Arial"/>
                </a:rPr>
                <a:t>9</a:t>
              </a:r>
            </a:p>
          </p:txBody>
        </p:sp>
      </p:grp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6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22960" y="685800"/>
            <a:ext cx="16596360" cy="822960"/>
            <a:chOff x="0" y="0"/>
            <a:chExt cx="22128480" cy="109728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2128480" cy="1097280"/>
            </a:xfrm>
            <a:custGeom>
              <a:avLst/>
              <a:gdLst/>
              <a:ahLst/>
              <a:cxnLst/>
              <a:rect r="r" b="b" t="t" l="l"/>
              <a:pathLst>
                <a:path h="1097280" w="22128480">
                  <a:moveTo>
                    <a:pt x="0" y="0"/>
                  </a:moveTo>
                  <a:lnTo>
                    <a:pt x="22128480" y="0"/>
                  </a:lnTo>
                  <a:lnTo>
                    <a:pt x="2212848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42948" r="0" b="-342948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19050"/>
              <a:ext cx="22128480" cy="11163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040"/>
                </a:lnSpc>
              </a:pPr>
              <a:r>
                <a:rPr lang="en-US" sz="4200" b="true">
                  <a:solidFill>
                    <a:srgbClr val="1F243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Symptom Categories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822960" y="1508760"/>
            <a:ext cx="16596360" cy="548640"/>
            <a:chOff x="0" y="0"/>
            <a:chExt cx="22128480" cy="73152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2128480" cy="731520"/>
            </a:xfrm>
            <a:custGeom>
              <a:avLst/>
              <a:gdLst/>
              <a:ahLst/>
              <a:cxnLst/>
              <a:rect r="r" b="b" t="t" l="l"/>
              <a:pathLst>
                <a:path h="731520" w="22128480">
                  <a:moveTo>
                    <a:pt x="0" y="0"/>
                  </a:moveTo>
                  <a:lnTo>
                    <a:pt x="22128480" y="0"/>
                  </a:lnTo>
                  <a:lnTo>
                    <a:pt x="2212848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39422" r="0" b="-539422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19050"/>
              <a:ext cx="22128480" cy="7505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sz="1950">
                  <a:solidFill>
                    <a:srgbClr val="666B78"/>
                  </a:solidFill>
                  <a:latin typeface="Arial"/>
                  <a:ea typeface="Arial"/>
                  <a:cs typeface="Arial"/>
                  <a:sym typeface="Arial"/>
                </a:rPr>
                <a:t>The 172 symptom questions are organized into 8 clinical categories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813435" y="2665095"/>
            <a:ext cx="3996690" cy="2967990"/>
            <a:chOff x="0" y="0"/>
            <a:chExt cx="5328920" cy="395732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5328920" cy="3957320"/>
            </a:xfrm>
            <a:custGeom>
              <a:avLst/>
              <a:gdLst/>
              <a:ahLst/>
              <a:cxnLst/>
              <a:rect r="r" b="b" t="t" l="l"/>
              <a:pathLst>
                <a:path h="3957320" w="5328920">
                  <a:moveTo>
                    <a:pt x="0" y="147193"/>
                  </a:moveTo>
                  <a:cubicBezTo>
                    <a:pt x="0" y="65913"/>
                    <a:pt x="65913" y="0"/>
                    <a:pt x="147193" y="0"/>
                  </a:cubicBezTo>
                  <a:lnTo>
                    <a:pt x="5181727" y="0"/>
                  </a:lnTo>
                  <a:cubicBezTo>
                    <a:pt x="5263007" y="0"/>
                    <a:pt x="5328920" y="65913"/>
                    <a:pt x="5328920" y="147193"/>
                  </a:cubicBezTo>
                  <a:lnTo>
                    <a:pt x="5328920" y="3810127"/>
                  </a:lnTo>
                  <a:cubicBezTo>
                    <a:pt x="5328920" y="3891407"/>
                    <a:pt x="5263007" y="3957320"/>
                    <a:pt x="5181727" y="3957320"/>
                  </a:cubicBezTo>
                  <a:lnTo>
                    <a:pt x="147193" y="3957320"/>
                  </a:lnTo>
                  <a:cubicBezTo>
                    <a:pt x="65913" y="3957320"/>
                    <a:pt x="0" y="3891407"/>
                    <a:pt x="0" y="3810127"/>
                  </a:cubicBezTo>
                  <a:close/>
                </a:path>
              </a:pathLst>
            </a:custGeom>
            <a:solidFill>
              <a:srgbClr val="F8F2E3"/>
            </a:solidFill>
            <a:ln w="19050" cap="sq">
              <a:solidFill>
                <a:srgbClr val="E6E1D3"/>
              </a:solidFill>
              <a:prstDash val="solid"/>
              <a:miter/>
            </a:ln>
          </p:spPr>
        </p:sp>
      </p:grpSp>
      <p:grpSp>
        <p:nvGrpSpPr>
          <p:cNvPr name="Group 10" id="10"/>
          <p:cNvGrpSpPr/>
          <p:nvPr/>
        </p:nvGrpSpPr>
        <p:grpSpPr>
          <a:xfrm rot="0">
            <a:off x="1165860" y="3017520"/>
            <a:ext cx="548640" cy="96012"/>
            <a:chOff x="0" y="0"/>
            <a:chExt cx="731520" cy="128016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731520" cy="128016"/>
            </a:xfrm>
            <a:custGeom>
              <a:avLst/>
              <a:gdLst/>
              <a:ahLst/>
              <a:cxnLst/>
              <a:rect r="r" b="b" t="t" l="l"/>
              <a:pathLst>
                <a:path h="128016" w="731520">
                  <a:moveTo>
                    <a:pt x="0" y="0"/>
                  </a:moveTo>
                  <a:lnTo>
                    <a:pt x="731520" y="0"/>
                  </a:lnTo>
                  <a:lnTo>
                    <a:pt x="731520" y="128016"/>
                  </a:lnTo>
                  <a:lnTo>
                    <a:pt x="0" y="128016"/>
                  </a:lnTo>
                  <a:close/>
                </a:path>
              </a:pathLst>
            </a:custGeom>
            <a:solidFill>
              <a:srgbClr val="B08D3E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1165860" y="3223260"/>
            <a:ext cx="3291840" cy="754380"/>
            <a:chOff x="0" y="0"/>
            <a:chExt cx="4389120" cy="100584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4389120" cy="1005840"/>
            </a:xfrm>
            <a:custGeom>
              <a:avLst/>
              <a:gdLst/>
              <a:ahLst/>
              <a:cxnLst/>
              <a:rect r="r" b="b" t="t" l="l"/>
              <a:pathLst>
                <a:path h="1005840" w="4389120">
                  <a:moveTo>
                    <a:pt x="0" y="0"/>
                  </a:moveTo>
                  <a:lnTo>
                    <a:pt x="4389120" y="0"/>
                  </a:lnTo>
                  <a:lnTo>
                    <a:pt x="4389120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5025" r="0" b="-35025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28575"/>
              <a:ext cx="4389120" cy="10344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71"/>
                </a:lnSpc>
              </a:pPr>
              <a:r>
                <a:rPr lang="en-US" sz="2199" b="true">
                  <a:solidFill>
                    <a:srgbClr val="1F243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Respiratory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165860" y="4018788"/>
            <a:ext cx="3291840" cy="1440180"/>
            <a:chOff x="0" y="0"/>
            <a:chExt cx="4389120" cy="192024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4389120" cy="1920240"/>
            </a:xfrm>
            <a:custGeom>
              <a:avLst/>
              <a:gdLst/>
              <a:ahLst/>
              <a:cxnLst/>
              <a:rect r="r" b="b" t="t" l="l"/>
              <a:pathLst>
                <a:path h="1920240" w="4389120">
                  <a:moveTo>
                    <a:pt x="0" y="0"/>
                  </a:moveTo>
                  <a:lnTo>
                    <a:pt x="4389120" y="0"/>
                  </a:lnTo>
                  <a:lnTo>
                    <a:pt x="4389120" y="1920240"/>
                  </a:lnTo>
                  <a:lnTo>
                    <a:pt x="0" y="19202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6132" t="0" r="-6132" b="0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57150"/>
              <a:ext cx="4389120" cy="19773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92"/>
                </a:lnSpc>
              </a:pPr>
              <a:r>
                <a:rPr lang="en-US" sz="1800">
                  <a:solidFill>
                    <a:srgbClr val="666B78"/>
                  </a:solidFill>
                  <a:latin typeface="Arial"/>
                  <a:ea typeface="Arial"/>
                  <a:cs typeface="Arial"/>
                  <a:sym typeface="Arial"/>
                </a:rPr>
                <a:t>cough, chest pain, wheezing, breathlessness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5065395" y="2665095"/>
            <a:ext cx="3996690" cy="2967990"/>
            <a:chOff x="0" y="0"/>
            <a:chExt cx="5328920" cy="395732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5328920" cy="3957320"/>
            </a:xfrm>
            <a:custGeom>
              <a:avLst/>
              <a:gdLst/>
              <a:ahLst/>
              <a:cxnLst/>
              <a:rect r="r" b="b" t="t" l="l"/>
              <a:pathLst>
                <a:path h="3957320" w="5328920">
                  <a:moveTo>
                    <a:pt x="0" y="147193"/>
                  </a:moveTo>
                  <a:cubicBezTo>
                    <a:pt x="0" y="65913"/>
                    <a:pt x="65913" y="0"/>
                    <a:pt x="147193" y="0"/>
                  </a:cubicBezTo>
                  <a:lnTo>
                    <a:pt x="5181727" y="0"/>
                  </a:lnTo>
                  <a:cubicBezTo>
                    <a:pt x="5263007" y="0"/>
                    <a:pt x="5328920" y="65913"/>
                    <a:pt x="5328920" y="147193"/>
                  </a:cubicBezTo>
                  <a:lnTo>
                    <a:pt x="5328920" y="3810127"/>
                  </a:lnTo>
                  <a:cubicBezTo>
                    <a:pt x="5328920" y="3891407"/>
                    <a:pt x="5263007" y="3957320"/>
                    <a:pt x="5181727" y="3957320"/>
                  </a:cubicBezTo>
                  <a:lnTo>
                    <a:pt x="147193" y="3957320"/>
                  </a:lnTo>
                  <a:cubicBezTo>
                    <a:pt x="65913" y="3957320"/>
                    <a:pt x="0" y="3891407"/>
                    <a:pt x="0" y="3810127"/>
                  </a:cubicBezTo>
                  <a:close/>
                </a:path>
              </a:pathLst>
            </a:custGeom>
            <a:solidFill>
              <a:srgbClr val="F8F2E3"/>
            </a:solidFill>
            <a:ln w="19050" cap="sq">
              <a:solidFill>
                <a:srgbClr val="E6E1D3"/>
              </a:solidFill>
              <a:prstDash val="solid"/>
              <a:miter/>
            </a:ln>
          </p:spPr>
        </p:sp>
      </p:grpSp>
      <p:grpSp>
        <p:nvGrpSpPr>
          <p:cNvPr name="Group 20" id="20"/>
          <p:cNvGrpSpPr/>
          <p:nvPr/>
        </p:nvGrpSpPr>
        <p:grpSpPr>
          <a:xfrm rot="0">
            <a:off x="5417820" y="3017520"/>
            <a:ext cx="548640" cy="96012"/>
            <a:chOff x="0" y="0"/>
            <a:chExt cx="731520" cy="128016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731520" cy="128016"/>
            </a:xfrm>
            <a:custGeom>
              <a:avLst/>
              <a:gdLst/>
              <a:ahLst/>
              <a:cxnLst/>
              <a:rect r="r" b="b" t="t" l="l"/>
              <a:pathLst>
                <a:path h="128016" w="731520">
                  <a:moveTo>
                    <a:pt x="0" y="0"/>
                  </a:moveTo>
                  <a:lnTo>
                    <a:pt x="731520" y="0"/>
                  </a:lnTo>
                  <a:lnTo>
                    <a:pt x="731520" y="128016"/>
                  </a:lnTo>
                  <a:lnTo>
                    <a:pt x="0" y="128016"/>
                  </a:lnTo>
                  <a:close/>
                </a:path>
              </a:pathLst>
            </a:custGeom>
            <a:solidFill>
              <a:srgbClr val="B08D3E"/>
            </a:solid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5417820" y="3223260"/>
            <a:ext cx="3291840" cy="754380"/>
            <a:chOff x="0" y="0"/>
            <a:chExt cx="4389120" cy="100584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4389120" cy="1005840"/>
            </a:xfrm>
            <a:custGeom>
              <a:avLst/>
              <a:gdLst/>
              <a:ahLst/>
              <a:cxnLst/>
              <a:rect r="r" b="b" t="t" l="l"/>
              <a:pathLst>
                <a:path h="1005840" w="4389120">
                  <a:moveTo>
                    <a:pt x="0" y="0"/>
                  </a:moveTo>
                  <a:lnTo>
                    <a:pt x="4389120" y="0"/>
                  </a:lnTo>
                  <a:lnTo>
                    <a:pt x="4389120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5025" r="0" b="-35025"/>
              </a:stretch>
            </a:blip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28575"/>
              <a:ext cx="4389120" cy="10344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71"/>
                </a:lnSpc>
              </a:pPr>
              <a:r>
                <a:rPr lang="en-US" sz="2199" b="true">
                  <a:solidFill>
                    <a:srgbClr val="1F243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Gastrointestinal</a:t>
              </a: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5417820" y="4018788"/>
            <a:ext cx="3291840" cy="1440180"/>
            <a:chOff x="0" y="0"/>
            <a:chExt cx="4389120" cy="192024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4389120" cy="1920240"/>
            </a:xfrm>
            <a:custGeom>
              <a:avLst/>
              <a:gdLst/>
              <a:ahLst/>
              <a:cxnLst/>
              <a:rect r="r" b="b" t="t" l="l"/>
              <a:pathLst>
                <a:path h="1920240" w="4389120">
                  <a:moveTo>
                    <a:pt x="0" y="0"/>
                  </a:moveTo>
                  <a:lnTo>
                    <a:pt x="4389120" y="0"/>
                  </a:lnTo>
                  <a:lnTo>
                    <a:pt x="4389120" y="1920240"/>
                  </a:lnTo>
                  <a:lnTo>
                    <a:pt x="0" y="19202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6132" t="0" r="-6132" b="0"/>
              </a:stretch>
            </a:blipFill>
          </p:spPr>
        </p:sp>
        <p:sp>
          <p:nvSpPr>
            <p:cNvPr name="TextBox 27" id="27"/>
            <p:cNvSpPr txBox="true"/>
            <p:nvPr/>
          </p:nvSpPr>
          <p:spPr>
            <a:xfrm>
              <a:off x="0" y="-57150"/>
              <a:ext cx="4389120" cy="19773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92"/>
                </a:lnSpc>
              </a:pPr>
              <a:r>
                <a:rPr lang="en-US" sz="1800">
                  <a:solidFill>
                    <a:srgbClr val="666B78"/>
                  </a:solidFill>
                  <a:latin typeface="Arial"/>
                  <a:ea typeface="Arial"/>
                  <a:cs typeface="Arial"/>
                  <a:sym typeface="Arial"/>
                </a:rPr>
                <a:t>nausea, vomiting, abdominal pain, bloating</a:t>
              </a: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9317355" y="2665095"/>
            <a:ext cx="3996690" cy="2967990"/>
            <a:chOff x="0" y="0"/>
            <a:chExt cx="5328920" cy="395732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5328920" cy="3957320"/>
            </a:xfrm>
            <a:custGeom>
              <a:avLst/>
              <a:gdLst/>
              <a:ahLst/>
              <a:cxnLst/>
              <a:rect r="r" b="b" t="t" l="l"/>
              <a:pathLst>
                <a:path h="3957320" w="5328920">
                  <a:moveTo>
                    <a:pt x="0" y="147193"/>
                  </a:moveTo>
                  <a:cubicBezTo>
                    <a:pt x="0" y="65913"/>
                    <a:pt x="65913" y="0"/>
                    <a:pt x="147193" y="0"/>
                  </a:cubicBezTo>
                  <a:lnTo>
                    <a:pt x="5181727" y="0"/>
                  </a:lnTo>
                  <a:cubicBezTo>
                    <a:pt x="5263007" y="0"/>
                    <a:pt x="5328920" y="65913"/>
                    <a:pt x="5328920" y="147193"/>
                  </a:cubicBezTo>
                  <a:lnTo>
                    <a:pt x="5328920" y="3810127"/>
                  </a:lnTo>
                  <a:cubicBezTo>
                    <a:pt x="5328920" y="3891407"/>
                    <a:pt x="5263007" y="3957320"/>
                    <a:pt x="5181727" y="3957320"/>
                  </a:cubicBezTo>
                  <a:lnTo>
                    <a:pt x="147193" y="3957320"/>
                  </a:lnTo>
                  <a:cubicBezTo>
                    <a:pt x="65913" y="3957320"/>
                    <a:pt x="0" y="3891407"/>
                    <a:pt x="0" y="3810127"/>
                  </a:cubicBezTo>
                  <a:close/>
                </a:path>
              </a:pathLst>
            </a:custGeom>
            <a:solidFill>
              <a:srgbClr val="F8F2E3"/>
            </a:solidFill>
            <a:ln w="19050" cap="sq">
              <a:solidFill>
                <a:srgbClr val="E6E1D3"/>
              </a:solidFill>
              <a:prstDash val="solid"/>
              <a:miter/>
            </a:ln>
          </p:spPr>
        </p:sp>
      </p:grpSp>
      <p:grpSp>
        <p:nvGrpSpPr>
          <p:cNvPr name="Group 30" id="30"/>
          <p:cNvGrpSpPr/>
          <p:nvPr/>
        </p:nvGrpSpPr>
        <p:grpSpPr>
          <a:xfrm rot="0">
            <a:off x="9669780" y="3017520"/>
            <a:ext cx="548640" cy="96012"/>
            <a:chOff x="0" y="0"/>
            <a:chExt cx="731520" cy="128016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731520" cy="128016"/>
            </a:xfrm>
            <a:custGeom>
              <a:avLst/>
              <a:gdLst/>
              <a:ahLst/>
              <a:cxnLst/>
              <a:rect r="r" b="b" t="t" l="l"/>
              <a:pathLst>
                <a:path h="128016" w="731520">
                  <a:moveTo>
                    <a:pt x="0" y="0"/>
                  </a:moveTo>
                  <a:lnTo>
                    <a:pt x="731520" y="0"/>
                  </a:lnTo>
                  <a:lnTo>
                    <a:pt x="731520" y="128016"/>
                  </a:lnTo>
                  <a:lnTo>
                    <a:pt x="0" y="128016"/>
                  </a:lnTo>
                  <a:close/>
                </a:path>
              </a:pathLst>
            </a:custGeom>
            <a:solidFill>
              <a:srgbClr val="B08D3E"/>
            </a:solidFill>
          </p:spPr>
        </p:sp>
      </p:grpSp>
      <p:grpSp>
        <p:nvGrpSpPr>
          <p:cNvPr name="Group 32" id="32"/>
          <p:cNvGrpSpPr/>
          <p:nvPr/>
        </p:nvGrpSpPr>
        <p:grpSpPr>
          <a:xfrm rot="0">
            <a:off x="9669780" y="3223260"/>
            <a:ext cx="3291840" cy="754380"/>
            <a:chOff x="0" y="0"/>
            <a:chExt cx="4389120" cy="100584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4389120" cy="1005840"/>
            </a:xfrm>
            <a:custGeom>
              <a:avLst/>
              <a:gdLst/>
              <a:ahLst/>
              <a:cxnLst/>
              <a:rect r="r" b="b" t="t" l="l"/>
              <a:pathLst>
                <a:path h="1005840" w="4389120">
                  <a:moveTo>
                    <a:pt x="0" y="0"/>
                  </a:moveTo>
                  <a:lnTo>
                    <a:pt x="4389120" y="0"/>
                  </a:lnTo>
                  <a:lnTo>
                    <a:pt x="4389120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5025" r="0" b="-35025"/>
              </a:stretch>
            </a:blipFill>
          </p:spPr>
        </p:sp>
        <p:sp>
          <p:nvSpPr>
            <p:cNvPr name="TextBox 34" id="34"/>
            <p:cNvSpPr txBox="true"/>
            <p:nvPr/>
          </p:nvSpPr>
          <p:spPr>
            <a:xfrm>
              <a:off x="0" y="-28575"/>
              <a:ext cx="4389120" cy="10344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71"/>
                </a:lnSpc>
              </a:pPr>
              <a:r>
                <a:rPr lang="en-US" sz="2199" b="true">
                  <a:solidFill>
                    <a:srgbClr val="1F243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Hepatic / Urinary</a:t>
              </a: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9669780" y="4018788"/>
            <a:ext cx="3291840" cy="1440180"/>
            <a:chOff x="0" y="0"/>
            <a:chExt cx="4389120" cy="192024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4389120" cy="1920240"/>
            </a:xfrm>
            <a:custGeom>
              <a:avLst/>
              <a:gdLst/>
              <a:ahLst/>
              <a:cxnLst/>
              <a:rect r="r" b="b" t="t" l="l"/>
              <a:pathLst>
                <a:path h="1920240" w="4389120">
                  <a:moveTo>
                    <a:pt x="0" y="0"/>
                  </a:moveTo>
                  <a:lnTo>
                    <a:pt x="4389120" y="0"/>
                  </a:lnTo>
                  <a:lnTo>
                    <a:pt x="4389120" y="1920240"/>
                  </a:lnTo>
                  <a:lnTo>
                    <a:pt x="0" y="19202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6132" t="0" r="-6132" b="0"/>
              </a:stretch>
            </a:blipFill>
          </p:spPr>
        </p:sp>
        <p:sp>
          <p:nvSpPr>
            <p:cNvPr name="TextBox 37" id="37"/>
            <p:cNvSpPr txBox="true"/>
            <p:nvPr/>
          </p:nvSpPr>
          <p:spPr>
            <a:xfrm>
              <a:off x="0" y="-57150"/>
              <a:ext cx="4389120" cy="19773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92"/>
                </a:lnSpc>
              </a:pPr>
              <a:r>
                <a:rPr lang="en-US" sz="1800">
                  <a:solidFill>
                    <a:srgbClr val="666B78"/>
                  </a:solidFill>
                  <a:latin typeface="Arial"/>
                  <a:ea typeface="Arial"/>
                  <a:cs typeface="Arial"/>
                  <a:sym typeface="Arial"/>
                </a:rPr>
                <a:t>dark urine, pale stool, jaundice, burning urination</a:t>
              </a: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13569315" y="2665095"/>
            <a:ext cx="3996690" cy="2967990"/>
            <a:chOff x="0" y="0"/>
            <a:chExt cx="5328920" cy="395732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5328920" cy="3957320"/>
            </a:xfrm>
            <a:custGeom>
              <a:avLst/>
              <a:gdLst/>
              <a:ahLst/>
              <a:cxnLst/>
              <a:rect r="r" b="b" t="t" l="l"/>
              <a:pathLst>
                <a:path h="3957320" w="5328920">
                  <a:moveTo>
                    <a:pt x="0" y="147193"/>
                  </a:moveTo>
                  <a:cubicBezTo>
                    <a:pt x="0" y="65913"/>
                    <a:pt x="65913" y="0"/>
                    <a:pt x="147193" y="0"/>
                  </a:cubicBezTo>
                  <a:lnTo>
                    <a:pt x="5181727" y="0"/>
                  </a:lnTo>
                  <a:cubicBezTo>
                    <a:pt x="5263007" y="0"/>
                    <a:pt x="5328920" y="65913"/>
                    <a:pt x="5328920" y="147193"/>
                  </a:cubicBezTo>
                  <a:lnTo>
                    <a:pt x="5328920" y="3810127"/>
                  </a:lnTo>
                  <a:cubicBezTo>
                    <a:pt x="5328920" y="3891407"/>
                    <a:pt x="5263007" y="3957320"/>
                    <a:pt x="5181727" y="3957320"/>
                  </a:cubicBezTo>
                  <a:lnTo>
                    <a:pt x="147193" y="3957320"/>
                  </a:lnTo>
                  <a:cubicBezTo>
                    <a:pt x="65913" y="3957320"/>
                    <a:pt x="0" y="3891407"/>
                    <a:pt x="0" y="3810127"/>
                  </a:cubicBezTo>
                  <a:close/>
                </a:path>
              </a:pathLst>
            </a:custGeom>
            <a:solidFill>
              <a:srgbClr val="F8F2E3"/>
            </a:solidFill>
            <a:ln w="19050" cap="sq">
              <a:solidFill>
                <a:srgbClr val="E6E1D3"/>
              </a:solidFill>
              <a:prstDash val="solid"/>
              <a:miter/>
            </a:ln>
          </p:spPr>
        </p:sp>
      </p:grpSp>
      <p:grpSp>
        <p:nvGrpSpPr>
          <p:cNvPr name="Group 40" id="40"/>
          <p:cNvGrpSpPr/>
          <p:nvPr/>
        </p:nvGrpSpPr>
        <p:grpSpPr>
          <a:xfrm rot="0">
            <a:off x="13921740" y="3017520"/>
            <a:ext cx="548640" cy="96012"/>
            <a:chOff x="0" y="0"/>
            <a:chExt cx="731520" cy="128016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731520" cy="128016"/>
            </a:xfrm>
            <a:custGeom>
              <a:avLst/>
              <a:gdLst/>
              <a:ahLst/>
              <a:cxnLst/>
              <a:rect r="r" b="b" t="t" l="l"/>
              <a:pathLst>
                <a:path h="128016" w="731520">
                  <a:moveTo>
                    <a:pt x="0" y="0"/>
                  </a:moveTo>
                  <a:lnTo>
                    <a:pt x="731520" y="0"/>
                  </a:lnTo>
                  <a:lnTo>
                    <a:pt x="731520" y="128016"/>
                  </a:lnTo>
                  <a:lnTo>
                    <a:pt x="0" y="128016"/>
                  </a:lnTo>
                  <a:close/>
                </a:path>
              </a:pathLst>
            </a:custGeom>
            <a:solidFill>
              <a:srgbClr val="B08D3E"/>
            </a:solidFill>
          </p:spPr>
        </p:sp>
      </p:grpSp>
      <p:grpSp>
        <p:nvGrpSpPr>
          <p:cNvPr name="Group 42" id="42"/>
          <p:cNvGrpSpPr/>
          <p:nvPr/>
        </p:nvGrpSpPr>
        <p:grpSpPr>
          <a:xfrm rot="0">
            <a:off x="13921740" y="3223260"/>
            <a:ext cx="3291840" cy="754380"/>
            <a:chOff x="0" y="0"/>
            <a:chExt cx="4389120" cy="1005840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4389120" cy="1005840"/>
            </a:xfrm>
            <a:custGeom>
              <a:avLst/>
              <a:gdLst/>
              <a:ahLst/>
              <a:cxnLst/>
              <a:rect r="r" b="b" t="t" l="l"/>
              <a:pathLst>
                <a:path h="1005840" w="4389120">
                  <a:moveTo>
                    <a:pt x="0" y="0"/>
                  </a:moveTo>
                  <a:lnTo>
                    <a:pt x="4389120" y="0"/>
                  </a:lnTo>
                  <a:lnTo>
                    <a:pt x="4389120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5025" r="0" b="-35025"/>
              </a:stretch>
            </a:blipFill>
          </p:spPr>
        </p:sp>
        <p:sp>
          <p:nvSpPr>
            <p:cNvPr name="TextBox 44" id="44"/>
            <p:cNvSpPr txBox="true"/>
            <p:nvPr/>
          </p:nvSpPr>
          <p:spPr>
            <a:xfrm>
              <a:off x="0" y="-28575"/>
              <a:ext cx="4389120" cy="10344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71"/>
                </a:lnSpc>
              </a:pPr>
              <a:r>
                <a:rPr lang="en-US" sz="2199" b="true">
                  <a:solidFill>
                    <a:srgbClr val="1F243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Vector-borne</a:t>
              </a:r>
            </a:p>
          </p:txBody>
        </p:sp>
      </p:grpSp>
      <p:grpSp>
        <p:nvGrpSpPr>
          <p:cNvPr name="Group 45" id="45"/>
          <p:cNvGrpSpPr/>
          <p:nvPr/>
        </p:nvGrpSpPr>
        <p:grpSpPr>
          <a:xfrm rot="0">
            <a:off x="13921740" y="4018788"/>
            <a:ext cx="3291840" cy="1440180"/>
            <a:chOff x="0" y="0"/>
            <a:chExt cx="4389120" cy="1920240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4389120" cy="1920240"/>
            </a:xfrm>
            <a:custGeom>
              <a:avLst/>
              <a:gdLst/>
              <a:ahLst/>
              <a:cxnLst/>
              <a:rect r="r" b="b" t="t" l="l"/>
              <a:pathLst>
                <a:path h="1920240" w="4389120">
                  <a:moveTo>
                    <a:pt x="0" y="0"/>
                  </a:moveTo>
                  <a:lnTo>
                    <a:pt x="4389120" y="0"/>
                  </a:lnTo>
                  <a:lnTo>
                    <a:pt x="4389120" y="1920240"/>
                  </a:lnTo>
                  <a:lnTo>
                    <a:pt x="0" y="19202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6132" t="0" r="-6132" b="0"/>
              </a:stretch>
            </a:blipFill>
          </p:spPr>
        </p:sp>
        <p:sp>
          <p:nvSpPr>
            <p:cNvPr name="TextBox 47" id="47"/>
            <p:cNvSpPr txBox="true"/>
            <p:nvPr/>
          </p:nvSpPr>
          <p:spPr>
            <a:xfrm>
              <a:off x="0" y="-57150"/>
              <a:ext cx="4389120" cy="19773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92"/>
                </a:lnSpc>
              </a:pPr>
              <a:r>
                <a:rPr lang="en-US" sz="1800">
                  <a:solidFill>
                    <a:srgbClr val="666B78"/>
                  </a:solidFill>
                  <a:latin typeface="Arial"/>
                  <a:ea typeface="Arial"/>
                  <a:cs typeface="Arial"/>
                  <a:sym typeface="Arial"/>
                </a:rPr>
                <a:t>high fever, rash, retro-orbital pain, joint pain</a:t>
              </a:r>
            </a:p>
          </p:txBody>
        </p:sp>
      </p:grpSp>
      <p:grpSp>
        <p:nvGrpSpPr>
          <p:cNvPr name="Group 48" id="48"/>
          <p:cNvGrpSpPr/>
          <p:nvPr/>
        </p:nvGrpSpPr>
        <p:grpSpPr>
          <a:xfrm rot="0">
            <a:off x="813435" y="5956935"/>
            <a:ext cx="3996690" cy="2967990"/>
            <a:chOff x="0" y="0"/>
            <a:chExt cx="5328920" cy="3957320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5328920" cy="3957320"/>
            </a:xfrm>
            <a:custGeom>
              <a:avLst/>
              <a:gdLst/>
              <a:ahLst/>
              <a:cxnLst/>
              <a:rect r="r" b="b" t="t" l="l"/>
              <a:pathLst>
                <a:path h="3957320" w="5328920">
                  <a:moveTo>
                    <a:pt x="0" y="147193"/>
                  </a:moveTo>
                  <a:cubicBezTo>
                    <a:pt x="0" y="65913"/>
                    <a:pt x="65913" y="0"/>
                    <a:pt x="147193" y="0"/>
                  </a:cubicBezTo>
                  <a:lnTo>
                    <a:pt x="5181727" y="0"/>
                  </a:lnTo>
                  <a:cubicBezTo>
                    <a:pt x="5263007" y="0"/>
                    <a:pt x="5328920" y="65913"/>
                    <a:pt x="5328920" y="147193"/>
                  </a:cubicBezTo>
                  <a:lnTo>
                    <a:pt x="5328920" y="3810127"/>
                  </a:lnTo>
                  <a:cubicBezTo>
                    <a:pt x="5328920" y="3891407"/>
                    <a:pt x="5263007" y="3957320"/>
                    <a:pt x="5181727" y="3957320"/>
                  </a:cubicBezTo>
                  <a:lnTo>
                    <a:pt x="147193" y="3957320"/>
                  </a:lnTo>
                  <a:cubicBezTo>
                    <a:pt x="65913" y="3957320"/>
                    <a:pt x="0" y="3891407"/>
                    <a:pt x="0" y="3810127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E6E1D3"/>
              </a:solidFill>
              <a:prstDash val="solid"/>
              <a:miter/>
            </a:ln>
          </p:spPr>
        </p:sp>
      </p:grpSp>
      <p:grpSp>
        <p:nvGrpSpPr>
          <p:cNvPr name="Group 50" id="50"/>
          <p:cNvGrpSpPr/>
          <p:nvPr/>
        </p:nvGrpSpPr>
        <p:grpSpPr>
          <a:xfrm rot="0">
            <a:off x="1165860" y="6309360"/>
            <a:ext cx="548640" cy="96012"/>
            <a:chOff x="0" y="0"/>
            <a:chExt cx="731520" cy="128016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731520" cy="128016"/>
            </a:xfrm>
            <a:custGeom>
              <a:avLst/>
              <a:gdLst/>
              <a:ahLst/>
              <a:cxnLst/>
              <a:rect r="r" b="b" t="t" l="l"/>
              <a:pathLst>
                <a:path h="128016" w="731520">
                  <a:moveTo>
                    <a:pt x="0" y="0"/>
                  </a:moveTo>
                  <a:lnTo>
                    <a:pt x="731520" y="0"/>
                  </a:lnTo>
                  <a:lnTo>
                    <a:pt x="731520" y="128016"/>
                  </a:lnTo>
                  <a:lnTo>
                    <a:pt x="0" y="128016"/>
                  </a:lnTo>
                  <a:close/>
                </a:path>
              </a:pathLst>
            </a:custGeom>
            <a:solidFill>
              <a:srgbClr val="7A4360"/>
            </a:solidFill>
          </p:spPr>
        </p:sp>
      </p:grpSp>
      <p:grpSp>
        <p:nvGrpSpPr>
          <p:cNvPr name="Group 52" id="52"/>
          <p:cNvGrpSpPr/>
          <p:nvPr/>
        </p:nvGrpSpPr>
        <p:grpSpPr>
          <a:xfrm rot="0">
            <a:off x="1165860" y="6515100"/>
            <a:ext cx="3291840" cy="754380"/>
            <a:chOff x="0" y="0"/>
            <a:chExt cx="4389120" cy="1005840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4389120" cy="1005840"/>
            </a:xfrm>
            <a:custGeom>
              <a:avLst/>
              <a:gdLst/>
              <a:ahLst/>
              <a:cxnLst/>
              <a:rect r="r" b="b" t="t" l="l"/>
              <a:pathLst>
                <a:path h="1005840" w="4389120">
                  <a:moveTo>
                    <a:pt x="0" y="0"/>
                  </a:moveTo>
                  <a:lnTo>
                    <a:pt x="4389120" y="0"/>
                  </a:lnTo>
                  <a:lnTo>
                    <a:pt x="4389120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5025" r="0" b="-35025"/>
              </a:stretch>
            </a:blipFill>
          </p:spPr>
        </p:sp>
        <p:sp>
          <p:nvSpPr>
            <p:cNvPr name="TextBox 54" id="54"/>
            <p:cNvSpPr txBox="true"/>
            <p:nvPr/>
          </p:nvSpPr>
          <p:spPr>
            <a:xfrm>
              <a:off x="0" y="-38100"/>
              <a:ext cx="4389120" cy="10439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62"/>
                </a:lnSpc>
              </a:pPr>
              <a:r>
                <a:rPr lang="en-US" sz="1875" b="true">
                  <a:solidFill>
                    <a:srgbClr val="1F243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Metabolic / Endocrine</a:t>
              </a:r>
            </a:p>
          </p:txBody>
        </p:sp>
      </p:grpSp>
      <p:grpSp>
        <p:nvGrpSpPr>
          <p:cNvPr name="Group 55" id="55"/>
          <p:cNvGrpSpPr/>
          <p:nvPr/>
        </p:nvGrpSpPr>
        <p:grpSpPr>
          <a:xfrm rot="0">
            <a:off x="1165860" y="7310628"/>
            <a:ext cx="3291840" cy="1440180"/>
            <a:chOff x="0" y="0"/>
            <a:chExt cx="4389120" cy="1920240"/>
          </a:xfrm>
        </p:grpSpPr>
        <p:sp>
          <p:nvSpPr>
            <p:cNvPr name="Freeform 56" id="56"/>
            <p:cNvSpPr/>
            <p:nvPr/>
          </p:nvSpPr>
          <p:spPr>
            <a:xfrm flipH="false" flipV="false" rot="0">
              <a:off x="0" y="0"/>
              <a:ext cx="4389120" cy="1920240"/>
            </a:xfrm>
            <a:custGeom>
              <a:avLst/>
              <a:gdLst/>
              <a:ahLst/>
              <a:cxnLst/>
              <a:rect r="r" b="b" t="t" l="l"/>
              <a:pathLst>
                <a:path h="1920240" w="4389120">
                  <a:moveTo>
                    <a:pt x="0" y="0"/>
                  </a:moveTo>
                  <a:lnTo>
                    <a:pt x="4389120" y="0"/>
                  </a:lnTo>
                  <a:lnTo>
                    <a:pt x="4389120" y="1920240"/>
                  </a:lnTo>
                  <a:lnTo>
                    <a:pt x="0" y="19202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6132" t="0" r="-6132" b="0"/>
              </a:stretch>
            </a:blipFill>
          </p:spPr>
        </p:sp>
        <p:sp>
          <p:nvSpPr>
            <p:cNvPr name="TextBox 57" id="57"/>
            <p:cNvSpPr txBox="true"/>
            <p:nvPr/>
          </p:nvSpPr>
          <p:spPr>
            <a:xfrm>
              <a:off x="0" y="-57150"/>
              <a:ext cx="4389120" cy="19773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92"/>
                </a:lnSpc>
              </a:pPr>
              <a:r>
                <a:rPr lang="en-US" sz="1800">
                  <a:solidFill>
                    <a:srgbClr val="666B78"/>
                  </a:solidFill>
                  <a:latin typeface="Arial"/>
                  <a:ea typeface="Arial"/>
                  <a:cs typeface="Arial"/>
                  <a:sym typeface="Arial"/>
                </a:rPr>
                <a:t>thirst, frequent urination, weight change, heat intolerance</a:t>
              </a:r>
            </a:p>
          </p:txBody>
        </p:sp>
      </p:grpSp>
      <p:grpSp>
        <p:nvGrpSpPr>
          <p:cNvPr name="Group 58" id="58"/>
          <p:cNvGrpSpPr/>
          <p:nvPr/>
        </p:nvGrpSpPr>
        <p:grpSpPr>
          <a:xfrm rot="0">
            <a:off x="5065395" y="5956935"/>
            <a:ext cx="3996690" cy="2967990"/>
            <a:chOff x="0" y="0"/>
            <a:chExt cx="5328920" cy="3957320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5328920" cy="3957320"/>
            </a:xfrm>
            <a:custGeom>
              <a:avLst/>
              <a:gdLst/>
              <a:ahLst/>
              <a:cxnLst/>
              <a:rect r="r" b="b" t="t" l="l"/>
              <a:pathLst>
                <a:path h="3957320" w="5328920">
                  <a:moveTo>
                    <a:pt x="0" y="147193"/>
                  </a:moveTo>
                  <a:cubicBezTo>
                    <a:pt x="0" y="65913"/>
                    <a:pt x="65913" y="0"/>
                    <a:pt x="147193" y="0"/>
                  </a:cubicBezTo>
                  <a:lnTo>
                    <a:pt x="5181727" y="0"/>
                  </a:lnTo>
                  <a:cubicBezTo>
                    <a:pt x="5263007" y="0"/>
                    <a:pt x="5328920" y="65913"/>
                    <a:pt x="5328920" y="147193"/>
                  </a:cubicBezTo>
                  <a:lnTo>
                    <a:pt x="5328920" y="3810127"/>
                  </a:lnTo>
                  <a:cubicBezTo>
                    <a:pt x="5328920" y="3891407"/>
                    <a:pt x="5263007" y="3957320"/>
                    <a:pt x="5181727" y="3957320"/>
                  </a:cubicBezTo>
                  <a:lnTo>
                    <a:pt x="147193" y="3957320"/>
                  </a:lnTo>
                  <a:cubicBezTo>
                    <a:pt x="65913" y="3957320"/>
                    <a:pt x="0" y="3891407"/>
                    <a:pt x="0" y="3810127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E6E1D3"/>
              </a:solidFill>
              <a:prstDash val="solid"/>
              <a:miter/>
            </a:ln>
          </p:spPr>
        </p:sp>
      </p:grpSp>
      <p:grpSp>
        <p:nvGrpSpPr>
          <p:cNvPr name="Group 60" id="60"/>
          <p:cNvGrpSpPr/>
          <p:nvPr/>
        </p:nvGrpSpPr>
        <p:grpSpPr>
          <a:xfrm rot="0">
            <a:off x="5417820" y="6309360"/>
            <a:ext cx="548640" cy="96012"/>
            <a:chOff x="0" y="0"/>
            <a:chExt cx="731520" cy="128016"/>
          </a:xfrm>
        </p:grpSpPr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731520" cy="128016"/>
            </a:xfrm>
            <a:custGeom>
              <a:avLst/>
              <a:gdLst/>
              <a:ahLst/>
              <a:cxnLst/>
              <a:rect r="r" b="b" t="t" l="l"/>
              <a:pathLst>
                <a:path h="128016" w="731520">
                  <a:moveTo>
                    <a:pt x="0" y="0"/>
                  </a:moveTo>
                  <a:lnTo>
                    <a:pt x="731520" y="0"/>
                  </a:lnTo>
                  <a:lnTo>
                    <a:pt x="731520" y="128016"/>
                  </a:lnTo>
                  <a:lnTo>
                    <a:pt x="0" y="128016"/>
                  </a:lnTo>
                  <a:close/>
                </a:path>
              </a:pathLst>
            </a:custGeom>
            <a:solidFill>
              <a:srgbClr val="7A4360"/>
            </a:solidFill>
          </p:spPr>
        </p:sp>
      </p:grpSp>
      <p:grpSp>
        <p:nvGrpSpPr>
          <p:cNvPr name="Group 62" id="62"/>
          <p:cNvGrpSpPr/>
          <p:nvPr/>
        </p:nvGrpSpPr>
        <p:grpSpPr>
          <a:xfrm rot="0">
            <a:off x="5417820" y="6515100"/>
            <a:ext cx="3291840" cy="754380"/>
            <a:chOff x="0" y="0"/>
            <a:chExt cx="4389120" cy="1005840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4389120" cy="1005840"/>
            </a:xfrm>
            <a:custGeom>
              <a:avLst/>
              <a:gdLst/>
              <a:ahLst/>
              <a:cxnLst/>
              <a:rect r="r" b="b" t="t" l="l"/>
              <a:pathLst>
                <a:path h="1005840" w="4389120">
                  <a:moveTo>
                    <a:pt x="0" y="0"/>
                  </a:moveTo>
                  <a:lnTo>
                    <a:pt x="4389120" y="0"/>
                  </a:lnTo>
                  <a:lnTo>
                    <a:pt x="4389120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5025" r="0" b="-35025"/>
              </a:stretch>
            </a:blipFill>
          </p:spPr>
        </p:sp>
        <p:sp>
          <p:nvSpPr>
            <p:cNvPr name="TextBox 64" id="64"/>
            <p:cNvSpPr txBox="true"/>
            <p:nvPr/>
          </p:nvSpPr>
          <p:spPr>
            <a:xfrm>
              <a:off x="0" y="-38100"/>
              <a:ext cx="4389120" cy="10439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62"/>
                </a:lnSpc>
              </a:pPr>
              <a:r>
                <a:rPr lang="en-US" sz="1875" b="true">
                  <a:solidFill>
                    <a:srgbClr val="1F243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Cardiovascular</a:t>
              </a:r>
            </a:p>
          </p:txBody>
        </p:sp>
      </p:grpSp>
      <p:grpSp>
        <p:nvGrpSpPr>
          <p:cNvPr name="Group 65" id="65"/>
          <p:cNvGrpSpPr/>
          <p:nvPr/>
        </p:nvGrpSpPr>
        <p:grpSpPr>
          <a:xfrm rot="0">
            <a:off x="5417820" y="7310628"/>
            <a:ext cx="3291840" cy="1440180"/>
            <a:chOff x="0" y="0"/>
            <a:chExt cx="4389120" cy="1920240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0" y="0"/>
              <a:ext cx="4389120" cy="1920240"/>
            </a:xfrm>
            <a:custGeom>
              <a:avLst/>
              <a:gdLst/>
              <a:ahLst/>
              <a:cxnLst/>
              <a:rect r="r" b="b" t="t" l="l"/>
              <a:pathLst>
                <a:path h="1920240" w="4389120">
                  <a:moveTo>
                    <a:pt x="0" y="0"/>
                  </a:moveTo>
                  <a:lnTo>
                    <a:pt x="4389120" y="0"/>
                  </a:lnTo>
                  <a:lnTo>
                    <a:pt x="4389120" y="1920240"/>
                  </a:lnTo>
                  <a:lnTo>
                    <a:pt x="0" y="19202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6132" t="0" r="-6132" b="0"/>
              </a:stretch>
            </a:blipFill>
          </p:spPr>
        </p:sp>
        <p:sp>
          <p:nvSpPr>
            <p:cNvPr name="TextBox 67" id="67"/>
            <p:cNvSpPr txBox="true"/>
            <p:nvPr/>
          </p:nvSpPr>
          <p:spPr>
            <a:xfrm>
              <a:off x="0" y="-57150"/>
              <a:ext cx="4389120" cy="19773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92"/>
                </a:lnSpc>
              </a:pPr>
              <a:r>
                <a:rPr lang="en-US" sz="1800">
                  <a:solidFill>
                    <a:srgbClr val="666B78"/>
                  </a:solidFill>
                  <a:latin typeface="Arial"/>
                  <a:ea typeface="Arial"/>
                  <a:cs typeface="Arial"/>
                  <a:sym typeface="Arial"/>
                </a:rPr>
                <a:t>chest heaviness, arm pain, irregular heartbeat</a:t>
              </a:r>
            </a:p>
          </p:txBody>
        </p:sp>
      </p:grpSp>
      <p:grpSp>
        <p:nvGrpSpPr>
          <p:cNvPr name="Group 68" id="68"/>
          <p:cNvGrpSpPr/>
          <p:nvPr/>
        </p:nvGrpSpPr>
        <p:grpSpPr>
          <a:xfrm rot="0">
            <a:off x="9317355" y="5956935"/>
            <a:ext cx="3996690" cy="2967990"/>
            <a:chOff x="0" y="0"/>
            <a:chExt cx="5328920" cy="3957320"/>
          </a:xfrm>
        </p:grpSpPr>
        <p:sp>
          <p:nvSpPr>
            <p:cNvPr name="Freeform 69" id="69"/>
            <p:cNvSpPr/>
            <p:nvPr/>
          </p:nvSpPr>
          <p:spPr>
            <a:xfrm flipH="false" flipV="false" rot="0">
              <a:off x="0" y="0"/>
              <a:ext cx="5328920" cy="3957320"/>
            </a:xfrm>
            <a:custGeom>
              <a:avLst/>
              <a:gdLst/>
              <a:ahLst/>
              <a:cxnLst/>
              <a:rect r="r" b="b" t="t" l="l"/>
              <a:pathLst>
                <a:path h="3957320" w="5328920">
                  <a:moveTo>
                    <a:pt x="0" y="147193"/>
                  </a:moveTo>
                  <a:cubicBezTo>
                    <a:pt x="0" y="65913"/>
                    <a:pt x="65913" y="0"/>
                    <a:pt x="147193" y="0"/>
                  </a:cubicBezTo>
                  <a:lnTo>
                    <a:pt x="5181727" y="0"/>
                  </a:lnTo>
                  <a:cubicBezTo>
                    <a:pt x="5263007" y="0"/>
                    <a:pt x="5328920" y="65913"/>
                    <a:pt x="5328920" y="147193"/>
                  </a:cubicBezTo>
                  <a:lnTo>
                    <a:pt x="5328920" y="3810127"/>
                  </a:lnTo>
                  <a:cubicBezTo>
                    <a:pt x="5328920" y="3891407"/>
                    <a:pt x="5263007" y="3957320"/>
                    <a:pt x="5181727" y="3957320"/>
                  </a:cubicBezTo>
                  <a:lnTo>
                    <a:pt x="147193" y="3957320"/>
                  </a:lnTo>
                  <a:cubicBezTo>
                    <a:pt x="65913" y="3957320"/>
                    <a:pt x="0" y="3891407"/>
                    <a:pt x="0" y="3810127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E6E1D3"/>
              </a:solidFill>
              <a:prstDash val="solid"/>
              <a:miter/>
            </a:ln>
          </p:spPr>
        </p:sp>
      </p:grpSp>
      <p:grpSp>
        <p:nvGrpSpPr>
          <p:cNvPr name="Group 70" id="70"/>
          <p:cNvGrpSpPr/>
          <p:nvPr/>
        </p:nvGrpSpPr>
        <p:grpSpPr>
          <a:xfrm rot="0">
            <a:off x="9669780" y="6309360"/>
            <a:ext cx="548640" cy="96012"/>
            <a:chOff x="0" y="0"/>
            <a:chExt cx="731520" cy="128016"/>
          </a:xfrm>
        </p:grpSpPr>
        <p:sp>
          <p:nvSpPr>
            <p:cNvPr name="Freeform 71" id="71"/>
            <p:cNvSpPr/>
            <p:nvPr/>
          </p:nvSpPr>
          <p:spPr>
            <a:xfrm flipH="false" flipV="false" rot="0">
              <a:off x="0" y="0"/>
              <a:ext cx="731520" cy="128016"/>
            </a:xfrm>
            <a:custGeom>
              <a:avLst/>
              <a:gdLst/>
              <a:ahLst/>
              <a:cxnLst/>
              <a:rect r="r" b="b" t="t" l="l"/>
              <a:pathLst>
                <a:path h="128016" w="731520">
                  <a:moveTo>
                    <a:pt x="0" y="0"/>
                  </a:moveTo>
                  <a:lnTo>
                    <a:pt x="731520" y="0"/>
                  </a:lnTo>
                  <a:lnTo>
                    <a:pt x="731520" y="128016"/>
                  </a:lnTo>
                  <a:lnTo>
                    <a:pt x="0" y="128016"/>
                  </a:lnTo>
                  <a:close/>
                </a:path>
              </a:pathLst>
            </a:custGeom>
            <a:solidFill>
              <a:srgbClr val="7A4360"/>
            </a:solidFill>
          </p:spPr>
        </p:sp>
      </p:grpSp>
      <p:grpSp>
        <p:nvGrpSpPr>
          <p:cNvPr name="Group 72" id="72"/>
          <p:cNvGrpSpPr/>
          <p:nvPr/>
        </p:nvGrpSpPr>
        <p:grpSpPr>
          <a:xfrm rot="0">
            <a:off x="9669780" y="6515100"/>
            <a:ext cx="3291840" cy="754380"/>
            <a:chOff x="0" y="0"/>
            <a:chExt cx="4389120" cy="1005840"/>
          </a:xfrm>
        </p:grpSpPr>
        <p:sp>
          <p:nvSpPr>
            <p:cNvPr name="Freeform 73" id="73"/>
            <p:cNvSpPr/>
            <p:nvPr/>
          </p:nvSpPr>
          <p:spPr>
            <a:xfrm flipH="false" flipV="false" rot="0">
              <a:off x="0" y="0"/>
              <a:ext cx="4389120" cy="1005840"/>
            </a:xfrm>
            <a:custGeom>
              <a:avLst/>
              <a:gdLst/>
              <a:ahLst/>
              <a:cxnLst/>
              <a:rect r="r" b="b" t="t" l="l"/>
              <a:pathLst>
                <a:path h="1005840" w="4389120">
                  <a:moveTo>
                    <a:pt x="0" y="0"/>
                  </a:moveTo>
                  <a:lnTo>
                    <a:pt x="4389120" y="0"/>
                  </a:lnTo>
                  <a:lnTo>
                    <a:pt x="4389120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5025" r="0" b="-35025"/>
              </a:stretch>
            </a:blipFill>
          </p:spPr>
        </p:sp>
        <p:sp>
          <p:nvSpPr>
            <p:cNvPr name="TextBox 74" id="74"/>
            <p:cNvSpPr txBox="true"/>
            <p:nvPr/>
          </p:nvSpPr>
          <p:spPr>
            <a:xfrm>
              <a:off x="0" y="-38100"/>
              <a:ext cx="4389120" cy="10439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62"/>
                </a:lnSpc>
              </a:pPr>
              <a:r>
                <a:rPr lang="en-US" sz="1875" b="true">
                  <a:solidFill>
                    <a:srgbClr val="1F243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Eye-related</a:t>
              </a:r>
            </a:p>
          </p:txBody>
        </p:sp>
      </p:grpSp>
      <p:grpSp>
        <p:nvGrpSpPr>
          <p:cNvPr name="Group 75" id="75"/>
          <p:cNvGrpSpPr/>
          <p:nvPr/>
        </p:nvGrpSpPr>
        <p:grpSpPr>
          <a:xfrm rot="0">
            <a:off x="9669780" y="7310628"/>
            <a:ext cx="3291840" cy="1440180"/>
            <a:chOff x="0" y="0"/>
            <a:chExt cx="4389120" cy="1920240"/>
          </a:xfrm>
        </p:grpSpPr>
        <p:sp>
          <p:nvSpPr>
            <p:cNvPr name="Freeform 76" id="76"/>
            <p:cNvSpPr/>
            <p:nvPr/>
          </p:nvSpPr>
          <p:spPr>
            <a:xfrm flipH="false" flipV="false" rot="0">
              <a:off x="0" y="0"/>
              <a:ext cx="4389120" cy="1920240"/>
            </a:xfrm>
            <a:custGeom>
              <a:avLst/>
              <a:gdLst/>
              <a:ahLst/>
              <a:cxnLst/>
              <a:rect r="r" b="b" t="t" l="l"/>
              <a:pathLst>
                <a:path h="1920240" w="4389120">
                  <a:moveTo>
                    <a:pt x="0" y="0"/>
                  </a:moveTo>
                  <a:lnTo>
                    <a:pt x="4389120" y="0"/>
                  </a:lnTo>
                  <a:lnTo>
                    <a:pt x="4389120" y="1920240"/>
                  </a:lnTo>
                  <a:lnTo>
                    <a:pt x="0" y="19202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6132" t="0" r="-6132" b="0"/>
              </a:stretch>
            </a:blipFill>
          </p:spPr>
        </p:sp>
        <p:sp>
          <p:nvSpPr>
            <p:cNvPr name="TextBox 77" id="77"/>
            <p:cNvSpPr txBox="true"/>
            <p:nvPr/>
          </p:nvSpPr>
          <p:spPr>
            <a:xfrm>
              <a:off x="0" y="-57150"/>
              <a:ext cx="4389120" cy="19773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92"/>
                </a:lnSpc>
              </a:pPr>
              <a:r>
                <a:rPr lang="en-US" sz="1800">
                  <a:solidFill>
                    <a:srgbClr val="666B78"/>
                  </a:solidFill>
                  <a:latin typeface="Arial"/>
                  <a:ea typeface="Arial"/>
                  <a:cs typeface="Arial"/>
                  <a:sym typeface="Arial"/>
                </a:rPr>
                <a:t>redness, crusting, irritation, gritty feeling</a:t>
              </a:r>
            </a:p>
          </p:txBody>
        </p:sp>
      </p:grpSp>
      <p:grpSp>
        <p:nvGrpSpPr>
          <p:cNvPr name="Group 78" id="78"/>
          <p:cNvGrpSpPr/>
          <p:nvPr/>
        </p:nvGrpSpPr>
        <p:grpSpPr>
          <a:xfrm rot="0">
            <a:off x="13569315" y="5956935"/>
            <a:ext cx="3996690" cy="2967990"/>
            <a:chOff x="0" y="0"/>
            <a:chExt cx="5328920" cy="3957320"/>
          </a:xfrm>
        </p:grpSpPr>
        <p:sp>
          <p:nvSpPr>
            <p:cNvPr name="Freeform 79" id="79"/>
            <p:cNvSpPr/>
            <p:nvPr/>
          </p:nvSpPr>
          <p:spPr>
            <a:xfrm flipH="false" flipV="false" rot="0">
              <a:off x="0" y="0"/>
              <a:ext cx="5328920" cy="3957320"/>
            </a:xfrm>
            <a:custGeom>
              <a:avLst/>
              <a:gdLst/>
              <a:ahLst/>
              <a:cxnLst/>
              <a:rect r="r" b="b" t="t" l="l"/>
              <a:pathLst>
                <a:path h="3957320" w="5328920">
                  <a:moveTo>
                    <a:pt x="0" y="147193"/>
                  </a:moveTo>
                  <a:cubicBezTo>
                    <a:pt x="0" y="65913"/>
                    <a:pt x="65913" y="0"/>
                    <a:pt x="147193" y="0"/>
                  </a:cubicBezTo>
                  <a:lnTo>
                    <a:pt x="5181727" y="0"/>
                  </a:lnTo>
                  <a:cubicBezTo>
                    <a:pt x="5263007" y="0"/>
                    <a:pt x="5328920" y="65913"/>
                    <a:pt x="5328920" y="147193"/>
                  </a:cubicBezTo>
                  <a:lnTo>
                    <a:pt x="5328920" y="3810127"/>
                  </a:lnTo>
                  <a:cubicBezTo>
                    <a:pt x="5328920" y="3891407"/>
                    <a:pt x="5263007" y="3957320"/>
                    <a:pt x="5181727" y="3957320"/>
                  </a:cubicBezTo>
                  <a:lnTo>
                    <a:pt x="147193" y="3957320"/>
                  </a:lnTo>
                  <a:cubicBezTo>
                    <a:pt x="65913" y="3957320"/>
                    <a:pt x="0" y="3891407"/>
                    <a:pt x="0" y="3810127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E6E1D3"/>
              </a:solidFill>
              <a:prstDash val="solid"/>
              <a:miter/>
            </a:ln>
          </p:spPr>
        </p:sp>
      </p:grpSp>
      <p:grpSp>
        <p:nvGrpSpPr>
          <p:cNvPr name="Group 80" id="80"/>
          <p:cNvGrpSpPr/>
          <p:nvPr/>
        </p:nvGrpSpPr>
        <p:grpSpPr>
          <a:xfrm rot="0">
            <a:off x="13921740" y="6309360"/>
            <a:ext cx="548640" cy="96012"/>
            <a:chOff x="0" y="0"/>
            <a:chExt cx="731520" cy="128016"/>
          </a:xfrm>
        </p:grpSpPr>
        <p:sp>
          <p:nvSpPr>
            <p:cNvPr name="Freeform 81" id="81"/>
            <p:cNvSpPr/>
            <p:nvPr/>
          </p:nvSpPr>
          <p:spPr>
            <a:xfrm flipH="false" flipV="false" rot="0">
              <a:off x="0" y="0"/>
              <a:ext cx="731520" cy="128016"/>
            </a:xfrm>
            <a:custGeom>
              <a:avLst/>
              <a:gdLst/>
              <a:ahLst/>
              <a:cxnLst/>
              <a:rect r="r" b="b" t="t" l="l"/>
              <a:pathLst>
                <a:path h="128016" w="731520">
                  <a:moveTo>
                    <a:pt x="0" y="0"/>
                  </a:moveTo>
                  <a:lnTo>
                    <a:pt x="731520" y="0"/>
                  </a:lnTo>
                  <a:lnTo>
                    <a:pt x="731520" y="128016"/>
                  </a:lnTo>
                  <a:lnTo>
                    <a:pt x="0" y="128016"/>
                  </a:lnTo>
                  <a:close/>
                </a:path>
              </a:pathLst>
            </a:custGeom>
            <a:solidFill>
              <a:srgbClr val="7A4360"/>
            </a:solidFill>
          </p:spPr>
        </p:sp>
      </p:grpSp>
      <p:grpSp>
        <p:nvGrpSpPr>
          <p:cNvPr name="Group 82" id="82"/>
          <p:cNvGrpSpPr/>
          <p:nvPr/>
        </p:nvGrpSpPr>
        <p:grpSpPr>
          <a:xfrm rot="0">
            <a:off x="13921740" y="6515100"/>
            <a:ext cx="3291840" cy="754380"/>
            <a:chOff x="0" y="0"/>
            <a:chExt cx="4389120" cy="1005840"/>
          </a:xfrm>
        </p:grpSpPr>
        <p:sp>
          <p:nvSpPr>
            <p:cNvPr name="Freeform 83" id="83"/>
            <p:cNvSpPr/>
            <p:nvPr/>
          </p:nvSpPr>
          <p:spPr>
            <a:xfrm flipH="false" flipV="false" rot="0">
              <a:off x="0" y="0"/>
              <a:ext cx="4389120" cy="1005840"/>
            </a:xfrm>
            <a:custGeom>
              <a:avLst/>
              <a:gdLst/>
              <a:ahLst/>
              <a:cxnLst/>
              <a:rect r="r" b="b" t="t" l="l"/>
              <a:pathLst>
                <a:path h="1005840" w="4389120">
                  <a:moveTo>
                    <a:pt x="0" y="0"/>
                  </a:moveTo>
                  <a:lnTo>
                    <a:pt x="4389120" y="0"/>
                  </a:lnTo>
                  <a:lnTo>
                    <a:pt x="4389120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5025" r="0" b="-35025"/>
              </a:stretch>
            </a:blipFill>
          </p:spPr>
        </p:sp>
        <p:sp>
          <p:nvSpPr>
            <p:cNvPr name="TextBox 84" id="84"/>
            <p:cNvSpPr txBox="true"/>
            <p:nvPr/>
          </p:nvSpPr>
          <p:spPr>
            <a:xfrm>
              <a:off x="0" y="-38100"/>
              <a:ext cx="4389120" cy="10439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62"/>
                </a:lnSpc>
              </a:pPr>
              <a:r>
                <a:rPr lang="en-US" sz="1875" b="true">
                  <a:solidFill>
                    <a:srgbClr val="1F243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General</a:t>
              </a:r>
            </a:p>
          </p:txBody>
        </p:sp>
      </p:grpSp>
      <p:grpSp>
        <p:nvGrpSpPr>
          <p:cNvPr name="Group 85" id="85"/>
          <p:cNvGrpSpPr/>
          <p:nvPr/>
        </p:nvGrpSpPr>
        <p:grpSpPr>
          <a:xfrm rot="0">
            <a:off x="13921740" y="7310628"/>
            <a:ext cx="3291840" cy="1440180"/>
            <a:chOff x="0" y="0"/>
            <a:chExt cx="4389120" cy="1920240"/>
          </a:xfrm>
        </p:grpSpPr>
        <p:sp>
          <p:nvSpPr>
            <p:cNvPr name="Freeform 86" id="86"/>
            <p:cNvSpPr/>
            <p:nvPr/>
          </p:nvSpPr>
          <p:spPr>
            <a:xfrm flipH="false" flipV="false" rot="0">
              <a:off x="0" y="0"/>
              <a:ext cx="4389120" cy="1920240"/>
            </a:xfrm>
            <a:custGeom>
              <a:avLst/>
              <a:gdLst/>
              <a:ahLst/>
              <a:cxnLst/>
              <a:rect r="r" b="b" t="t" l="l"/>
              <a:pathLst>
                <a:path h="1920240" w="4389120">
                  <a:moveTo>
                    <a:pt x="0" y="0"/>
                  </a:moveTo>
                  <a:lnTo>
                    <a:pt x="4389120" y="0"/>
                  </a:lnTo>
                  <a:lnTo>
                    <a:pt x="4389120" y="1920240"/>
                  </a:lnTo>
                  <a:lnTo>
                    <a:pt x="0" y="19202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6132" t="0" r="-6132" b="0"/>
              </a:stretch>
            </a:blipFill>
          </p:spPr>
        </p:sp>
        <p:sp>
          <p:nvSpPr>
            <p:cNvPr name="TextBox 87" id="87"/>
            <p:cNvSpPr txBox="true"/>
            <p:nvPr/>
          </p:nvSpPr>
          <p:spPr>
            <a:xfrm>
              <a:off x="0" y="-57150"/>
              <a:ext cx="4389120" cy="19773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92"/>
                </a:lnSpc>
              </a:pPr>
              <a:r>
                <a:rPr lang="en-US" sz="1800">
                  <a:solidFill>
                    <a:srgbClr val="666B78"/>
                  </a:solidFill>
                  <a:latin typeface="Arial"/>
                  <a:ea typeface="Arial"/>
                  <a:cs typeface="Arial"/>
                  <a:sym typeface="Arial"/>
                </a:rPr>
                <a:t>fatigue, chills, night sweats, appetite loss</a:t>
              </a:r>
            </a:p>
          </p:txBody>
        </p:sp>
      </p:grpSp>
      <p:grpSp>
        <p:nvGrpSpPr>
          <p:cNvPr name="Group 88" id="88"/>
          <p:cNvGrpSpPr/>
          <p:nvPr/>
        </p:nvGrpSpPr>
        <p:grpSpPr>
          <a:xfrm rot="0">
            <a:off x="822960" y="9121140"/>
            <a:ext cx="16596360" cy="480060"/>
            <a:chOff x="0" y="0"/>
            <a:chExt cx="22128480" cy="640080"/>
          </a:xfrm>
        </p:grpSpPr>
        <p:sp>
          <p:nvSpPr>
            <p:cNvPr name="Freeform 89" id="89"/>
            <p:cNvSpPr/>
            <p:nvPr/>
          </p:nvSpPr>
          <p:spPr>
            <a:xfrm flipH="false" flipV="false" rot="0">
              <a:off x="0" y="0"/>
              <a:ext cx="22128480" cy="640080"/>
            </a:xfrm>
            <a:custGeom>
              <a:avLst/>
              <a:gdLst/>
              <a:ahLst/>
              <a:cxnLst/>
              <a:rect r="r" b="b" t="t" l="l"/>
              <a:pathLst>
                <a:path h="640080" w="22128480">
                  <a:moveTo>
                    <a:pt x="0" y="0"/>
                  </a:moveTo>
                  <a:lnTo>
                    <a:pt x="22128480" y="0"/>
                  </a:lnTo>
                  <a:lnTo>
                    <a:pt x="2212848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23625" r="0" b="-623625"/>
              </a:stretch>
            </a:blipFill>
          </p:spPr>
        </p:sp>
        <p:sp>
          <p:nvSpPr>
            <p:cNvPr name="TextBox 90" id="90"/>
            <p:cNvSpPr txBox="true"/>
            <p:nvPr/>
          </p:nvSpPr>
          <p:spPr>
            <a:xfrm>
              <a:off x="0" y="-19050"/>
              <a:ext cx="22128480" cy="6591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59"/>
                </a:lnSpc>
              </a:pPr>
              <a:r>
                <a:rPr lang="en-US" sz="1799" i="true">
                  <a:solidFill>
                    <a:srgbClr val="666B78"/>
                  </a:solidFill>
                  <a:latin typeface="Arial Italics"/>
                  <a:ea typeface="Arial Italics"/>
                  <a:cs typeface="Arial Italics"/>
                  <a:sym typeface="Arial Italics"/>
                </a:rPr>
                <a:t>Example symptoms shown per category; the full reference table lives in symptoms.ods (246 disease-symptom entries).</a:t>
              </a:r>
            </a:p>
          </p:txBody>
        </p:sp>
      </p:grpSp>
      <p:grpSp>
        <p:nvGrpSpPr>
          <p:cNvPr name="Group 91" id="91"/>
          <p:cNvGrpSpPr/>
          <p:nvPr/>
        </p:nvGrpSpPr>
        <p:grpSpPr>
          <a:xfrm rot="0">
            <a:off x="685800" y="9848088"/>
            <a:ext cx="9601200" cy="384048"/>
            <a:chOff x="0" y="0"/>
            <a:chExt cx="12801600" cy="512064"/>
          </a:xfrm>
        </p:grpSpPr>
        <p:sp>
          <p:nvSpPr>
            <p:cNvPr name="Freeform 92" id="92"/>
            <p:cNvSpPr/>
            <p:nvPr/>
          </p:nvSpPr>
          <p:spPr>
            <a:xfrm flipH="false" flipV="false" rot="0">
              <a:off x="0" y="0"/>
              <a:ext cx="12801600" cy="512064"/>
            </a:xfrm>
            <a:custGeom>
              <a:avLst/>
              <a:gdLst/>
              <a:ahLst/>
              <a:cxnLst/>
              <a:rect r="r" b="b" t="t" l="l"/>
              <a:pathLst>
                <a:path h="512064" w="12801600">
                  <a:moveTo>
                    <a:pt x="0" y="0"/>
                  </a:moveTo>
                  <a:lnTo>
                    <a:pt x="12801600" y="0"/>
                  </a:lnTo>
                  <a:lnTo>
                    <a:pt x="12801600" y="512064"/>
                  </a:lnTo>
                  <a:lnTo>
                    <a:pt x="0" y="5120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37125" r="0" b="-437125"/>
              </a:stretch>
            </a:blipFill>
          </p:spPr>
        </p:sp>
        <p:sp>
          <p:nvSpPr>
            <p:cNvPr name="TextBox 93" id="93"/>
            <p:cNvSpPr txBox="true"/>
            <p:nvPr/>
          </p:nvSpPr>
          <p:spPr>
            <a:xfrm>
              <a:off x="0" y="-19050"/>
              <a:ext cx="12801600" cy="53111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439"/>
                </a:lnSpc>
              </a:pPr>
              <a:r>
                <a:rPr lang="en-US" sz="1200">
                  <a:solidFill>
                    <a:srgbClr val="666B78"/>
                  </a:solidFill>
                  <a:latin typeface="Arial"/>
                  <a:ea typeface="Arial"/>
                  <a:cs typeface="Arial"/>
                  <a:sym typeface="Arial"/>
                </a:rPr>
                <a:t>Medical Diagnosis Expert System  |  CSE440</a:t>
              </a:r>
            </a:p>
          </p:txBody>
        </p:sp>
      </p:grpSp>
      <p:grpSp>
        <p:nvGrpSpPr>
          <p:cNvPr name="Group 94" id="94"/>
          <p:cNvGrpSpPr/>
          <p:nvPr/>
        </p:nvGrpSpPr>
        <p:grpSpPr>
          <a:xfrm rot="0">
            <a:off x="17145000" y="9848088"/>
            <a:ext cx="548640" cy="384048"/>
            <a:chOff x="0" y="0"/>
            <a:chExt cx="731520" cy="512064"/>
          </a:xfrm>
        </p:grpSpPr>
        <p:sp>
          <p:nvSpPr>
            <p:cNvPr name="Freeform 95" id="95"/>
            <p:cNvSpPr/>
            <p:nvPr/>
          </p:nvSpPr>
          <p:spPr>
            <a:xfrm flipH="false" flipV="false" rot="0">
              <a:off x="0" y="0"/>
              <a:ext cx="731520" cy="512064"/>
            </a:xfrm>
            <a:custGeom>
              <a:avLst/>
              <a:gdLst/>
              <a:ahLst/>
              <a:cxnLst/>
              <a:rect r="r" b="b" t="t" l="l"/>
              <a:pathLst>
                <a:path h="512064" w="731520">
                  <a:moveTo>
                    <a:pt x="0" y="0"/>
                  </a:moveTo>
                  <a:lnTo>
                    <a:pt x="731520" y="0"/>
                  </a:lnTo>
                  <a:lnTo>
                    <a:pt x="731520" y="512064"/>
                  </a:lnTo>
                  <a:lnTo>
                    <a:pt x="0" y="5120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39812" t="0" r="-39812" b="0"/>
              </a:stretch>
            </a:blipFill>
          </p:spPr>
        </p:sp>
        <p:sp>
          <p:nvSpPr>
            <p:cNvPr name="TextBox 96" id="96"/>
            <p:cNvSpPr txBox="true"/>
            <p:nvPr/>
          </p:nvSpPr>
          <p:spPr>
            <a:xfrm>
              <a:off x="0" y="-19050"/>
              <a:ext cx="731520" cy="53111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439"/>
                </a:lnSpc>
              </a:pPr>
              <a:r>
                <a:rPr lang="en-US" sz="1200">
                  <a:solidFill>
                    <a:srgbClr val="666B78"/>
                  </a:solidFill>
                  <a:latin typeface="Arial"/>
                  <a:ea typeface="Arial"/>
                  <a:cs typeface="Arial"/>
                  <a:sym typeface="Arial"/>
                </a:rPr>
                <a:t>10</a:t>
              </a:r>
            </a:p>
          </p:txBody>
        </p:sp>
      </p:grp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6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22960" y="685800"/>
            <a:ext cx="16596360" cy="868673"/>
            <a:chOff x="0" y="0"/>
            <a:chExt cx="22128480" cy="115823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2128480" cy="1158230"/>
            </a:xfrm>
            <a:custGeom>
              <a:avLst/>
              <a:gdLst/>
              <a:ahLst/>
              <a:cxnLst/>
              <a:rect r="r" b="b" t="t" l="l"/>
              <a:pathLst>
                <a:path h="1158230" w="22128480">
                  <a:moveTo>
                    <a:pt x="0" y="0"/>
                  </a:moveTo>
                  <a:lnTo>
                    <a:pt x="22128480" y="0"/>
                  </a:lnTo>
                  <a:lnTo>
                    <a:pt x="22128480" y="1158230"/>
                  </a:lnTo>
                  <a:lnTo>
                    <a:pt x="0" y="115823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24901" r="0" b="-319638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19050"/>
              <a:ext cx="22128480" cy="11772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040"/>
                </a:lnSpc>
              </a:pPr>
              <a:r>
                <a:rPr lang="en-US" sz="4200" b="true">
                  <a:solidFill>
                    <a:srgbClr val="1F243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Supported Diseases by Category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822960" y="1508760"/>
            <a:ext cx="16596360" cy="548640"/>
            <a:chOff x="0" y="0"/>
            <a:chExt cx="22128480" cy="73152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2128480" cy="731520"/>
            </a:xfrm>
            <a:custGeom>
              <a:avLst/>
              <a:gdLst/>
              <a:ahLst/>
              <a:cxnLst/>
              <a:rect r="r" b="b" t="t" l="l"/>
              <a:pathLst>
                <a:path h="731520" w="22128480">
                  <a:moveTo>
                    <a:pt x="0" y="0"/>
                  </a:moveTo>
                  <a:lnTo>
                    <a:pt x="22128480" y="0"/>
                  </a:lnTo>
                  <a:lnTo>
                    <a:pt x="2212848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39422" r="0" b="-539422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19050"/>
              <a:ext cx="22128480" cy="7505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sz="1950">
                  <a:solidFill>
                    <a:srgbClr val="666B78"/>
                  </a:solidFill>
                  <a:latin typeface="Arial"/>
                  <a:ea typeface="Arial"/>
                  <a:cs typeface="Arial"/>
                  <a:sym typeface="Arial"/>
                </a:rPr>
                <a:t>Respiratory and vector-borne conditions form the largest groups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685800" y="9848088"/>
            <a:ext cx="9601200" cy="384048"/>
            <a:chOff x="0" y="0"/>
            <a:chExt cx="12801600" cy="512064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2801600" cy="512064"/>
            </a:xfrm>
            <a:custGeom>
              <a:avLst/>
              <a:gdLst/>
              <a:ahLst/>
              <a:cxnLst/>
              <a:rect r="r" b="b" t="t" l="l"/>
              <a:pathLst>
                <a:path h="512064" w="12801600">
                  <a:moveTo>
                    <a:pt x="0" y="0"/>
                  </a:moveTo>
                  <a:lnTo>
                    <a:pt x="12801600" y="0"/>
                  </a:lnTo>
                  <a:lnTo>
                    <a:pt x="12801600" y="512064"/>
                  </a:lnTo>
                  <a:lnTo>
                    <a:pt x="0" y="5120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37125" r="0" b="-437125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19050"/>
              <a:ext cx="12801600" cy="53111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439"/>
                </a:lnSpc>
              </a:pPr>
              <a:r>
                <a:rPr lang="en-US" sz="1200">
                  <a:solidFill>
                    <a:srgbClr val="666B78"/>
                  </a:solidFill>
                  <a:latin typeface="Arial"/>
                  <a:ea typeface="Arial"/>
                  <a:cs typeface="Arial"/>
                  <a:sym typeface="Arial"/>
                </a:rPr>
                <a:t>Medical Diagnosis Expert System  |  CSE440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7145000" y="9848088"/>
            <a:ext cx="548640" cy="384048"/>
            <a:chOff x="0" y="0"/>
            <a:chExt cx="731520" cy="512064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731520" cy="512064"/>
            </a:xfrm>
            <a:custGeom>
              <a:avLst/>
              <a:gdLst/>
              <a:ahLst/>
              <a:cxnLst/>
              <a:rect r="r" b="b" t="t" l="l"/>
              <a:pathLst>
                <a:path h="512064" w="731520">
                  <a:moveTo>
                    <a:pt x="0" y="0"/>
                  </a:moveTo>
                  <a:lnTo>
                    <a:pt x="731520" y="0"/>
                  </a:lnTo>
                  <a:lnTo>
                    <a:pt x="731520" y="512064"/>
                  </a:lnTo>
                  <a:lnTo>
                    <a:pt x="0" y="5120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39812" t="0" r="-39812" b="0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19050"/>
              <a:ext cx="731520" cy="53111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439"/>
                </a:lnSpc>
              </a:pPr>
              <a:r>
                <a:rPr lang="en-US" sz="1200">
                  <a:solidFill>
                    <a:srgbClr val="666B78"/>
                  </a:solidFill>
                  <a:latin typeface="Arial"/>
                  <a:ea typeface="Arial"/>
                  <a:cs typeface="Arial"/>
                  <a:sym typeface="Arial"/>
                </a:rPr>
                <a:t>11</a:t>
              </a:r>
            </a:p>
          </p:txBody>
        </p:sp>
      </p:grpSp>
      <p:sp>
        <p:nvSpPr>
          <p:cNvPr name="Freeform 14" id="14"/>
          <p:cNvSpPr/>
          <p:nvPr/>
        </p:nvSpPr>
        <p:spPr>
          <a:xfrm flipH="false" flipV="false" rot="0">
            <a:off x="685800" y="2416849"/>
            <a:ext cx="16596360" cy="6603968"/>
          </a:xfrm>
          <a:custGeom>
            <a:avLst/>
            <a:gdLst/>
            <a:ahLst/>
            <a:cxnLst/>
            <a:rect r="r" b="b" t="t" l="l"/>
            <a:pathLst>
              <a:path h="6603968" w="16596360">
                <a:moveTo>
                  <a:pt x="0" y="0"/>
                </a:moveTo>
                <a:lnTo>
                  <a:pt x="16596360" y="0"/>
                </a:lnTo>
                <a:lnTo>
                  <a:pt x="16596360" y="6603968"/>
                </a:lnTo>
                <a:lnTo>
                  <a:pt x="0" y="660396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6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22960" y="685800"/>
            <a:ext cx="16596360" cy="822960"/>
            <a:chOff x="0" y="0"/>
            <a:chExt cx="22128480" cy="109728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2128480" cy="1097280"/>
            </a:xfrm>
            <a:custGeom>
              <a:avLst/>
              <a:gdLst/>
              <a:ahLst/>
              <a:cxnLst/>
              <a:rect r="r" b="b" t="t" l="l"/>
              <a:pathLst>
                <a:path h="1097280" w="22128480">
                  <a:moveTo>
                    <a:pt x="0" y="0"/>
                  </a:moveTo>
                  <a:lnTo>
                    <a:pt x="22128480" y="0"/>
                  </a:lnTo>
                  <a:lnTo>
                    <a:pt x="2212848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42948" r="0" b="-342948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19050"/>
              <a:ext cx="22128480" cy="11163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040"/>
                </a:lnSpc>
              </a:pPr>
              <a:r>
                <a:rPr lang="en-US" sz="4200" b="true">
                  <a:solidFill>
                    <a:srgbClr val="1F243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Testing and Evaluation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822960" y="1508760"/>
            <a:ext cx="16596360" cy="548640"/>
            <a:chOff x="0" y="0"/>
            <a:chExt cx="22128480" cy="73152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2128480" cy="731520"/>
            </a:xfrm>
            <a:custGeom>
              <a:avLst/>
              <a:gdLst/>
              <a:ahLst/>
              <a:cxnLst/>
              <a:rect r="r" b="b" t="t" l="l"/>
              <a:pathLst>
                <a:path h="731520" w="22128480">
                  <a:moveTo>
                    <a:pt x="0" y="0"/>
                  </a:moveTo>
                  <a:lnTo>
                    <a:pt x="22128480" y="0"/>
                  </a:lnTo>
                  <a:lnTo>
                    <a:pt x="2212848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39422" r="0" b="-539422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19050"/>
              <a:ext cx="22128480" cy="7505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sz="1950">
                  <a:solidFill>
                    <a:srgbClr val="666B78"/>
                  </a:solidFill>
                  <a:latin typeface="Arial"/>
                  <a:ea typeface="Arial"/>
                  <a:cs typeface="Arial"/>
                  <a:sym typeface="Arial"/>
                </a:rPr>
                <a:t>Scenario-based tests verify software behavior, not clinical accuracy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813435" y="2527935"/>
            <a:ext cx="5299710" cy="6739890"/>
            <a:chOff x="0" y="0"/>
            <a:chExt cx="7066280" cy="898652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7066280" cy="8986520"/>
            </a:xfrm>
            <a:custGeom>
              <a:avLst/>
              <a:gdLst/>
              <a:ahLst/>
              <a:cxnLst/>
              <a:rect r="r" b="b" t="t" l="l"/>
              <a:pathLst>
                <a:path h="8986520" w="7066280">
                  <a:moveTo>
                    <a:pt x="0" y="146812"/>
                  </a:moveTo>
                  <a:cubicBezTo>
                    <a:pt x="0" y="65786"/>
                    <a:pt x="65786" y="0"/>
                    <a:pt x="146812" y="0"/>
                  </a:cubicBezTo>
                  <a:lnTo>
                    <a:pt x="6919468" y="0"/>
                  </a:lnTo>
                  <a:cubicBezTo>
                    <a:pt x="7000622" y="0"/>
                    <a:pt x="7066280" y="65786"/>
                    <a:pt x="7066280" y="146812"/>
                  </a:cubicBezTo>
                  <a:lnTo>
                    <a:pt x="7066280" y="8839708"/>
                  </a:lnTo>
                  <a:cubicBezTo>
                    <a:pt x="7066280" y="8920861"/>
                    <a:pt x="7000494" y="8986520"/>
                    <a:pt x="6919468" y="8986520"/>
                  </a:cubicBezTo>
                  <a:lnTo>
                    <a:pt x="146812" y="8986520"/>
                  </a:lnTo>
                  <a:cubicBezTo>
                    <a:pt x="65786" y="8986520"/>
                    <a:pt x="0" y="8920734"/>
                    <a:pt x="0" y="8839708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E6E1D3"/>
              </a:solidFill>
              <a:prstDash val="solid"/>
              <a:miter/>
            </a:ln>
          </p:spPr>
        </p:sp>
      </p:grpSp>
      <p:grpSp>
        <p:nvGrpSpPr>
          <p:cNvPr name="Group 10" id="10"/>
          <p:cNvGrpSpPr/>
          <p:nvPr/>
        </p:nvGrpSpPr>
        <p:grpSpPr>
          <a:xfrm rot="0">
            <a:off x="1234440" y="2852928"/>
            <a:ext cx="4526280" cy="480060"/>
            <a:chOff x="0" y="0"/>
            <a:chExt cx="6035040" cy="64008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6035040" cy="640080"/>
            </a:xfrm>
            <a:custGeom>
              <a:avLst/>
              <a:gdLst/>
              <a:ahLst/>
              <a:cxnLst/>
              <a:rect r="r" b="b" t="t" l="l"/>
              <a:pathLst>
                <a:path h="640080" w="6035040">
                  <a:moveTo>
                    <a:pt x="0" y="0"/>
                  </a:moveTo>
                  <a:lnTo>
                    <a:pt x="6035040" y="0"/>
                  </a:lnTo>
                  <a:lnTo>
                    <a:pt x="603504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3716" r="0" b="-133716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9525"/>
              <a:ext cx="6035040" cy="6496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 b="true">
                  <a:solidFill>
                    <a:srgbClr val="1F243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Functional Cases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234440" y="3497580"/>
            <a:ext cx="4457700" cy="1577340"/>
            <a:chOff x="0" y="0"/>
            <a:chExt cx="5943600" cy="210312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5943600" cy="2103120"/>
            </a:xfrm>
            <a:custGeom>
              <a:avLst/>
              <a:gdLst/>
              <a:ahLst/>
              <a:cxnLst/>
              <a:rect r="r" b="b" t="t" l="l"/>
              <a:pathLst>
                <a:path h="2103120" w="5943600">
                  <a:moveTo>
                    <a:pt x="0" y="109728"/>
                  </a:moveTo>
                  <a:cubicBezTo>
                    <a:pt x="0" y="49149"/>
                    <a:pt x="49149" y="0"/>
                    <a:pt x="109728" y="0"/>
                  </a:cubicBezTo>
                  <a:lnTo>
                    <a:pt x="5833872" y="0"/>
                  </a:lnTo>
                  <a:cubicBezTo>
                    <a:pt x="5894451" y="0"/>
                    <a:pt x="5943600" y="49149"/>
                    <a:pt x="5943600" y="109728"/>
                  </a:cubicBezTo>
                  <a:lnTo>
                    <a:pt x="5943600" y="1993392"/>
                  </a:lnTo>
                  <a:cubicBezTo>
                    <a:pt x="5943600" y="2053971"/>
                    <a:pt x="5894451" y="2103120"/>
                    <a:pt x="5833872" y="2103120"/>
                  </a:cubicBezTo>
                  <a:lnTo>
                    <a:pt x="109728" y="2103120"/>
                  </a:lnTo>
                  <a:cubicBezTo>
                    <a:pt x="49149" y="2103120"/>
                    <a:pt x="0" y="2053971"/>
                    <a:pt x="0" y="1993392"/>
                  </a:cubicBezTo>
                  <a:close/>
                </a:path>
              </a:pathLst>
            </a:custGeom>
            <a:solidFill>
              <a:srgbClr val="F8F2E3"/>
            </a:solid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1440180" y="3607308"/>
            <a:ext cx="4046220" cy="1371600"/>
            <a:chOff x="0" y="0"/>
            <a:chExt cx="5394960" cy="18288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5394960" cy="1828800"/>
            </a:xfrm>
            <a:custGeom>
              <a:avLst/>
              <a:gdLst/>
              <a:ahLst/>
              <a:cxnLst/>
              <a:rect r="r" b="b" t="t" l="l"/>
              <a:pathLst>
                <a:path h="1828800" w="5394960">
                  <a:moveTo>
                    <a:pt x="0" y="0"/>
                  </a:moveTo>
                  <a:lnTo>
                    <a:pt x="5394960" y="0"/>
                  </a:lnTo>
                  <a:lnTo>
                    <a:pt x="5394960" y="1828800"/>
                  </a:lnTo>
                  <a:lnTo>
                    <a:pt x="0" y="18288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480" r="0" b="-7480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38100"/>
              <a:ext cx="5394960" cy="18669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76"/>
                </a:lnSpc>
              </a:pPr>
              <a:r>
                <a:rPr lang="en-US" sz="1800">
                  <a:solidFill>
                    <a:srgbClr val="1F2430"/>
                  </a:solidFill>
                  <a:latin typeface="Arial"/>
                  <a:ea typeface="Arial"/>
                  <a:cs typeface="Arial"/>
                  <a:sym typeface="Arial"/>
                </a:rPr>
                <a:t>Pneumonia, Dengue, Diabetes,</a:t>
              </a:r>
            </a:p>
            <a:p>
              <a:pPr algn="l">
                <a:lnSpc>
                  <a:spcPts val="2376"/>
                </a:lnSpc>
              </a:pPr>
              <a:r>
                <a:rPr lang="en-US" sz="1800">
                  <a:solidFill>
                    <a:srgbClr val="1F2430"/>
                  </a:solidFill>
                  <a:latin typeface="Arial"/>
                  <a:ea typeface="Arial"/>
                  <a:cs typeface="Arial"/>
                  <a:sym typeface="Arial"/>
                </a:rPr>
                <a:t>Asthma, TB and more —</a:t>
              </a:r>
            </a:p>
            <a:p>
              <a:pPr algn="l">
                <a:lnSpc>
                  <a:spcPts val="2376"/>
                </a:lnSpc>
              </a:pPr>
              <a:r>
                <a:rPr lang="en-US" sz="1800">
                  <a:solidFill>
                    <a:srgbClr val="1F2430"/>
                  </a:solidFill>
                  <a:latin typeface="Arial"/>
                  <a:ea typeface="Arial"/>
                  <a:cs typeface="Arial"/>
                  <a:sym typeface="Arial"/>
                </a:rPr>
                <a:t>disease reached matches</a:t>
              </a:r>
            </a:p>
            <a:p>
              <a:pPr algn="l">
                <a:lnSpc>
                  <a:spcPts val="2376"/>
                </a:lnSpc>
              </a:pPr>
              <a:r>
                <a:rPr lang="en-US" sz="1800">
                  <a:solidFill>
                    <a:srgbClr val="1F2430"/>
                  </a:solidFill>
                  <a:latin typeface="Arial"/>
                  <a:ea typeface="Arial"/>
                  <a:cs typeface="Arial"/>
                  <a:sym typeface="Arial"/>
                </a:rPr>
                <a:t>expected output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1234440" y="5280660"/>
            <a:ext cx="4457700" cy="1577340"/>
            <a:chOff x="0" y="0"/>
            <a:chExt cx="5943600" cy="210312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5943600" cy="2103120"/>
            </a:xfrm>
            <a:custGeom>
              <a:avLst/>
              <a:gdLst/>
              <a:ahLst/>
              <a:cxnLst/>
              <a:rect r="r" b="b" t="t" l="l"/>
              <a:pathLst>
                <a:path h="2103120" w="5943600">
                  <a:moveTo>
                    <a:pt x="0" y="109728"/>
                  </a:moveTo>
                  <a:cubicBezTo>
                    <a:pt x="0" y="49149"/>
                    <a:pt x="49149" y="0"/>
                    <a:pt x="109728" y="0"/>
                  </a:cubicBezTo>
                  <a:lnTo>
                    <a:pt x="5833872" y="0"/>
                  </a:lnTo>
                  <a:cubicBezTo>
                    <a:pt x="5894451" y="0"/>
                    <a:pt x="5943600" y="49149"/>
                    <a:pt x="5943600" y="109728"/>
                  </a:cubicBezTo>
                  <a:lnTo>
                    <a:pt x="5943600" y="1993392"/>
                  </a:lnTo>
                  <a:cubicBezTo>
                    <a:pt x="5943600" y="2053971"/>
                    <a:pt x="5894451" y="2103120"/>
                    <a:pt x="5833872" y="2103120"/>
                  </a:cubicBezTo>
                  <a:lnTo>
                    <a:pt x="109728" y="2103120"/>
                  </a:lnTo>
                  <a:cubicBezTo>
                    <a:pt x="49149" y="2103120"/>
                    <a:pt x="0" y="2053971"/>
                    <a:pt x="0" y="1993392"/>
                  </a:cubicBezTo>
                  <a:close/>
                </a:path>
              </a:pathLst>
            </a:custGeom>
            <a:solidFill>
              <a:srgbClr val="F8F2E3"/>
            </a:solid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1440180" y="5383530"/>
            <a:ext cx="4046220" cy="1371600"/>
            <a:chOff x="0" y="0"/>
            <a:chExt cx="5394960" cy="182880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5394960" cy="1828800"/>
            </a:xfrm>
            <a:custGeom>
              <a:avLst/>
              <a:gdLst/>
              <a:ahLst/>
              <a:cxnLst/>
              <a:rect r="r" b="b" t="t" l="l"/>
              <a:pathLst>
                <a:path h="1828800" w="5394960">
                  <a:moveTo>
                    <a:pt x="0" y="0"/>
                  </a:moveTo>
                  <a:lnTo>
                    <a:pt x="5394960" y="0"/>
                  </a:lnTo>
                  <a:lnTo>
                    <a:pt x="5394960" y="1828800"/>
                  </a:lnTo>
                  <a:lnTo>
                    <a:pt x="0" y="18288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480" r="0" b="-7480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28575"/>
              <a:ext cx="5394960" cy="18573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39"/>
                </a:lnSpc>
              </a:pPr>
              <a:r>
                <a:rPr lang="en-US" sz="1999">
                  <a:solidFill>
                    <a:srgbClr val="1F2430"/>
                  </a:solidFill>
                  <a:latin typeface="Arial"/>
                  <a:ea typeface="Arial"/>
                  <a:cs typeface="Arial"/>
                  <a:sym typeface="Arial"/>
                </a:rPr>
                <a:t>Threshold tests: below-threshold</a:t>
              </a:r>
            </a:p>
            <a:p>
              <a:pPr algn="l">
                <a:lnSpc>
                  <a:spcPts val="2639"/>
                </a:lnSpc>
              </a:pPr>
              <a:r>
                <a:rPr lang="en-US" sz="1999">
                  <a:solidFill>
                    <a:srgbClr val="1F2430"/>
                  </a:solidFill>
                  <a:latin typeface="Arial"/>
                  <a:ea typeface="Arial"/>
                  <a:cs typeface="Arial"/>
                  <a:sym typeface="Arial"/>
                </a:rPr>
                <a:t>case yields no diagnosis; at-</a:t>
              </a:r>
            </a:p>
            <a:p>
              <a:pPr algn="l">
                <a:lnSpc>
                  <a:spcPts val="2639"/>
                </a:lnSpc>
              </a:pPr>
              <a:r>
                <a:rPr lang="en-US" sz="1999">
                  <a:solidFill>
                    <a:srgbClr val="1F2430"/>
                  </a:solidFill>
                  <a:latin typeface="Arial"/>
                  <a:ea typeface="Arial"/>
                  <a:cs typeface="Arial"/>
                  <a:sym typeface="Arial"/>
                </a:rPr>
                <a:t>threshold case yields it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1234440" y="7063740"/>
            <a:ext cx="4457700" cy="1577340"/>
            <a:chOff x="0" y="0"/>
            <a:chExt cx="5943600" cy="210312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5943600" cy="2103120"/>
            </a:xfrm>
            <a:custGeom>
              <a:avLst/>
              <a:gdLst/>
              <a:ahLst/>
              <a:cxnLst/>
              <a:rect r="r" b="b" t="t" l="l"/>
              <a:pathLst>
                <a:path h="2103120" w="5943600">
                  <a:moveTo>
                    <a:pt x="0" y="109728"/>
                  </a:moveTo>
                  <a:cubicBezTo>
                    <a:pt x="0" y="49149"/>
                    <a:pt x="49149" y="0"/>
                    <a:pt x="109728" y="0"/>
                  </a:cubicBezTo>
                  <a:lnTo>
                    <a:pt x="5833872" y="0"/>
                  </a:lnTo>
                  <a:cubicBezTo>
                    <a:pt x="5894451" y="0"/>
                    <a:pt x="5943600" y="49149"/>
                    <a:pt x="5943600" y="109728"/>
                  </a:cubicBezTo>
                  <a:lnTo>
                    <a:pt x="5943600" y="1993392"/>
                  </a:lnTo>
                  <a:cubicBezTo>
                    <a:pt x="5943600" y="2053971"/>
                    <a:pt x="5894451" y="2103120"/>
                    <a:pt x="5833872" y="2103120"/>
                  </a:cubicBezTo>
                  <a:lnTo>
                    <a:pt x="109728" y="2103120"/>
                  </a:lnTo>
                  <a:cubicBezTo>
                    <a:pt x="49149" y="2103120"/>
                    <a:pt x="0" y="2053971"/>
                    <a:pt x="0" y="1993392"/>
                  </a:cubicBezTo>
                  <a:close/>
                </a:path>
              </a:pathLst>
            </a:custGeom>
            <a:solidFill>
              <a:srgbClr val="F8F2E3"/>
            </a:solidFill>
          </p:spPr>
        </p:sp>
      </p:grpSp>
      <p:grpSp>
        <p:nvGrpSpPr>
          <p:cNvPr name="Group 25" id="25"/>
          <p:cNvGrpSpPr/>
          <p:nvPr/>
        </p:nvGrpSpPr>
        <p:grpSpPr>
          <a:xfrm rot="0">
            <a:off x="1440180" y="7173468"/>
            <a:ext cx="4046220" cy="1371600"/>
            <a:chOff x="0" y="0"/>
            <a:chExt cx="5394960" cy="182880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5394960" cy="1828800"/>
            </a:xfrm>
            <a:custGeom>
              <a:avLst/>
              <a:gdLst/>
              <a:ahLst/>
              <a:cxnLst/>
              <a:rect r="r" b="b" t="t" l="l"/>
              <a:pathLst>
                <a:path h="1828800" w="5394960">
                  <a:moveTo>
                    <a:pt x="0" y="0"/>
                  </a:moveTo>
                  <a:lnTo>
                    <a:pt x="5394960" y="0"/>
                  </a:lnTo>
                  <a:lnTo>
                    <a:pt x="5394960" y="1828800"/>
                  </a:lnTo>
                  <a:lnTo>
                    <a:pt x="0" y="18288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480" r="0" b="-7480"/>
              </a:stretch>
            </a:blipFill>
          </p:spPr>
        </p:sp>
        <p:sp>
          <p:nvSpPr>
            <p:cNvPr name="TextBox 27" id="27"/>
            <p:cNvSpPr txBox="true"/>
            <p:nvPr/>
          </p:nvSpPr>
          <p:spPr>
            <a:xfrm>
              <a:off x="0" y="-28575"/>
              <a:ext cx="5394960" cy="18573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39"/>
                </a:lnSpc>
              </a:pPr>
              <a:r>
                <a:rPr lang="en-US" sz="1999">
                  <a:solidFill>
                    <a:srgbClr val="1F2430"/>
                  </a:solidFill>
                  <a:latin typeface="Arial"/>
                  <a:ea typeface="Arial"/>
                  <a:cs typeface="Arial"/>
                  <a:sym typeface="Arial"/>
                </a:rPr>
                <a:t>History tests: relaxation fires</a:t>
              </a:r>
            </a:p>
            <a:p>
              <a:pPr algn="l">
                <a:lnSpc>
                  <a:spcPts val="2639"/>
                </a:lnSpc>
              </a:pPr>
              <a:r>
                <a:rPr lang="en-US" sz="1999">
                  <a:solidFill>
                    <a:srgbClr val="1F2430"/>
                  </a:solidFill>
                  <a:latin typeface="Arial"/>
                  <a:ea typeface="Arial"/>
                  <a:cs typeface="Arial"/>
                  <a:sym typeface="Arial"/>
                </a:rPr>
                <a:t>only when the condition was</a:t>
              </a:r>
            </a:p>
            <a:p>
              <a:pPr algn="l">
                <a:lnSpc>
                  <a:spcPts val="2639"/>
                </a:lnSpc>
              </a:pPr>
              <a:r>
                <a:rPr lang="en-US" sz="1999">
                  <a:solidFill>
                    <a:srgbClr val="1F2430"/>
                  </a:solidFill>
                  <a:latin typeface="Arial"/>
                  <a:ea typeface="Arial"/>
                  <a:cs typeface="Arial"/>
                  <a:sym typeface="Arial"/>
                </a:rPr>
                <a:t>actually declared</a:t>
              </a: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6368415" y="2527935"/>
            <a:ext cx="5505450" cy="6739890"/>
            <a:chOff x="0" y="0"/>
            <a:chExt cx="7340600" cy="898652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7340600" cy="8986520"/>
            </a:xfrm>
            <a:custGeom>
              <a:avLst/>
              <a:gdLst/>
              <a:ahLst/>
              <a:cxnLst/>
              <a:rect r="r" b="b" t="t" l="l"/>
              <a:pathLst>
                <a:path h="8986520" w="7340600">
                  <a:moveTo>
                    <a:pt x="0" y="146812"/>
                  </a:moveTo>
                  <a:cubicBezTo>
                    <a:pt x="0" y="65786"/>
                    <a:pt x="65786" y="0"/>
                    <a:pt x="146812" y="0"/>
                  </a:cubicBezTo>
                  <a:lnTo>
                    <a:pt x="7193788" y="0"/>
                  </a:lnTo>
                  <a:cubicBezTo>
                    <a:pt x="7274814" y="0"/>
                    <a:pt x="7340600" y="65786"/>
                    <a:pt x="7340600" y="146812"/>
                  </a:cubicBezTo>
                  <a:lnTo>
                    <a:pt x="7340600" y="8839708"/>
                  </a:lnTo>
                  <a:cubicBezTo>
                    <a:pt x="7340600" y="8920734"/>
                    <a:pt x="7274814" y="8986520"/>
                    <a:pt x="7193788" y="8986520"/>
                  </a:cubicBezTo>
                  <a:lnTo>
                    <a:pt x="146812" y="8986520"/>
                  </a:lnTo>
                  <a:cubicBezTo>
                    <a:pt x="65786" y="8986520"/>
                    <a:pt x="0" y="8920734"/>
                    <a:pt x="0" y="8839708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E6E1D3"/>
              </a:solidFill>
              <a:prstDash val="solid"/>
              <a:miter/>
            </a:ln>
          </p:spPr>
        </p:sp>
      </p:grpSp>
      <p:grpSp>
        <p:nvGrpSpPr>
          <p:cNvPr name="Group 30" id="30"/>
          <p:cNvGrpSpPr/>
          <p:nvPr/>
        </p:nvGrpSpPr>
        <p:grpSpPr>
          <a:xfrm rot="0">
            <a:off x="6789420" y="2852928"/>
            <a:ext cx="4663440" cy="480060"/>
            <a:chOff x="0" y="0"/>
            <a:chExt cx="6217920" cy="64008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6217920" cy="640080"/>
            </a:xfrm>
            <a:custGeom>
              <a:avLst/>
              <a:gdLst/>
              <a:ahLst/>
              <a:cxnLst/>
              <a:rect r="r" b="b" t="t" l="l"/>
              <a:pathLst>
                <a:path h="640080" w="6217920">
                  <a:moveTo>
                    <a:pt x="0" y="0"/>
                  </a:moveTo>
                  <a:lnTo>
                    <a:pt x="6217920" y="0"/>
                  </a:lnTo>
                  <a:lnTo>
                    <a:pt x="621792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9283" r="0" b="-139283"/>
              </a:stretch>
            </a:blipFill>
          </p:spPr>
        </p:sp>
        <p:sp>
          <p:nvSpPr>
            <p:cNvPr name="TextBox 32" id="32"/>
            <p:cNvSpPr txBox="true"/>
            <p:nvPr/>
          </p:nvSpPr>
          <p:spPr>
            <a:xfrm>
              <a:off x="0" y="-9525"/>
              <a:ext cx="6217920" cy="6496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 b="true">
                  <a:solidFill>
                    <a:srgbClr val="1F243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Sample Trace — Asthma</a:t>
              </a:r>
            </a:p>
          </p:txBody>
        </p:sp>
      </p:grpSp>
      <p:grpSp>
        <p:nvGrpSpPr>
          <p:cNvPr name="Group 33" id="33"/>
          <p:cNvGrpSpPr/>
          <p:nvPr/>
        </p:nvGrpSpPr>
        <p:grpSpPr>
          <a:xfrm rot="0">
            <a:off x="6652260" y="3332988"/>
            <a:ext cx="4663440" cy="5582412"/>
            <a:chOff x="0" y="0"/>
            <a:chExt cx="6217920" cy="7443216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6217920" cy="7443216"/>
            </a:xfrm>
            <a:custGeom>
              <a:avLst/>
              <a:gdLst/>
              <a:ahLst/>
              <a:cxnLst/>
              <a:rect r="r" b="b" t="t" l="l"/>
              <a:pathLst>
                <a:path h="7443216" w="6217920">
                  <a:moveTo>
                    <a:pt x="0" y="120052"/>
                  </a:moveTo>
                  <a:cubicBezTo>
                    <a:pt x="0" y="53690"/>
                    <a:pt x="40894" y="0"/>
                    <a:pt x="91440" y="0"/>
                  </a:cubicBezTo>
                  <a:lnTo>
                    <a:pt x="6126480" y="0"/>
                  </a:lnTo>
                  <a:cubicBezTo>
                    <a:pt x="6177026" y="0"/>
                    <a:pt x="6217920" y="53690"/>
                    <a:pt x="6217920" y="120052"/>
                  </a:cubicBezTo>
                  <a:lnTo>
                    <a:pt x="6217920" y="7323165"/>
                  </a:lnTo>
                  <a:cubicBezTo>
                    <a:pt x="6217920" y="7389526"/>
                    <a:pt x="6177026" y="7443216"/>
                    <a:pt x="6126480" y="7443216"/>
                  </a:cubicBezTo>
                  <a:lnTo>
                    <a:pt x="91440" y="7443216"/>
                  </a:lnTo>
                  <a:cubicBezTo>
                    <a:pt x="40894" y="7443216"/>
                    <a:pt x="0" y="7389526"/>
                    <a:pt x="0" y="7323165"/>
                  </a:cubicBezTo>
                  <a:close/>
                </a:path>
              </a:pathLst>
            </a:custGeom>
            <a:solidFill>
              <a:srgbClr val="2B2F3D"/>
            </a:solidFill>
          </p:spPr>
        </p:sp>
      </p:grpSp>
      <p:grpSp>
        <p:nvGrpSpPr>
          <p:cNvPr name="Group 35" id="35"/>
          <p:cNvGrpSpPr/>
          <p:nvPr/>
        </p:nvGrpSpPr>
        <p:grpSpPr>
          <a:xfrm rot="0">
            <a:off x="7063740" y="3675888"/>
            <a:ext cx="4106946" cy="4129451"/>
            <a:chOff x="0" y="0"/>
            <a:chExt cx="5486400" cy="5516465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5486400" cy="5516465"/>
            </a:xfrm>
            <a:custGeom>
              <a:avLst/>
              <a:gdLst/>
              <a:ahLst/>
              <a:cxnLst/>
              <a:rect r="r" b="b" t="t" l="l"/>
              <a:pathLst>
                <a:path h="5516465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5516465"/>
                  </a:lnTo>
                  <a:lnTo>
                    <a:pt x="0" y="551646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1888" t="0" r="-71888" b="5517"/>
              </a:stretch>
            </a:blipFill>
          </p:spPr>
        </p:sp>
        <p:sp>
          <p:nvSpPr>
            <p:cNvPr name="TextBox 37" id="37"/>
            <p:cNvSpPr txBox="true"/>
            <p:nvPr/>
          </p:nvSpPr>
          <p:spPr>
            <a:xfrm>
              <a:off x="0" y="-38100"/>
              <a:ext cx="5486400" cy="55545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14"/>
                </a:lnSpc>
              </a:pPr>
              <a:r>
                <a:rPr lang="en-US" sz="1749">
                  <a:solidFill>
                    <a:srgbClr val="FFFFFF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Red eyes? No</a:t>
              </a:r>
            </a:p>
            <a:p>
              <a:pPr algn="l">
                <a:lnSpc>
                  <a:spcPts val="2414"/>
                </a:lnSpc>
              </a:pPr>
              <a:r>
                <a:rPr lang="en-US" sz="1749">
                  <a:solidFill>
                    <a:srgbClr val="FFFFFF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Fatigue? No</a:t>
              </a:r>
            </a:p>
            <a:p>
              <a:pPr algn="l">
                <a:lnSpc>
                  <a:spcPts val="2414"/>
                </a:lnSpc>
              </a:pPr>
              <a:r>
                <a:rPr lang="en-US" sz="1749">
                  <a:solidFill>
                    <a:srgbClr val="FFFFFF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Shortness of breath? Yes</a:t>
              </a:r>
            </a:p>
            <a:p>
              <a:pPr algn="l">
                <a:lnSpc>
                  <a:spcPts val="2414"/>
                </a:lnSpc>
              </a:pPr>
              <a:r>
                <a:rPr lang="en-US" sz="1749">
                  <a:solidFill>
                    <a:srgbClr val="FFFFFF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Appetite loss? No</a:t>
              </a:r>
            </a:p>
            <a:p>
              <a:pPr algn="l">
                <a:lnSpc>
                  <a:spcPts val="2414"/>
                </a:lnSpc>
              </a:pPr>
              <a:r>
                <a:rPr lang="en-US" sz="1749">
                  <a:solidFill>
                    <a:srgbClr val="FFFFFF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Fever? None</a:t>
              </a:r>
            </a:p>
            <a:p>
              <a:pPr algn="l">
                <a:lnSpc>
                  <a:spcPts val="2414"/>
                </a:lnSpc>
              </a:pPr>
              <a:r>
                <a:rPr lang="en-US" sz="1749">
                  <a:solidFill>
                    <a:srgbClr val="FFFFFF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Back/joint pain? No</a:t>
              </a:r>
            </a:p>
            <a:p>
              <a:pPr algn="l">
                <a:lnSpc>
                  <a:spcPts val="2414"/>
                </a:lnSpc>
              </a:pPr>
              <a:r>
                <a:rPr lang="en-US" sz="1749">
                  <a:solidFill>
                    <a:srgbClr val="FFFFFF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Chest pain? Yes</a:t>
              </a:r>
            </a:p>
            <a:p>
              <a:pPr algn="l">
                <a:lnSpc>
                  <a:spcPts val="2414"/>
                </a:lnSpc>
              </a:pPr>
              <a:r>
                <a:rPr lang="en-US" sz="1749">
                  <a:solidFill>
                    <a:srgbClr val="FFFFFF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Cough frequently? Yes</a:t>
              </a:r>
            </a:p>
            <a:p>
              <a:pPr algn="l">
                <a:lnSpc>
                  <a:spcPts val="2414"/>
                </a:lnSpc>
              </a:pPr>
              <a:r>
                <a:rPr lang="en-US" sz="1749">
                  <a:solidFill>
                    <a:srgbClr val="FFFFFF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Wheeze on exhale? Yes</a:t>
              </a:r>
            </a:p>
            <a:p>
              <a:pPr algn="l">
                <a:lnSpc>
                  <a:spcPts val="2414"/>
                </a:lnSpc>
              </a:pPr>
            </a:p>
            <a:p>
              <a:pPr algn="l">
                <a:lnSpc>
                  <a:spcPts val="2414"/>
                </a:lnSpc>
              </a:pPr>
              <a:r>
                <a:rPr lang="en-US" sz="1749">
                  <a:solidFill>
                    <a:srgbClr val="FFFFFF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→ Diagnosis: Asthma</a:t>
              </a:r>
            </a:p>
            <a:p>
              <a:pPr algn="l">
                <a:lnSpc>
                  <a:spcPts val="2414"/>
                </a:lnSpc>
              </a:pPr>
              <a:r>
                <a:rPr lang="en-US" sz="1749">
                  <a:solidFill>
                    <a:srgbClr val="FFFFFF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Evidence: breathlessness,</a:t>
              </a:r>
            </a:p>
            <a:p>
              <a:pPr algn="l">
                <a:lnSpc>
                  <a:spcPts val="2414"/>
                </a:lnSpc>
              </a:pPr>
              <a:r>
                <a:rPr lang="en-US" sz="1749">
                  <a:solidFill>
                    <a:srgbClr val="FFFFFF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chest pain, cough, wheezing</a:t>
              </a: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12060555" y="2527935"/>
            <a:ext cx="5368290" cy="6739890"/>
            <a:chOff x="0" y="0"/>
            <a:chExt cx="7157720" cy="898652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7157720" cy="8986520"/>
            </a:xfrm>
            <a:custGeom>
              <a:avLst/>
              <a:gdLst/>
              <a:ahLst/>
              <a:cxnLst/>
              <a:rect r="r" b="b" t="t" l="l"/>
              <a:pathLst>
                <a:path h="8986520" w="7157720">
                  <a:moveTo>
                    <a:pt x="0" y="146812"/>
                  </a:moveTo>
                  <a:cubicBezTo>
                    <a:pt x="0" y="65786"/>
                    <a:pt x="65786" y="0"/>
                    <a:pt x="146812" y="0"/>
                  </a:cubicBezTo>
                  <a:lnTo>
                    <a:pt x="7010908" y="0"/>
                  </a:lnTo>
                  <a:cubicBezTo>
                    <a:pt x="7091934" y="0"/>
                    <a:pt x="7157720" y="65786"/>
                    <a:pt x="7157720" y="146812"/>
                  </a:cubicBezTo>
                  <a:lnTo>
                    <a:pt x="7157720" y="8839708"/>
                  </a:lnTo>
                  <a:cubicBezTo>
                    <a:pt x="7157720" y="8920734"/>
                    <a:pt x="7091934" y="8986520"/>
                    <a:pt x="7010908" y="8986520"/>
                  </a:cubicBezTo>
                  <a:lnTo>
                    <a:pt x="146812" y="8986520"/>
                  </a:lnTo>
                  <a:cubicBezTo>
                    <a:pt x="65786" y="8986520"/>
                    <a:pt x="0" y="8920734"/>
                    <a:pt x="0" y="8839708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E6E1D3"/>
              </a:solidFill>
              <a:prstDash val="solid"/>
              <a:miter/>
            </a:ln>
          </p:spPr>
        </p:sp>
      </p:grpSp>
      <p:grpSp>
        <p:nvGrpSpPr>
          <p:cNvPr name="Group 40" id="40"/>
          <p:cNvGrpSpPr/>
          <p:nvPr/>
        </p:nvGrpSpPr>
        <p:grpSpPr>
          <a:xfrm rot="0">
            <a:off x="12481560" y="2852928"/>
            <a:ext cx="4663440" cy="480060"/>
            <a:chOff x="0" y="0"/>
            <a:chExt cx="6217920" cy="640080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6217920" cy="640080"/>
            </a:xfrm>
            <a:custGeom>
              <a:avLst/>
              <a:gdLst/>
              <a:ahLst/>
              <a:cxnLst/>
              <a:rect r="r" b="b" t="t" l="l"/>
              <a:pathLst>
                <a:path h="640080" w="6217920">
                  <a:moveTo>
                    <a:pt x="0" y="0"/>
                  </a:moveTo>
                  <a:lnTo>
                    <a:pt x="6217920" y="0"/>
                  </a:lnTo>
                  <a:lnTo>
                    <a:pt x="621792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9283" r="0" b="-139283"/>
              </a:stretch>
            </a:blipFill>
          </p:spPr>
        </p:sp>
        <p:sp>
          <p:nvSpPr>
            <p:cNvPr name="TextBox 42" id="42"/>
            <p:cNvSpPr txBox="true"/>
            <p:nvPr/>
          </p:nvSpPr>
          <p:spPr>
            <a:xfrm>
              <a:off x="0" y="-9525"/>
              <a:ext cx="6217920" cy="6496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 b="true">
                  <a:solidFill>
                    <a:srgbClr val="1F243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Evaluation Limitation</a:t>
              </a:r>
            </a:p>
          </p:txBody>
        </p:sp>
      </p:grpSp>
      <p:grpSp>
        <p:nvGrpSpPr>
          <p:cNvPr name="Group 43" id="43"/>
          <p:cNvGrpSpPr/>
          <p:nvPr/>
        </p:nvGrpSpPr>
        <p:grpSpPr>
          <a:xfrm rot="0">
            <a:off x="12481560" y="3497580"/>
            <a:ext cx="4663440" cy="1371600"/>
            <a:chOff x="0" y="0"/>
            <a:chExt cx="6217920" cy="1828800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6217920" cy="1828800"/>
            </a:xfrm>
            <a:custGeom>
              <a:avLst/>
              <a:gdLst/>
              <a:ahLst/>
              <a:cxnLst/>
              <a:rect r="r" b="b" t="t" l="l"/>
              <a:pathLst>
                <a:path h="1828800" w="6217920">
                  <a:moveTo>
                    <a:pt x="0" y="0"/>
                  </a:moveTo>
                  <a:lnTo>
                    <a:pt x="6217920" y="0"/>
                  </a:lnTo>
                  <a:lnTo>
                    <a:pt x="6217920" y="1828800"/>
                  </a:lnTo>
                  <a:lnTo>
                    <a:pt x="0" y="18288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249" r="0" b="-16249"/>
              </a:stretch>
            </a:blipFill>
          </p:spPr>
        </p:sp>
        <p:sp>
          <p:nvSpPr>
            <p:cNvPr name="TextBox 45" id="45"/>
            <p:cNvSpPr txBox="true"/>
            <p:nvPr/>
          </p:nvSpPr>
          <p:spPr>
            <a:xfrm>
              <a:off x="0" y="-57150"/>
              <a:ext cx="6217920" cy="18859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92"/>
                </a:lnSpc>
              </a:pPr>
              <a:r>
                <a:rPr lang="en-US" sz="1800">
                  <a:solidFill>
                    <a:srgbClr val="666B78"/>
                  </a:solidFill>
                  <a:latin typeface="Arial"/>
                  <a:ea typeface="Arial"/>
                  <a:cs typeface="Arial"/>
                  <a:sym typeface="Arial"/>
                </a:rPr>
                <a:t>Testing confirms the software logic behaves as specified, thresholds are enforced, and console and web paths agree.</a:t>
              </a:r>
            </a:p>
          </p:txBody>
        </p:sp>
      </p:grpSp>
      <p:grpSp>
        <p:nvGrpSpPr>
          <p:cNvPr name="Group 46" id="46"/>
          <p:cNvGrpSpPr/>
          <p:nvPr/>
        </p:nvGrpSpPr>
        <p:grpSpPr>
          <a:xfrm rot="0">
            <a:off x="12481560" y="4937760"/>
            <a:ext cx="4663440" cy="2057400"/>
            <a:chOff x="0" y="0"/>
            <a:chExt cx="6217920" cy="2743200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6217920" cy="2743200"/>
            </a:xfrm>
            <a:custGeom>
              <a:avLst/>
              <a:gdLst/>
              <a:ahLst/>
              <a:cxnLst/>
              <a:rect r="r" b="b" t="t" l="l"/>
              <a:pathLst>
                <a:path h="2743200" w="6217920">
                  <a:moveTo>
                    <a:pt x="0" y="0"/>
                  </a:moveTo>
                  <a:lnTo>
                    <a:pt x="6217920" y="0"/>
                  </a:lnTo>
                  <a:lnTo>
                    <a:pt x="6217920" y="2743200"/>
                  </a:lnTo>
                  <a:lnTo>
                    <a:pt x="0" y="2743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6604" t="0" r="-6604" b="0"/>
              </a:stretch>
            </a:blipFill>
          </p:spPr>
        </p:sp>
        <p:sp>
          <p:nvSpPr>
            <p:cNvPr name="TextBox 48" id="48"/>
            <p:cNvSpPr txBox="true"/>
            <p:nvPr/>
          </p:nvSpPr>
          <p:spPr>
            <a:xfrm>
              <a:off x="0" y="-57150"/>
              <a:ext cx="6217920" cy="28003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92"/>
                </a:lnSpc>
              </a:pPr>
              <a:r>
                <a:rPr lang="en-US" sz="1800">
                  <a:solidFill>
                    <a:srgbClr val="666B78"/>
                  </a:solidFill>
                  <a:latin typeface="Arial"/>
                  <a:ea typeface="Arial"/>
                  <a:cs typeface="Arial"/>
                  <a:sym typeface="Arial"/>
                </a:rPr>
                <a:t>It does not prove clinical accuracy. Real medical validation would need expert-reviewed cases and metrics such as sensitivity and specificity — no such evaluation was performed, and none should be inferred.</a:t>
              </a:r>
            </a:p>
          </p:txBody>
        </p:sp>
      </p:grpSp>
      <p:grpSp>
        <p:nvGrpSpPr>
          <p:cNvPr name="Group 49" id="49"/>
          <p:cNvGrpSpPr/>
          <p:nvPr/>
        </p:nvGrpSpPr>
        <p:grpSpPr>
          <a:xfrm rot="0">
            <a:off x="12481560" y="7200900"/>
            <a:ext cx="4663440" cy="1851660"/>
            <a:chOff x="0" y="0"/>
            <a:chExt cx="6217920" cy="2468880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6217920" cy="2468880"/>
            </a:xfrm>
            <a:custGeom>
              <a:avLst/>
              <a:gdLst/>
              <a:ahLst/>
              <a:cxnLst/>
              <a:rect r="r" b="b" t="t" l="l"/>
              <a:pathLst>
                <a:path h="2468880" w="6217920">
                  <a:moveTo>
                    <a:pt x="0" y="109728"/>
                  </a:moveTo>
                  <a:cubicBezTo>
                    <a:pt x="0" y="49149"/>
                    <a:pt x="49149" y="0"/>
                    <a:pt x="109728" y="0"/>
                  </a:cubicBezTo>
                  <a:lnTo>
                    <a:pt x="6108192" y="0"/>
                  </a:lnTo>
                  <a:cubicBezTo>
                    <a:pt x="6168771" y="0"/>
                    <a:pt x="6217920" y="49149"/>
                    <a:pt x="6217920" y="109728"/>
                  </a:cubicBezTo>
                  <a:lnTo>
                    <a:pt x="6217920" y="2359152"/>
                  </a:lnTo>
                  <a:cubicBezTo>
                    <a:pt x="6217920" y="2419731"/>
                    <a:pt x="6168771" y="2468880"/>
                    <a:pt x="6108192" y="2468880"/>
                  </a:cubicBezTo>
                  <a:lnTo>
                    <a:pt x="109728" y="2468880"/>
                  </a:lnTo>
                  <a:cubicBezTo>
                    <a:pt x="49149" y="2468880"/>
                    <a:pt x="0" y="2419731"/>
                    <a:pt x="0" y="2359152"/>
                  </a:cubicBezTo>
                  <a:close/>
                </a:path>
              </a:pathLst>
            </a:custGeom>
            <a:solidFill>
              <a:srgbClr val="F2E7ED"/>
            </a:solidFill>
          </p:spPr>
        </p:sp>
      </p:grpSp>
      <p:grpSp>
        <p:nvGrpSpPr>
          <p:cNvPr name="Group 51" id="51"/>
          <p:cNvGrpSpPr/>
          <p:nvPr/>
        </p:nvGrpSpPr>
        <p:grpSpPr>
          <a:xfrm rot="0">
            <a:off x="12687300" y="7338060"/>
            <a:ext cx="4251960" cy="1577340"/>
            <a:chOff x="0" y="0"/>
            <a:chExt cx="5669280" cy="2103120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5669280" cy="2103120"/>
            </a:xfrm>
            <a:custGeom>
              <a:avLst/>
              <a:gdLst/>
              <a:ahLst/>
              <a:cxnLst/>
              <a:rect r="r" b="b" t="t" l="l"/>
              <a:pathLst>
                <a:path h="2103120" w="5669280">
                  <a:moveTo>
                    <a:pt x="0" y="0"/>
                  </a:moveTo>
                  <a:lnTo>
                    <a:pt x="5669280" y="0"/>
                  </a:lnTo>
                  <a:lnTo>
                    <a:pt x="5669280" y="2103120"/>
                  </a:lnTo>
                  <a:lnTo>
                    <a:pt x="0" y="21031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524" r="0" b="-2524"/>
              </a:stretch>
            </a:blipFill>
          </p:spPr>
        </p:sp>
        <p:sp>
          <p:nvSpPr>
            <p:cNvPr name="TextBox 53" id="53"/>
            <p:cNvSpPr txBox="true"/>
            <p:nvPr/>
          </p:nvSpPr>
          <p:spPr>
            <a:xfrm>
              <a:off x="0" y="-47625"/>
              <a:ext cx="5669280" cy="21507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6"/>
                </a:lnSpc>
              </a:pPr>
              <a:r>
                <a:rPr lang="en-US" sz="1700" i="true">
                  <a:solidFill>
                    <a:srgbClr val="1F2430"/>
                  </a:solidFill>
                  <a:latin typeface="Arial Italics"/>
                  <a:ea typeface="Arial Italics"/>
                  <a:cs typeface="Arial Italics"/>
                  <a:sym typeface="Arial Italics"/>
                </a:rPr>
                <a:t>INTERNIST-1 held a far larger knowledge base and was still reported unsuitable for clinical use — a passing test suite says nothing about diagnostic accuracy.</a:t>
              </a:r>
            </a:p>
          </p:txBody>
        </p:sp>
      </p:grpSp>
      <p:grpSp>
        <p:nvGrpSpPr>
          <p:cNvPr name="Group 54" id="54"/>
          <p:cNvGrpSpPr/>
          <p:nvPr/>
        </p:nvGrpSpPr>
        <p:grpSpPr>
          <a:xfrm rot="0">
            <a:off x="685800" y="9848088"/>
            <a:ext cx="9601200" cy="384048"/>
            <a:chOff x="0" y="0"/>
            <a:chExt cx="12801600" cy="512064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12801600" cy="512064"/>
            </a:xfrm>
            <a:custGeom>
              <a:avLst/>
              <a:gdLst/>
              <a:ahLst/>
              <a:cxnLst/>
              <a:rect r="r" b="b" t="t" l="l"/>
              <a:pathLst>
                <a:path h="512064" w="12801600">
                  <a:moveTo>
                    <a:pt x="0" y="0"/>
                  </a:moveTo>
                  <a:lnTo>
                    <a:pt x="12801600" y="0"/>
                  </a:lnTo>
                  <a:lnTo>
                    <a:pt x="12801600" y="512064"/>
                  </a:lnTo>
                  <a:lnTo>
                    <a:pt x="0" y="5120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37125" r="0" b="-437125"/>
              </a:stretch>
            </a:blipFill>
          </p:spPr>
        </p:sp>
        <p:sp>
          <p:nvSpPr>
            <p:cNvPr name="TextBox 56" id="56"/>
            <p:cNvSpPr txBox="true"/>
            <p:nvPr/>
          </p:nvSpPr>
          <p:spPr>
            <a:xfrm>
              <a:off x="0" y="-19050"/>
              <a:ext cx="12801600" cy="53111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439"/>
                </a:lnSpc>
              </a:pPr>
              <a:r>
                <a:rPr lang="en-US" sz="1200">
                  <a:solidFill>
                    <a:srgbClr val="666B78"/>
                  </a:solidFill>
                  <a:latin typeface="Arial"/>
                  <a:ea typeface="Arial"/>
                  <a:cs typeface="Arial"/>
                  <a:sym typeface="Arial"/>
                </a:rPr>
                <a:t>Medical Diagnosis Expert System  |  CSE440</a:t>
              </a:r>
            </a:p>
          </p:txBody>
        </p:sp>
      </p:grpSp>
      <p:grpSp>
        <p:nvGrpSpPr>
          <p:cNvPr name="Group 57" id="57"/>
          <p:cNvGrpSpPr/>
          <p:nvPr/>
        </p:nvGrpSpPr>
        <p:grpSpPr>
          <a:xfrm rot="0">
            <a:off x="17145000" y="9848088"/>
            <a:ext cx="548640" cy="384048"/>
            <a:chOff x="0" y="0"/>
            <a:chExt cx="731520" cy="512064"/>
          </a:xfrm>
        </p:grpSpPr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731520" cy="512064"/>
            </a:xfrm>
            <a:custGeom>
              <a:avLst/>
              <a:gdLst/>
              <a:ahLst/>
              <a:cxnLst/>
              <a:rect r="r" b="b" t="t" l="l"/>
              <a:pathLst>
                <a:path h="512064" w="731520">
                  <a:moveTo>
                    <a:pt x="0" y="0"/>
                  </a:moveTo>
                  <a:lnTo>
                    <a:pt x="731520" y="0"/>
                  </a:lnTo>
                  <a:lnTo>
                    <a:pt x="731520" y="512064"/>
                  </a:lnTo>
                  <a:lnTo>
                    <a:pt x="0" y="5120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39812" t="0" r="-39812" b="0"/>
              </a:stretch>
            </a:blipFill>
          </p:spPr>
        </p:sp>
        <p:sp>
          <p:nvSpPr>
            <p:cNvPr name="TextBox 59" id="59"/>
            <p:cNvSpPr txBox="true"/>
            <p:nvPr/>
          </p:nvSpPr>
          <p:spPr>
            <a:xfrm>
              <a:off x="0" y="-19050"/>
              <a:ext cx="731520" cy="53111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439"/>
                </a:lnSpc>
              </a:pPr>
              <a:r>
                <a:rPr lang="en-US" sz="1200">
                  <a:solidFill>
                    <a:srgbClr val="666B78"/>
                  </a:solidFill>
                  <a:latin typeface="Arial"/>
                  <a:ea typeface="Arial"/>
                  <a:cs typeface="Arial"/>
                  <a:sym typeface="Arial"/>
                </a:rPr>
                <a:t>12</a:t>
              </a:r>
            </a:p>
          </p:txBody>
        </p:sp>
      </p:grp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6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98186" y="9753711"/>
            <a:ext cx="9601200" cy="384048"/>
            <a:chOff x="0" y="0"/>
            <a:chExt cx="12801600" cy="51206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2801600" cy="512064"/>
            </a:xfrm>
            <a:custGeom>
              <a:avLst/>
              <a:gdLst/>
              <a:ahLst/>
              <a:cxnLst/>
              <a:rect r="r" b="b" t="t" l="l"/>
              <a:pathLst>
                <a:path h="512064" w="12801600">
                  <a:moveTo>
                    <a:pt x="0" y="0"/>
                  </a:moveTo>
                  <a:lnTo>
                    <a:pt x="12801600" y="0"/>
                  </a:lnTo>
                  <a:lnTo>
                    <a:pt x="12801600" y="512064"/>
                  </a:lnTo>
                  <a:lnTo>
                    <a:pt x="0" y="5120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47395" r="0" b="-447395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19050"/>
              <a:ext cx="12801600" cy="53111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439"/>
                </a:lnSpc>
              </a:pPr>
              <a:r>
                <a:rPr lang="en-US" sz="1200">
                  <a:solidFill>
                    <a:srgbClr val="666B78"/>
                  </a:solidFill>
                  <a:latin typeface="Arial"/>
                  <a:ea typeface="Arial"/>
                  <a:cs typeface="Arial"/>
                  <a:sym typeface="Arial"/>
                </a:rPr>
                <a:t>Medical Diagnosis Expert System  |  CSE440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7145000" y="9848088"/>
            <a:ext cx="548640" cy="384048"/>
            <a:chOff x="0" y="0"/>
            <a:chExt cx="731520" cy="512064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731520" cy="512064"/>
            </a:xfrm>
            <a:custGeom>
              <a:avLst/>
              <a:gdLst/>
              <a:ahLst/>
              <a:cxnLst/>
              <a:rect r="r" b="b" t="t" l="l"/>
              <a:pathLst>
                <a:path h="512064" w="731520">
                  <a:moveTo>
                    <a:pt x="0" y="0"/>
                  </a:moveTo>
                  <a:lnTo>
                    <a:pt x="731520" y="0"/>
                  </a:lnTo>
                  <a:lnTo>
                    <a:pt x="731520" y="512064"/>
                  </a:lnTo>
                  <a:lnTo>
                    <a:pt x="0" y="512064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39812" t="0" r="-39812" b="0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19050"/>
              <a:ext cx="731520" cy="53111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439"/>
                </a:lnSpc>
              </a:pPr>
              <a:r>
                <a:rPr lang="en-US" sz="1200">
                  <a:solidFill>
                    <a:srgbClr val="666B78"/>
                  </a:solidFill>
                  <a:latin typeface="Arial"/>
                  <a:ea typeface="Arial"/>
                  <a:cs typeface="Arial"/>
                  <a:sym typeface="Arial"/>
                </a:rPr>
                <a:t>13</a:t>
              </a: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3266466" y="110214"/>
            <a:ext cx="11455046" cy="10121922"/>
          </a:xfrm>
          <a:custGeom>
            <a:avLst/>
            <a:gdLst/>
            <a:ahLst/>
            <a:cxnLst/>
            <a:rect r="r" b="b" t="t" l="l"/>
            <a:pathLst>
              <a:path h="10121922" w="11455046">
                <a:moveTo>
                  <a:pt x="0" y="0"/>
                </a:moveTo>
                <a:lnTo>
                  <a:pt x="11455046" y="0"/>
                </a:lnTo>
                <a:lnTo>
                  <a:pt x="11455046" y="10121922"/>
                </a:lnTo>
                <a:lnTo>
                  <a:pt x="0" y="1012192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-69" r="-823" b="-69"/>
            </a:stretch>
          </a:blipFill>
        </p:spPr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6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22960" y="685800"/>
            <a:ext cx="16596360" cy="822960"/>
            <a:chOff x="0" y="0"/>
            <a:chExt cx="22128480" cy="109728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2128480" cy="1097280"/>
            </a:xfrm>
            <a:custGeom>
              <a:avLst/>
              <a:gdLst/>
              <a:ahLst/>
              <a:cxnLst/>
              <a:rect r="r" b="b" t="t" l="l"/>
              <a:pathLst>
                <a:path h="1097280" w="22128480">
                  <a:moveTo>
                    <a:pt x="0" y="0"/>
                  </a:moveTo>
                  <a:lnTo>
                    <a:pt x="22128480" y="0"/>
                  </a:lnTo>
                  <a:lnTo>
                    <a:pt x="2212848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42948" r="0" b="-342948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19050"/>
              <a:ext cx="22128480" cy="11163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040"/>
                </a:lnSpc>
              </a:pPr>
              <a:r>
                <a:rPr lang="en-US" sz="4200" b="true">
                  <a:solidFill>
                    <a:srgbClr val="1F243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Discussion and Future Improvements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822960" y="1335405"/>
            <a:ext cx="16596360" cy="548640"/>
            <a:chOff x="0" y="0"/>
            <a:chExt cx="22128480" cy="73152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2128480" cy="731520"/>
            </a:xfrm>
            <a:custGeom>
              <a:avLst/>
              <a:gdLst/>
              <a:ahLst/>
              <a:cxnLst/>
              <a:rect r="r" b="b" t="t" l="l"/>
              <a:pathLst>
                <a:path h="731520" w="22128480">
                  <a:moveTo>
                    <a:pt x="0" y="0"/>
                  </a:moveTo>
                  <a:lnTo>
                    <a:pt x="22128480" y="0"/>
                  </a:lnTo>
                  <a:lnTo>
                    <a:pt x="2212848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39422" r="0" b="-539422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19050"/>
              <a:ext cx="22128480" cy="7505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sz="1950">
                  <a:solidFill>
                    <a:srgbClr val="666B78"/>
                  </a:solidFill>
                  <a:latin typeface="Arial"/>
                  <a:ea typeface="Arial"/>
                  <a:cs typeface="Arial"/>
                  <a:sym typeface="Arial"/>
                </a:rPr>
                <a:t>Where the prototype is strong, where it is limited, and what comes next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813435" y="2665095"/>
            <a:ext cx="5299710" cy="6465570"/>
            <a:chOff x="0" y="0"/>
            <a:chExt cx="7066280" cy="862076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7066280" cy="8620760"/>
            </a:xfrm>
            <a:custGeom>
              <a:avLst/>
              <a:gdLst/>
              <a:ahLst/>
              <a:cxnLst/>
              <a:rect r="r" b="b" t="t" l="l"/>
              <a:pathLst>
                <a:path h="8620760" w="7066280">
                  <a:moveTo>
                    <a:pt x="0" y="146812"/>
                  </a:moveTo>
                  <a:cubicBezTo>
                    <a:pt x="0" y="65786"/>
                    <a:pt x="65786" y="0"/>
                    <a:pt x="146812" y="0"/>
                  </a:cubicBezTo>
                  <a:lnTo>
                    <a:pt x="6919468" y="0"/>
                  </a:lnTo>
                  <a:cubicBezTo>
                    <a:pt x="7000622" y="0"/>
                    <a:pt x="7066280" y="65786"/>
                    <a:pt x="7066280" y="146812"/>
                  </a:cubicBezTo>
                  <a:lnTo>
                    <a:pt x="7066280" y="8473948"/>
                  </a:lnTo>
                  <a:cubicBezTo>
                    <a:pt x="7066280" y="8555101"/>
                    <a:pt x="7000494" y="8620760"/>
                    <a:pt x="6919468" y="8620760"/>
                  </a:cubicBezTo>
                  <a:lnTo>
                    <a:pt x="146812" y="8620760"/>
                  </a:lnTo>
                  <a:cubicBezTo>
                    <a:pt x="65786" y="8620760"/>
                    <a:pt x="0" y="8554974"/>
                    <a:pt x="0" y="8473948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E6E1D3"/>
              </a:solidFill>
              <a:prstDash val="solid"/>
              <a:miter/>
            </a:ln>
          </p:spPr>
        </p:sp>
      </p:grpSp>
      <p:grpSp>
        <p:nvGrpSpPr>
          <p:cNvPr name="Group 10" id="10"/>
          <p:cNvGrpSpPr/>
          <p:nvPr/>
        </p:nvGrpSpPr>
        <p:grpSpPr>
          <a:xfrm rot="0">
            <a:off x="1234440" y="3113532"/>
            <a:ext cx="685800" cy="109728"/>
            <a:chOff x="0" y="0"/>
            <a:chExt cx="914400" cy="146304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914400" cy="146304"/>
            </a:xfrm>
            <a:custGeom>
              <a:avLst/>
              <a:gdLst/>
              <a:ahLst/>
              <a:cxnLst/>
              <a:rect r="r" b="b" t="t" l="l"/>
              <a:pathLst>
                <a:path h="146304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146304"/>
                  </a:lnTo>
                  <a:lnTo>
                    <a:pt x="0" y="146304"/>
                  </a:lnTo>
                  <a:close/>
                </a:path>
              </a:pathLst>
            </a:custGeom>
            <a:solidFill>
              <a:srgbClr val="B08D3E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1234440" y="3360420"/>
            <a:ext cx="4457700" cy="548640"/>
            <a:chOff x="0" y="0"/>
            <a:chExt cx="5943600" cy="73152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5943600" cy="731520"/>
            </a:xfrm>
            <a:custGeom>
              <a:avLst/>
              <a:gdLst/>
              <a:ahLst/>
              <a:cxnLst/>
              <a:rect r="r" b="b" t="t" l="l"/>
              <a:pathLst>
                <a:path h="731520" w="5943600">
                  <a:moveTo>
                    <a:pt x="0" y="0"/>
                  </a:moveTo>
                  <a:lnTo>
                    <a:pt x="5943600" y="0"/>
                  </a:lnTo>
                  <a:lnTo>
                    <a:pt x="59436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8315" r="0" b="-108315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19050"/>
              <a:ext cx="5943600" cy="7505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00"/>
                </a:lnSpc>
              </a:pPr>
              <a:r>
                <a:rPr lang="en-US" sz="2250" b="true">
                  <a:solidFill>
                    <a:srgbClr val="1F243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Strengths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234440" y="4197096"/>
            <a:ext cx="150876" cy="150876"/>
            <a:chOff x="0" y="0"/>
            <a:chExt cx="201168" cy="201168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201168" cy="201168"/>
            </a:xfrm>
            <a:custGeom>
              <a:avLst/>
              <a:gdLst/>
              <a:ahLst/>
              <a:cxnLst/>
              <a:rect r="r" b="b" t="t" l="l"/>
              <a:pathLst>
                <a:path h="201168" w="201168">
                  <a:moveTo>
                    <a:pt x="0" y="100584"/>
                  </a:moveTo>
                  <a:cubicBezTo>
                    <a:pt x="0" y="45085"/>
                    <a:pt x="45085" y="0"/>
                    <a:pt x="100584" y="0"/>
                  </a:cubicBezTo>
                  <a:cubicBezTo>
                    <a:pt x="156083" y="0"/>
                    <a:pt x="201168" y="45085"/>
                    <a:pt x="201168" y="100584"/>
                  </a:cubicBezTo>
                  <a:cubicBezTo>
                    <a:pt x="201168" y="156083"/>
                    <a:pt x="156083" y="201168"/>
                    <a:pt x="100584" y="201168"/>
                  </a:cubicBezTo>
                  <a:cubicBezTo>
                    <a:pt x="45085" y="201168"/>
                    <a:pt x="0" y="156083"/>
                    <a:pt x="0" y="100584"/>
                  </a:cubicBezTo>
                  <a:close/>
                </a:path>
              </a:pathLst>
            </a:custGeom>
            <a:solidFill>
              <a:srgbClr val="B08D3E"/>
            </a:solid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1536192" y="4014597"/>
            <a:ext cx="4114800" cy="891540"/>
            <a:chOff x="0" y="0"/>
            <a:chExt cx="5486400" cy="118872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5486400" cy="1188720"/>
            </a:xfrm>
            <a:custGeom>
              <a:avLst/>
              <a:gdLst/>
              <a:ahLst/>
              <a:cxnLst/>
              <a:rect r="r" b="b" t="t" l="l"/>
              <a:pathLst>
                <a:path h="1188720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1188720"/>
                  </a:lnTo>
                  <a:lnTo>
                    <a:pt x="0" y="11887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9930" r="0" b="-39930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57150"/>
              <a:ext cx="5486400" cy="12458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035"/>
                </a:lnSpc>
              </a:pPr>
              <a:r>
                <a:rPr lang="en-US" sz="2199">
                  <a:solidFill>
                    <a:srgbClr val="666B78"/>
                  </a:solidFill>
                  <a:latin typeface="Arial"/>
                  <a:ea typeface="Arial"/>
                  <a:cs typeface="Arial"/>
                  <a:sym typeface="Arial"/>
                </a:rPr>
                <a:t>Transparent reasoning — rules are easy to inspect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1234440" y="5390388"/>
            <a:ext cx="150876" cy="150876"/>
            <a:chOff x="0" y="0"/>
            <a:chExt cx="201168" cy="201168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201168" cy="201168"/>
            </a:xfrm>
            <a:custGeom>
              <a:avLst/>
              <a:gdLst/>
              <a:ahLst/>
              <a:cxnLst/>
              <a:rect r="r" b="b" t="t" l="l"/>
              <a:pathLst>
                <a:path h="201168" w="201168">
                  <a:moveTo>
                    <a:pt x="0" y="100584"/>
                  </a:moveTo>
                  <a:cubicBezTo>
                    <a:pt x="0" y="45085"/>
                    <a:pt x="45085" y="0"/>
                    <a:pt x="100584" y="0"/>
                  </a:cubicBezTo>
                  <a:cubicBezTo>
                    <a:pt x="156083" y="0"/>
                    <a:pt x="201168" y="45085"/>
                    <a:pt x="201168" y="100584"/>
                  </a:cubicBezTo>
                  <a:cubicBezTo>
                    <a:pt x="201168" y="156083"/>
                    <a:pt x="156083" y="201168"/>
                    <a:pt x="100584" y="201168"/>
                  </a:cubicBezTo>
                  <a:cubicBezTo>
                    <a:pt x="45085" y="201168"/>
                    <a:pt x="0" y="156083"/>
                    <a:pt x="0" y="100584"/>
                  </a:cubicBezTo>
                  <a:close/>
                </a:path>
              </a:pathLst>
            </a:custGeom>
            <a:solidFill>
              <a:srgbClr val="B08D3E"/>
            </a:solid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1536192" y="5198364"/>
            <a:ext cx="4114800" cy="891540"/>
            <a:chOff x="0" y="0"/>
            <a:chExt cx="5486400" cy="118872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5486400" cy="1188720"/>
            </a:xfrm>
            <a:custGeom>
              <a:avLst/>
              <a:gdLst/>
              <a:ahLst/>
              <a:cxnLst/>
              <a:rect r="r" b="b" t="t" l="l"/>
              <a:pathLst>
                <a:path h="1188720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1188720"/>
                  </a:lnTo>
                  <a:lnTo>
                    <a:pt x="0" y="11887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9930" r="0" b="-39930"/>
              </a:stretch>
            </a:blip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57150"/>
              <a:ext cx="5486400" cy="12458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035"/>
                </a:lnSpc>
              </a:pPr>
              <a:r>
                <a:rPr lang="en-US" sz="2199">
                  <a:solidFill>
                    <a:srgbClr val="666B78"/>
                  </a:solidFill>
                  <a:latin typeface="Arial"/>
                  <a:ea typeface="Arial"/>
                  <a:cs typeface="Arial"/>
                  <a:sym typeface="Arial"/>
                </a:rPr>
                <a:t>Console &amp; web interfaces cannot diverge</a:t>
              </a: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1234440" y="6583680"/>
            <a:ext cx="150876" cy="150876"/>
            <a:chOff x="0" y="0"/>
            <a:chExt cx="201168" cy="201168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201168" cy="201168"/>
            </a:xfrm>
            <a:custGeom>
              <a:avLst/>
              <a:gdLst/>
              <a:ahLst/>
              <a:cxnLst/>
              <a:rect r="r" b="b" t="t" l="l"/>
              <a:pathLst>
                <a:path h="201168" w="201168">
                  <a:moveTo>
                    <a:pt x="0" y="100584"/>
                  </a:moveTo>
                  <a:cubicBezTo>
                    <a:pt x="0" y="45085"/>
                    <a:pt x="45085" y="0"/>
                    <a:pt x="100584" y="0"/>
                  </a:cubicBezTo>
                  <a:cubicBezTo>
                    <a:pt x="156083" y="0"/>
                    <a:pt x="201168" y="45085"/>
                    <a:pt x="201168" y="100584"/>
                  </a:cubicBezTo>
                  <a:cubicBezTo>
                    <a:pt x="201168" y="156083"/>
                    <a:pt x="156083" y="201168"/>
                    <a:pt x="100584" y="201168"/>
                  </a:cubicBezTo>
                  <a:cubicBezTo>
                    <a:pt x="45085" y="201168"/>
                    <a:pt x="0" y="156083"/>
                    <a:pt x="0" y="100584"/>
                  </a:cubicBezTo>
                  <a:close/>
                </a:path>
              </a:pathLst>
            </a:custGeom>
            <a:solidFill>
              <a:srgbClr val="B08D3E"/>
            </a:solidFill>
          </p:spPr>
        </p:sp>
      </p:grpSp>
      <p:grpSp>
        <p:nvGrpSpPr>
          <p:cNvPr name="Group 27" id="27"/>
          <p:cNvGrpSpPr/>
          <p:nvPr/>
        </p:nvGrpSpPr>
        <p:grpSpPr>
          <a:xfrm rot="0">
            <a:off x="1536192" y="6391656"/>
            <a:ext cx="4114800" cy="891540"/>
            <a:chOff x="0" y="0"/>
            <a:chExt cx="5486400" cy="118872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5486400" cy="1188720"/>
            </a:xfrm>
            <a:custGeom>
              <a:avLst/>
              <a:gdLst/>
              <a:ahLst/>
              <a:cxnLst/>
              <a:rect r="r" b="b" t="t" l="l"/>
              <a:pathLst>
                <a:path h="1188720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1188720"/>
                  </a:lnTo>
                  <a:lnTo>
                    <a:pt x="0" y="11887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9930" r="0" b="-39930"/>
              </a:stretch>
            </a:blipFill>
          </p:spPr>
        </p:sp>
        <p:sp>
          <p:nvSpPr>
            <p:cNvPr name="TextBox 29" id="29"/>
            <p:cNvSpPr txBox="true"/>
            <p:nvPr/>
          </p:nvSpPr>
          <p:spPr>
            <a:xfrm>
              <a:off x="0" y="-57150"/>
              <a:ext cx="5486400" cy="12458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035"/>
                </a:lnSpc>
              </a:pPr>
              <a:r>
                <a:rPr lang="en-US" sz="2199">
                  <a:solidFill>
                    <a:srgbClr val="666B78"/>
                  </a:solidFill>
                  <a:latin typeface="Arial"/>
                  <a:ea typeface="Arial"/>
                  <a:cs typeface="Arial"/>
                  <a:sym typeface="Arial"/>
                </a:rPr>
                <a:t>Treatment content lives outside the engine</a:t>
              </a: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1234440" y="7776972"/>
            <a:ext cx="150876" cy="150876"/>
            <a:chOff x="0" y="0"/>
            <a:chExt cx="201168" cy="201168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201168" cy="201168"/>
            </a:xfrm>
            <a:custGeom>
              <a:avLst/>
              <a:gdLst/>
              <a:ahLst/>
              <a:cxnLst/>
              <a:rect r="r" b="b" t="t" l="l"/>
              <a:pathLst>
                <a:path h="201168" w="201168">
                  <a:moveTo>
                    <a:pt x="0" y="100584"/>
                  </a:moveTo>
                  <a:cubicBezTo>
                    <a:pt x="0" y="45085"/>
                    <a:pt x="45085" y="0"/>
                    <a:pt x="100584" y="0"/>
                  </a:cubicBezTo>
                  <a:cubicBezTo>
                    <a:pt x="156083" y="0"/>
                    <a:pt x="201168" y="45085"/>
                    <a:pt x="201168" y="100584"/>
                  </a:cubicBezTo>
                  <a:cubicBezTo>
                    <a:pt x="201168" y="156083"/>
                    <a:pt x="156083" y="201168"/>
                    <a:pt x="100584" y="201168"/>
                  </a:cubicBezTo>
                  <a:cubicBezTo>
                    <a:pt x="45085" y="201168"/>
                    <a:pt x="0" y="156083"/>
                    <a:pt x="0" y="100584"/>
                  </a:cubicBezTo>
                  <a:close/>
                </a:path>
              </a:pathLst>
            </a:custGeom>
            <a:solidFill>
              <a:srgbClr val="B08D3E"/>
            </a:solidFill>
          </p:spPr>
        </p:sp>
      </p:grpSp>
      <p:grpSp>
        <p:nvGrpSpPr>
          <p:cNvPr name="Group 32" id="32"/>
          <p:cNvGrpSpPr/>
          <p:nvPr/>
        </p:nvGrpSpPr>
        <p:grpSpPr>
          <a:xfrm rot="0">
            <a:off x="1536192" y="7584948"/>
            <a:ext cx="4114800" cy="891540"/>
            <a:chOff x="0" y="0"/>
            <a:chExt cx="5486400" cy="118872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5486400" cy="1188720"/>
            </a:xfrm>
            <a:custGeom>
              <a:avLst/>
              <a:gdLst/>
              <a:ahLst/>
              <a:cxnLst/>
              <a:rect r="r" b="b" t="t" l="l"/>
              <a:pathLst>
                <a:path h="1188720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1188720"/>
                  </a:lnTo>
                  <a:lnTo>
                    <a:pt x="0" y="11887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9930" r="0" b="-39930"/>
              </a:stretch>
            </a:blipFill>
          </p:spPr>
        </p:sp>
        <p:sp>
          <p:nvSpPr>
            <p:cNvPr name="TextBox 34" id="34"/>
            <p:cNvSpPr txBox="true"/>
            <p:nvPr/>
          </p:nvSpPr>
          <p:spPr>
            <a:xfrm>
              <a:off x="0" y="-57150"/>
              <a:ext cx="5486400" cy="12458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035"/>
                </a:lnSpc>
              </a:pPr>
              <a:r>
                <a:rPr lang="en-US" sz="2199">
                  <a:solidFill>
                    <a:srgbClr val="666B78"/>
                  </a:solidFill>
                  <a:latin typeface="Arial"/>
                  <a:ea typeface="Arial"/>
                  <a:cs typeface="Arial"/>
                  <a:sym typeface="Arial"/>
                </a:rPr>
                <a:t>No external PDF dependency required</a:t>
              </a: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6505575" y="2665095"/>
            <a:ext cx="5299710" cy="6465570"/>
            <a:chOff x="0" y="0"/>
            <a:chExt cx="7066280" cy="862076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7066280" cy="8620760"/>
            </a:xfrm>
            <a:custGeom>
              <a:avLst/>
              <a:gdLst/>
              <a:ahLst/>
              <a:cxnLst/>
              <a:rect r="r" b="b" t="t" l="l"/>
              <a:pathLst>
                <a:path h="8620760" w="7066280">
                  <a:moveTo>
                    <a:pt x="0" y="146812"/>
                  </a:moveTo>
                  <a:cubicBezTo>
                    <a:pt x="0" y="65786"/>
                    <a:pt x="65786" y="0"/>
                    <a:pt x="146812" y="0"/>
                  </a:cubicBezTo>
                  <a:lnTo>
                    <a:pt x="6919468" y="0"/>
                  </a:lnTo>
                  <a:cubicBezTo>
                    <a:pt x="7000622" y="0"/>
                    <a:pt x="7066280" y="65786"/>
                    <a:pt x="7066280" y="146812"/>
                  </a:cubicBezTo>
                  <a:lnTo>
                    <a:pt x="7066280" y="8473948"/>
                  </a:lnTo>
                  <a:cubicBezTo>
                    <a:pt x="7066280" y="8555101"/>
                    <a:pt x="7000494" y="8620760"/>
                    <a:pt x="6919468" y="8620760"/>
                  </a:cubicBezTo>
                  <a:lnTo>
                    <a:pt x="146812" y="8620760"/>
                  </a:lnTo>
                  <a:cubicBezTo>
                    <a:pt x="65786" y="8620760"/>
                    <a:pt x="0" y="8554974"/>
                    <a:pt x="0" y="8473948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E6E1D3"/>
              </a:solidFill>
              <a:prstDash val="solid"/>
              <a:miter/>
            </a:ln>
          </p:spPr>
        </p:sp>
      </p:grpSp>
      <p:grpSp>
        <p:nvGrpSpPr>
          <p:cNvPr name="Group 37" id="37"/>
          <p:cNvGrpSpPr/>
          <p:nvPr/>
        </p:nvGrpSpPr>
        <p:grpSpPr>
          <a:xfrm rot="0">
            <a:off x="6926580" y="3113532"/>
            <a:ext cx="685800" cy="109728"/>
            <a:chOff x="0" y="0"/>
            <a:chExt cx="914400" cy="146304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914400" cy="146304"/>
            </a:xfrm>
            <a:custGeom>
              <a:avLst/>
              <a:gdLst/>
              <a:ahLst/>
              <a:cxnLst/>
              <a:rect r="r" b="b" t="t" l="l"/>
              <a:pathLst>
                <a:path h="146304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146304"/>
                  </a:lnTo>
                  <a:lnTo>
                    <a:pt x="0" y="146304"/>
                  </a:lnTo>
                  <a:close/>
                </a:path>
              </a:pathLst>
            </a:custGeom>
            <a:solidFill>
              <a:srgbClr val="7A4360"/>
            </a:solidFill>
          </p:spPr>
        </p:sp>
      </p:grpSp>
      <p:grpSp>
        <p:nvGrpSpPr>
          <p:cNvPr name="Group 39" id="39"/>
          <p:cNvGrpSpPr/>
          <p:nvPr/>
        </p:nvGrpSpPr>
        <p:grpSpPr>
          <a:xfrm rot="0">
            <a:off x="6926580" y="3360420"/>
            <a:ext cx="4457700" cy="548640"/>
            <a:chOff x="0" y="0"/>
            <a:chExt cx="5943600" cy="731520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5943600" cy="731520"/>
            </a:xfrm>
            <a:custGeom>
              <a:avLst/>
              <a:gdLst/>
              <a:ahLst/>
              <a:cxnLst/>
              <a:rect r="r" b="b" t="t" l="l"/>
              <a:pathLst>
                <a:path h="731520" w="5943600">
                  <a:moveTo>
                    <a:pt x="0" y="0"/>
                  </a:moveTo>
                  <a:lnTo>
                    <a:pt x="5943600" y="0"/>
                  </a:lnTo>
                  <a:lnTo>
                    <a:pt x="59436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8315" r="0" b="-108315"/>
              </a:stretch>
            </a:blipFill>
          </p:spPr>
        </p:sp>
        <p:sp>
          <p:nvSpPr>
            <p:cNvPr name="TextBox 41" id="41"/>
            <p:cNvSpPr txBox="true"/>
            <p:nvPr/>
          </p:nvSpPr>
          <p:spPr>
            <a:xfrm>
              <a:off x="0" y="-19050"/>
              <a:ext cx="5943600" cy="7505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00"/>
                </a:lnSpc>
              </a:pPr>
              <a:r>
                <a:rPr lang="en-US" sz="2250" b="true">
                  <a:solidFill>
                    <a:srgbClr val="1F243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Limitations</a:t>
              </a:r>
            </a:p>
          </p:txBody>
        </p:sp>
      </p:grpSp>
      <p:grpSp>
        <p:nvGrpSpPr>
          <p:cNvPr name="Group 42" id="42"/>
          <p:cNvGrpSpPr/>
          <p:nvPr/>
        </p:nvGrpSpPr>
        <p:grpSpPr>
          <a:xfrm rot="0">
            <a:off x="6926580" y="4201287"/>
            <a:ext cx="150876" cy="150876"/>
            <a:chOff x="0" y="0"/>
            <a:chExt cx="201168" cy="201168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201168" cy="201168"/>
            </a:xfrm>
            <a:custGeom>
              <a:avLst/>
              <a:gdLst/>
              <a:ahLst/>
              <a:cxnLst/>
              <a:rect r="r" b="b" t="t" l="l"/>
              <a:pathLst>
                <a:path h="201168" w="201168">
                  <a:moveTo>
                    <a:pt x="0" y="100584"/>
                  </a:moveTo>
                  <a:cubicBezTo>
                    <a:pt x="0" y="45085"/>
                    <a:pt x="45085" y="0"/>
                    <a:pt x="100584" y="0"/>
                  </a:cubicBezTo>
                  <a:cubicBezTo>
                    <a:pt x="156083" y="0"/>
                    <a:pt x="201168" y="45085"/>
                    <a:pt x="201168" y="100584"/>
                  </a:cubicBezTo>
                  <a:cubicBezTo>
                    <a:pt x="201168" y="156083"/>
                    <a:pt x="156083" y="201168"/>
                    <a:pt x="100584" y="201168"/>
                  </a:cubicBezTo>
                  <a:cubicBezTo>
                    <a:pt x="45085" y="201168"/>
                    <a:pt x="0" y="156083"/>
                    <a:pt x="0" y="100584"/>
                  </a:cubicBezTo>
                  <a:close/>
                </a:path>
              </a:pathLst>
            </a:custGeom>
            <a:solidFill>
              <a:srgbClr val="7A4360"/>
            </a:solidFill>
          </p:spPr>
        </p:sp>
      </p:grpSp>
      <p:grpSp>
        <p:nvGrpSpPr>
          <p:cNvPr name="Group 44" id="44"/>
          <p:cNvGrpSpPr/>
          <p:nvPr/>
        </p:nvGrpSpPr>
        <p:grpSpPr>
          <a:xfrm rot="0">
            <a:off x="7228332" y="4005072"/>
            <a:ext cx="4114800" cy="891540"/>
            <a:chOff x="0" y="0"/>
            <a:chExt cx="5486400" cy="1188720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5486400" cy="1188720"/>
            </a:xfrm>
            <a:custGeom>
              <a:avLst/>
              <a:gdLst/>
              <a:ahLst/>
              <a:cxnLst/>
              <a:rect r="r" b="b" t="t" l="l"/>
              <a:pathLst>
                <a:path h="1188720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1188720"/>
                  </a:lnTo>
                  <a:lnTo>
                    <a:pt x="0" y="11887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9930" r="0" b="-39930"/>
              </a:stretch>
            </a:blipFill>
          </p:spPr>
        </p:sp>
        <p:sp>
          <p:nvSpPr>
            <p:cNvPr name="TextBox 46" id="46"/>
            <p:cNvSpPr txBox="true"/>
            <p:nvPr/>
          </p:nvSpPr>
          <p:spPr>
            <a:xfrm>
              <a:off x="0" y="-57150"/>
              <a:ext cx="5486400" cy="12458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035"/>
                </a:lnSpc>
              </a:pPr>
              <a:r>
                <a:rPr lang="en-US" sz="2199">
                  <a:solidFill>
                    <a:srgbClr val="666B78"/>
                  </a:solidFill>
                  <a:latin typeface="Arial"/>
                  <a:ea typeface="Arial"/>
                  <a:cs typeface="Arial"/>
                  <a:sym typeface="Arial"/>
                </a:rPr>
                <a:t>Rules hand-authored, not clinician-reviewed</a:t>
              </a:r>
            </a:p>
          </p:txBody>
        </p:sp>
      </p:grpSp>
      <p:grpSp>
        <p:nvGrpSpPr>
          <p:cNvPr name="Group 47" id="47"/>
          <p:cNvGrpSpPr/>
          <p:nvPr/>
        </p:nvGrpSpPr>
        <p:grpSpPr>
          <a:xfrm rot="0">
            <a:off x="6926580" y="5390388"/>
            <a:ext cx="150876" cy="150876"/>
            <a:chOff x="0" y="0"/>
            <a:chExt cx="201168" cy="201168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201168" cy="201168"/>
            </a:xfrm>
            <a:custGeom>
              <a:avLst/>
              <a:gdLst/>
              <a:ahLst/>
              <a:cxnLst/>
              <a:rect r="r" b="b" t="t" l="l"/>
              <a:pathLst>
                <a:path h="201168" w="201168">
                  <a:moveTo>
                    <a:pt x="0" y="100584"/>
                  </a:moveTo>
                  <a:cubicBezTo>
                    <a:pt x="0" y="45085"/>
                    <a:pt x="45085" y="0"/>
                    <a:pt x="100584" y="0"/>
                  </a:cubicBezTo>
                  <a:cubicBezTo>
                    <a:pt x="156083" y="0"/>
                    <a:pt x="201168" y="45085"/>
                    <a:pt x="201168" y="100584"/>
                  </a:cubicBezTo>
                  <a:cubicBezTo>
                    <a:pt x="201168" y="156083"/>
                    <a:pt x="156083" y="201168"/>
                    <a:pt x="100584" y="201168"/>
                  </a:cubicBezTo>
                  <a:cubicBezTo>
                    <a:pt x="45085" y="201168"/>
                    <a:pt x="0" y="156083"/>
                    <a:pt x="0" y="100584"/>
                  </a:cubicBezTo>
                  <a:close/>
                </a:path>
              </a:pathLst>
            </a:custGeom>
            <a:solidFill>
              <a:srgbClr val="7A4360"/>
            </a:solidFill>
          </p:spPr>
        </p:sp>
      </p:grpSp>
      <p:grpSp>
        <p:nvGrpSpPr>
          <p:cNvPr name="Group 49" id="49"/>
          <p:cNvGrpSpPr/>
          <p:nvPr/>
        </p:nvGrpSpPr>
        <p:grpSpPr>
          <a:xfrm rot="0">
            <a:off x="7228332" y="5198364"/>
            <a:ext cx="4114800" cy="891540"/>
            <a:chOff x="0" y="0"/>
            <a:chExt cx="5486400" cy="1188720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5486400" cy="1188720"/>
            </a:xfrm>
            <a:custGeom>
              <a:avLst/>
              <a:gdLst/>
              <a:ahLst/>
              <a:cxnLst/>
              <a:rect r="r" b="b" t="t" l="l"/>
              <a:pathLst>
                <a:path h="1188720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1188720"/>
                  </a:lnTo>
                  <a:lnTo>
                    <a:pt x="0" y="11887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9930" r="0" b="-39930"/>
              </a:stretch>
            </a:blipFill>
          </p:spPr>
        </p:sp>
        <p:sp>
          <p:nvSpPr>
            <p:cNvPr name="TextBox 51" id="51"/>
            <p:cNvSpPr txBox="true"/>
            <p:nvPr/>
          </p:nvSpPr>
          <p:spPr>
            <a:xfrm>
              <a:off x="0" y="-57150"/>
              <a:ext cx="5486400" cy="12458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035"/>
                </a:lnSpc>
              </a:pPr>
              <a:r>
                <a:rPr lang="en-US" sz="2199">
                  <a:solidFill>
                    <a:srgbClr val="666B78"/>
                  </a:solidFill>
                  <a:latin typeface="Arial"/>
                  <a:ea typeface="Arial"/>
                  <a:cs typeface="Arial"/>
                  <a:sym typeface="Arial"/>
                </a:rPr>
                <a:t>No lab, imaging or vital-sign data used</a:t>
              </a:r>
            </a:p>
          </p:txBody>
        </p:sp>
      </p:grpSp>
      <p:grpSp>
        <p:nvGrpSpPr>
          <p:cNvPr name="Group 52" id="52"/>
          <p:cNvGrpSpPr/>
          <p:nvPr/>
        </p:nvGrpSpPr>
        <p:grpSpPr>
          <a:xfrm rot="0">
            <a:off x="6926580" y="6583680"/>
            <a:ext cx="150876" cy="150876"/>
            <a:chOff x="0" y="0"/>
            <a:chExt cx="201168" cy="201168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201168" cy="201168"/>
            </a:xfrm>
            <a:custGeom>
              <a:avLst/>
              <a:gdLst/>
              <a:ahLst/>
              <a:cxnLst/>
              <a:rect r="r" b="b" t="t" l="l"/>
              <a:pathLst>
                <a:path h="201168" w="201168">
                  <a:moveTo>
                    <a:pt x="0" y="100584"/>
                  </a:moveTo>
                  <a:cubicBezTo>
                    <a:pt x="0" y="45085"/>
                    <a:pt x="45085" y="0"/>
                    <a:pt x="100584" y="0"/>
                  </a:cubicBezTo>
                  <a:cubicBezTo>
                    <a:pt x="156083" y="0"/>
                    <a:pt x="201168" y="45085"/>
                    <a:pt x="201168" y="100584"/>
                  </a:cubicBezTo>
                  <a:cubicBezTo>
                    <a:pt x="201168" y="156083"/>
                    <a:pt x="156083" y="201168"/>
                    <a:pt x="100584" y="201168"/>
                  </a:cubicBezTo>
                  <a:cubicBezTo>
                    <a:pt x="45085" y="201168"/>
                    <a:pt x="0" y="156083"/>
                    <a:pt x="0" y="100584"/>
                  </a:cubicBezTo>
                  <a:close/>
                </a:path>
              </a:pathLst>
            </a:custGeom>
            <a:solidFill>
              <a:srgbClr val="7A4360"/>
            </a:solidFill>
          </p:spPr>
        </p:sp>
      </p:grpSp>
      <p:grpSp>
        <p:nvGrpSpPr>
          <p:cNvPr name="Group 54" id="54"/>
          <p:cNvGrpSpPr/>
          <p:nvPr/>
        </p:nvGrpSpPr>
        <p:grpSpPr>
          <a:xfrm rot="0">
            <a:off x="7228332" y="6391656"/>
            <a:ext cx="4114800" cy="891540"/>
            <a:chOff x="0" y="0"/>
            <a:chExt cx="5486400" cy="1188720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5486400" cy="1188720"/>
            </a:xfrm>
            <a:custGeom>
              <a:avLst/>
              <a:gdLst/>
              <a:ahLst/>
              <a:cxnLst/>
              <a:rect r="r" b="b" t="t" l="l"/>
              <a:pathLst>
                <a:path h="1188720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1188720"/>
                  </a:lnTo>
                  <a:lnTo>
                    <a:pt x="0" y="11887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9930" r="0" b="-39930"/>
              </a:stretch>
            </a:blipFill>
          </p:spPr>
        </p:sp>
        <p:sp>
          <p:nvSpPr>
            <p:cNvPr name="TextBox 56" id="56"/>
            <p:cNvSpPr txBox="true"/>
            <p:nvPr/>
          </p:nvSpPr>
          <p:spPr>
            <a:xfrm>
              <a:off x="0" y="-57150"/>
              <a:ext cx="5486400" cy="12458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035"/>
                </a:lnSpc>
              </a:pPr>
              <a:r>
                <a:rPr lang="en-US" sz="2199">
                  <a:solidFill>
                    <a:srgbClr val="666B78"/>
                  </a:solidFill>
                  <a:latin typeface="Arial"/>
                  <a:ea typeface="Arial"/>
                  <a:cs typeface="Arial"/>
                  <a:sym typeface="Arial"/>
                </a:rPr>
                <a:t>Only one disease reported per consultation</a:t>
              </a:r>
            </a:p>
          </p:txBody>
        </p:sp>
      </p:grpSp>
      <p:grpSp>
        <p:nvGrpSpPr>
          <p:cNvPr name="Group 57" id="57"/>
          <p:cNvGrpSpPr/>
          <p:nvPr/>
        </p:nvGrpSpPr>
        <p:grpSpPr>
          <a:xfrm rot="0">
            <a:off x="6926580" y="7955280"/>
            <a:ext cx="150876" cy="150876"/>
            <a:chOff x="0" y="0"/>
            <a:chExt cx="201168" cy="201168"/>
          </a:xfrm>
        </p:grpSpPr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201168" cy="201168"/>
            </a:xfrm>
            <a:custGeom>
              <a:avLst/>
              <a:gdLst/>
              <a:ahLst/>
              <a:cxnLst/>
              <a:rect r="r" b="b" t="t" l="l"/>
              <a:pathLst>
                <a:path h="201168" w="201168">
                  <a:moveTo>
                    <a:pt x="0" y="100584"/>
                  </a:moveTo>
                  <a:cubicBezTo>
                    <a:pt x="0" y="45085"/>
                    <a:pt x="45085" y="0"/>
                    <a:pt x="100584" y="0"/>
                  </a:cubicBezTo>
                  <a:cubicBezTo>
                    <a:pt x="156083" y="0"/>
                    <a:pt x="201168" y="45085"/>
                    <a:pt x="201168" y="100584"/>
                  </a:cubicBezTo>
                  <a:cubicBezTo>
                    <a:pt x="201168" y="156083"/>
                    <a:pt x="156083" y="201168"/>
                    <a:pt x="100584" y="201168"/>
                  </a:cubicBezTo>
                  <a:cubicBezTo>
                    <a:pt x="45085" y="201168"/>
                    <a:pt x="0" y="156083"/>
                    <a:pt x="0" y="100584"/>
                  </a:cubicBezTo>
                  <a:close/>
                </a:path>
              </a:pathLst>
            </a:custGeom>
            <a:solidFill>
              <a:srgbClr val="7A4360"/>
            </a:solidFill>
          </p:spPr>
        </p:sp>
      </p:grpSp>
      <p:grpSp>
        <p:nvGrpSpPr>
          <p:cNvPr name="Group 59" id="59"/>
          <p:cNvGrpSpPr/>
          <p:nvPr/>
        </p:nvGrpSpPr>
        <p:grpSpPr>
          <a:xfrm rot="0">
            <a:off x="7228332" y="7584948"/>
            <a:ext cx="4114800" cy="891540"/>
            <a:chOff x="0" y="0"/>
            <a:chExt cx="5486400" cy="1188720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5486400" cy="1188720"/>
            </a:xfrm>
            <a:custGeom>
              <a:avLst/>
              <a:gdLst/>
              <a:ahLst/>
              <a:cxnLst/>
              <a:rect r="r" b="b" t="t" l="l"/>
              <a:pathLst>
                <a:path h="1188720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1188720"/>
                  </a:lnTo>
                  <a:lnTo>
                    <a:pt x="0" y="11887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9930" r="0" b="-39930"/>
              </a:stretch>
            </a:blipFill>
          </p:spPr>
        </p:sp>
        <p:sp>
          <p:nvSpPr>
            <p:cNvPr name="TextBox 61" id="61"/>
            <p:cNvSpPr txBox="true"/>
            <p:nvPr/>
          </p:nvSpPr>
          <p:spPr>
            <a:xfrm>
              <a:off x="0" y="-57150"/>
              <a:ext cx="5486400" cy="12458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035"/>
                </a:lnSpc>
              </a:pPr>
              <a:r>
                <a:rPr lang="en-US" sz="2199">
                  <a:solidFill>
                    <a:srgbClr val="666B78"/>
                  </a:solidFill>
                  <a:latin typeface="Arial"/>
                  <a:ea typeface="Arial"/>
                  <a:cs typeface="Arial"/>
                  <a:sym typeface="Arial"/>
                </a:rPr>
                <a:t>Sessions held in memory only</a:t>
              </a:r>
            </a:p>
          </p:txBody>
        </p:sp>
      </p:grpSp>
      <p:grpSp>
        <p:nvGrpSpPr>
          <p:cNvPr name="Group 62" id="62"/>
          <p:cNvGrpSpPr/>
          <p:nvPr/>
        </p:nvGrpSpPr>
        <p:grpSpPr>
          <a:xfrm rot="0">
            <a:off x="12197715" y="2665095"/>
            <a:ext cx="5299710" cy="6465570"/>
            <a:chOff x="0" y="0"/>
            <a:chExt cx="7066280" cy="8620760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7066280" cy="8620760"/>
            </a:xfrm>
            <a:custGeom>
              <a:avLst/>
              <a:gdLst/>
              <a:ahLst/>
              <a:cxnLst/>
              <a:rect r="r" b="b" t="t" l="l"/>
              <a:pathLst>
                <a:path h="8620760" w="7066280">
                  <a:moveTo>
                    <a:pt x="0" y="146812"/>
                  </a:moveTo>
                  <a:cubicBezTo>
                    <a:pt x="0" y="65786"/>
                    <a:pt x="65786" y="0"/>
                    <a:pt x="146812" y="0"/>
                  </a:cubicBezTo>
                  <a:lnTo>
                    <a:pt x="6919468" y="0"/>
                  </a:lnTo>
                  <a:cubicBezTo>
                    <a:pt x="7000622" y="0"/>
                    <a:pt x="7066280" y="65786"/>
                    <a:pt x="7066280" y="146812"/>
                  </a:cubicBezTo>
                  <a:lnTo>
                    <a:pt x="7066280" y="8473948"/>
                  </a:lnTo>
                  <a:cubicBezTo>
                    <a:pt x="7066280" y="8555101"/>
                    <a:pt x="7000494" y="8620760"/>
                    <a:pt x="6919468" y="8620760"/>
                  </a:cubicBezTo>
                  <a:lnTo>
                    <a:pt x="146812" y="8620760"/>
                  </a:lnTo>
                  <a:cubicBezTo>
                    <a:pt x="65786" y="8620760"/>
                    <a:pt x="0" y="8554974"/>
                    <a:pt x="0" y="8473948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E6E1D3"/>
              </a:solidFill>
              <a:prstDash val="solid"/>
              <a:miter/>
            </a:ln>
          </p:spPr>
        </p:sp>
      </p:grpSp>
      <p:grpSp>
        <p:nvGrpSpPr>
          <p:cNvPr name="Group 64" id="64"/>
          <p:cNvGrpSpPr/>
          <p:nvPr/>
        </p:nvGrpSpPr>
        <p:grpSpPr>
          <a:xfrm rot="0">
            <a:off x="12618720" y="3113532"/>
            <a:ext cx="685800" cy="109728"/>
            <a:chOff x="0" y="0"/>
            <a:chExt cx="914400" cy="146304"/>
          </a:xfrm>
        </p:grpSpPr>
        <p:sp>
          <p:nvSpPr>
            <p:cNvPr name="Freeform 65" id="65"/>
            <p:cNvSpPr/>
            <p:nvPr/>
          </p:nvSpPr>
          <p:spPr>
            <a:xfrm flipH="false" flipV="false" rot="0">
              <a:off x="0" y="0"/>
              <a:ext cx="914400" cy="146304"/>
            </a:xfrm>
            <a:custGeom>
              <a:avLst/>
              <a:gdLst/>
              <a:ahLst/>
              <a:cxnLst/>
              <a:rect r="r" b="b" t="t" l="l"/>
              <a:pathLst>
                <a:path h="146304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146304"/>
                  </a:lnTo>
                  <a:lnTo>
                    <a:pt x="0" y="146304"/>
                  </a:lnTo>
                  <a:close/>
                </a:path>
              </a:pathLst>
            </a:custGeom>
            <a:solidFill>
              <a:srgbClr val="2B2F3D"/>
            </a:solidFill>
          </p:spPr>
        </p:sp>
      </p:grpSp>
      <p:grpSp>
        <p:nvGrpSpPr>
          <p:cNvPr name="Group 66" id="66"/>
          <p:cNvGrpSpPr/>
          <p:nvPr/>
        </p:nvGrpSpPr>
        <p:grpSpPr>
          <a:xfrm rot="0">
            <a:off x="12618720" y="3360420"/>
            <a:ext cx="4457700" cy="548640"/>
            <a:chOff x="0" y="0"/>
            <a:chExt cx="5943600" cy="731520"/>
          </a:xfrm>
        </p:grpSpPr>
        <p:sp>
          <p:nvSpPr>
            <p:cNvPr name="Freeform 67" id="67"/>
            <p:cNvSpPr/>
            <p:nvPr/>
          </p:nvSpPr>
          <p:spPr>
            <a:xfrm flipH="false" flipV="false" rot="0">
              <a:off x="0" y="0"/>
              <a:ext cx="5943600" cy="731520"/>
            </a:xfrm>
            <a:custGeom>
              <a:avLst/>
              <a:gdLst/>
              <a:ahLst/>
              <a:cxnLst/>
              <a:rect r="r" b="b" t="t" l="l"/>
              <a:pathLst>
                <a:path h="731520" w="5943600">
                  <a:moveTo>
                    <a:pt x="0" y="0"/>
                  </a:moveTo>
                  <a:lnTo>
                    <a:pt x="5943600" y="0"/>
                  </a:lnTo>
                  <a:lnTo>
                    <a:pt x="59436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8315" r="0" b="-108315"/>
              </a:stretch>
            </a:blipFill>
          </p:spPr>
        </p:sp>
        <p:sp>
          <p:nvSpPr>
            <p:cNvPr name="TextBox 68" id="68"/>
            <p:cNvSpPr txBox="true"/>
            <p:nvPr/>
          </p:nvSpPr>
          <p:spPr>
            <a:xfrm>
              <a:off x="0" y="-19050"/>
              <a:ext cx="5943600" cy="7505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00"/>
                </a:lnSpc>
              </a:pPr>
              <a:r>
                <a:rPr lang="en-US" sz="2250" b="true">
                  <a:solidFill>
                    <a:srgbClr val="1F243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Future Work</a:t>
              </a:r>
            </a:p>
          </p:txBody>
        </p:sp>
      </p:grpSp>
      <p:grpSp>
        <p:nvGrpSpPr>
          <p:cNvPr name="Group 69" id="69"/>
          <p:cNvGrpSpPr/>
          <p:nvPr/>
        </p:nvGrpSpPr>
        <p:grpSpPr>
          <a:xfrm rot="0">
            <a:off x="12618720" y="4197096"/>
            <a:ext cx="150876" cy="150876"/>
            <a:chOff x="0" y="0"/>
            <a:chExt cx="201168" cy="201168"/>
          </a:xfrm>
        </p:grpSpPr>
        <p:sp>
          <p:nvSpPr>
            <p:cNvPr name="Freeform 70" id="70"/>
            <p:cNvSpPr/>
            <p:nvPr/>
          </p:nvSpPr>
          <p:spPr>
            <a:xfrm flipH="false" flipV="false" rot="0">
              <a:off x="0" y="0"/>
              <a:ext cx="201168" cy="201168"/>
            </a:xfrm>
            <a:custGeom>
              <a:avLst/>
              <a:gdLst/>
              <a:ahLst/>
              <a:cxnLst/>
              <a:rect r="r" b="b" t="t" l="l"/>
              <a:pathLst>
                <a:path h="201168" w="201168">
                  <a:moveTo>
                    <a:pt x="0" y="100584"/>
                  </a:moveTo>
                  <a:cubicBezTo>
                    <a:pt x="0" y="45085"/>
                    <a:pt x="45085" y="0"/>
                    <a:pt x="100584" y="0"/>
                  </a:cubicBezTo>
                  <a:cubicBezTo>
                    <a:pt x="156083" y="0"/>
                    <a:pt x="201168" y="45085"/>
                    <a:pt x="201168" y="100584"/>
                  </a:cubicBezTo>
                  <a:cubicBezTo>
                    <a:pt x="201168" y="156083"/>
                    <a:pt x="156083" y="201168"/>
                    <a:pt x="100584" y="201168"/>
                  </a:cubicBezTo>
                  <a:cubicBezTo>
                    <a:pt x="45085" y="201168"/>
                    <a:pt x="0" y="156083"/>
                    <a:pt x="0" y="100584"/>
                  </a:cubicBezTo>
                  <a:close/>
                </a:path>
              </a:pathLst>
            </a:custGeom>
            <a:solidFill>
              <a:srgbClr val="2B2F3D"/>
            </a:solidFill>
          </p:spPr>
        </p:sp>
      </p:grpSp>
      <p:grpSp>
        <p:nvGrpSpPr>
          <p:cNvPr name="Group 71" id="71"/>
          <p:cNvGrpSpPr/>
          <p:nvPr/>
        </p:nvGrpSpPr>
        <p:grpSpPr>
          <a:xfrm rot="0">
            <a:off x="12920472" y="4005072"/>
            <a:ext cx="4114800" cy="891540"/>
            <a:chOff x="0" y="0"/>
            <a:chExt cx="5486400" cy="1188720"/>
          </a:xfrm>
        </p:grpSpPr>
        <p:sp>
          <p:nvSpPr>
            <p:cNvPr name="Freeform 72" id="72"/>
            <p:cNvSpPr/>
            <p:nvPr/>
          </p:nvSpPr>
          <p:spPr>
            <a:xfrm flipH="false" flipV="false" rot="0">
              <a:off x="0" y="0"/>
              <a:ext cx="5486400" cy="1188720"/>
            </a:xfrm>
            <a:custGeom>
              <a:avLst/>
              <a:gdLst/>
              <a:ahLst/>
              <a:cxnLst/>
              <a:rect r="r" b="b" t="t" l="l"/>
              <a:pathLst>
                <a:path h="1188720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1188720"/>
                  </a:lnTo>
                  <a:lnTo>
                    <a:pt x="0" y="11887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9930" r="0" b="-39930"/>
              </a:stretch>
            </a:blipFill>
          </p:spPr>
        </p:sp>
        <p:sp>
          <p:nvSpPr>
            <p:cNvPr name="TextBox 73" id="73"/>
            <p:cNvSpPr txBox="true"/>
            <p:nvPr/>
          </p:nvSpPr>
          <p:spPr>
            <a:xfrm>
              <a:off x="0" y="-57150"/>
              <a:ext cx="5486400" cy="12458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035"/>
                </a:lnSpc>
              </a:pPr>
              <a:r>
                <a:rPr lang="en-US" sz="2199">
                  <a:solidFill>
                    <a:srgbClr val="666B78"/>
                  </a:solidFill>
                  <a:latin typeface="Arial"/>
                  <a:ea typeface="Arial"/>
                  <a:cs typeface="Arial"/>
                  <a:sym typeface="Arial"/>
                </a:rPr>
                <a:t>Move rules into a declarative JSON/YAML file</a:t>
              </a:r>
            </a:p>
          </p:txBody>
        </p:sp>
      </p:grpSp>
      <p:grpSp>
        <p:nvGrpSpPr>
          <p:cNvPr name="Group 74" id="74"/>
          <p:cNvGrpSpPr/>
          <p:nvPr/>
        </p:nvGrpSpPr>
        <p:grpSpPr>
          <a:xfrm rot="0">
            <a:off x="12618720" y="5390388"/>
            <a:ext cx="150876" cy="150876"/>
            <a:chOff x="0" y="0"/>
            <a:chExt cx="201168" cy="201168"/>
          </a:xfrm>
        </p:grpSpPr>
        <p:sp>
          <p:nvSpPr>
            <p:cNvPr name="Freeform 75" id="75"/>
            <p:cNvSpPr/>
            <p:nvPr/>
          </p:nvSpPr>
          <p:spPr>
            <a:xfrm flipH="false" flipV="false" rot="0">
              <a:off x="0" y="0"/>
              <a:ext cx="201168" cy="201168"/>
            </a:xfrm>
            <a:custGeom>
              <a:avLst/>
              <a:gdLst/>
              <a:ahLst/>
              <a:cxnLst/>
              <a:rect r="r" b="b" t="t" l="l"/>
              <a:pathLst>
                <a:path h="201168" w="201168">
                  <a:moveTo>
                    <a:pt x="0" y="100584"/>
                  </a:moveTo>
                  <a:cubicBezTo>
                    <a:pt x="0" y="45085"/>
                    <a:pt x="45085" y="0"/>
                    <a:pt x="100584" y="0"/>
                  </a:cubicBezTo>
                  <a:cubicBezTo>
                    <a:pt x="156083" y="0"/>
                    <a:pt x="201168" y="45085"/>
                    <a:pt x="201168" y="100584"/>
                  </a:cubicBezTo>
                  <a:cubicBezTo>
                    <a:pt x="201168" y="156083"/>
                    <a:pt x="156083" y="201168"/>
                    <a:pt x="100584" y="201168"/>
                  </a:cubicBezTo>
                  <a:cubicBezTo>
                    <a:pt x="45085" y="201168"/>
                    <a:pt x="0" y="156083"/>
                    <a:pt x="0" y="100584"/>
                  </a:cubicBezTo>
                  <a:close/>
                </a:path>
              </a:pathLst>
            </a:custGeom>
            <a:solidFill>
              <a:srgbClr val="2B2F3D"/>
            </a:solidFill>
          </p:spPr>
        </p:sp>
      </p:grpSp>
      <p:grpSp>
        <p:nvGrpSpPr>
          <p:cNvPr name="Group 76" id="76"/>
          <p:cNvGrpSpPr/>
          <p:nvPr/>
        </p:nvGrpSpPr>
        <p:grpSpPr>
          <a:xfrm rot="0">
            <a:off x="12920472" y="5198364"/>
            <a:ext cx="4114800" cy="891540"/>
            <a:chOff x="0" y="0"/>
            <a:chExt cx="5486400" cy="1188720"/>
          </a:xfrm>
        </p:grpSpPr>
        <p:sp>
          <p:nvSpPr>
            <p:cNvPr name="Freeform 77" id="77"/>
            <p:cNvSpPr/>
            <p:nvPr/>
          </p:nvSpPr>
          <p:spPr>
            <a:xfrm flipH="false" flipV="false" rot="0">
              <a:off x="0" y="0"/>
              <a:ext cx="5486400" cy="1188720"/>
            </a:xfrm>
            <a:custGeom>
              <a:avLst/>
              <a:gdLst/>
              <a:ahLst/>
              <a:cxnLst/>
              <a:rect r="r" b="b" t="t" l="l"/>
              <a:pathLst>
                <a:path h="1188720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1188720"/>
                  </a:lnTo>
                  <a:lnTo>
                    <a:pt x="0" y="11887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9930" r="0" b="-39930"/>
              </a:stretch>
            </a:blipFill>
          </p:spPr>
        </p:sp>
        <p:sp>
          <p:nvSpPr>
            <p:cNvPr name="TextBox 78" id="78"/>
            <p:cNvSpPr txBox="true"/>
            <p:nvPr/>
          </p:nvSpPr>
          <p:spPr>
            <a:xfrm>
              <a:off x="0" y="-57150"/>
              <a:ext cx="5486400" cy="12458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035"/>
                </a:lnSpc>
              </a:pPr>
              <a:r>
                <a:rPr lang="en-US" sz="2199">
                  <a:solidFill>
                    <a:srgbClr val="666B78"/>
                  </a:solidFill>
                  <a:latin typeface="Arial"/>
                  <a:ea typeface="Arial"/>
                  <a:cs typeface="Arial"/>
                  <a:sym typeface="Arial"/>
                </a:rPr>
                <a:t>Add red-flag detection for urgent symptoms</a:t>
              </a:r>
            </a:p>
          </p:txBody>
        </p:sp>
      </p:grpSp>
      <p:grpSp>
        <p:nvGrpSpPr>
          <p:cNvPr name="Group 79" id="79"/>
          <p:cNvGrpSpPr/>
          <p:nvPr/>
        </p:nvGrpSpPr>
        <p:grpSpPr>
          <a:xfrm rot="0">
            <a:off x="12618720" y="6583680"/>
            <a:ext cx="150876" cy="150876"/>
            <a:chOff x="0" y="0"/>
            <a:chExt cx="201168" cy="201168"/>
          </a:xfrm>
        </p:grpSpPr>
        <p:sp>
          <p:nvSpPr>
            <p:cNvPr name="Freeform 80" id="80"/>
            <p:cNvSpPr/>
            <p:nvPr/>
          </p:nvSpPr>
          <p:spPr>
            <a:xfrm flipH="false" flipV="false" rot="0">
              <a:off x="0" y="0"/>
              <a:ext cx="201168" cy="201168"/>
            </a:xfrm>
            <a:custGeom>
              <a:avLst/>
              <a:gdLst/>
              <a:ahLst/>
              <a:cxnLst/>
              <a:rect r="r" b="b" t="t" l="l"/>
              <a:pathLst>
                <a:path h="201168" w="201168">
                  <a:moveTo>
                    <a:pt x="0" y="100584"/>
                  </a:moveTo>
                  <a:cubicBezTo>
                    <a:pt x="0" y="45085"/>
                    <a:pt x="45085" y="0"/>
                    <a:pt x="100584" y="0"/>
                  </a:cubicBezTo>
                  <a:cubicBezTo>
                    <a:pt x="156083" y="0"/>
                    <a:pt x="201168" y="45085"/>
                    <a:pt x="201168" y="100584"/>
                  </a:cubicBezTo>
                  <a:cubicBezTo>
                    <a:pt x="201168" y="156083"/>
                    <a:pt x="156083" y="201168"/>
                    <a:pt x="100584" y="201168"/>
                  </a:cubicBezTo>
                  <a:cubicBezTo>
                    <a:pt x="45085" y="201168"/>
                    <a:pt x="0" y="156083"/>
                    <a:pt x="0" y="100584"/>
                  </a:cubicBezTo>
                  <a:close/>
                </a:path>
              </a:pathLst>
            </a:custGeom>
            <a:solidFill>
              <a:srgbClr val="2B2F3D"/>
            </a:solidFill>
          </p:spPr>
        </p:sp>
      </p:grpSp>
      <p:grpSp>
        <p:nvGrpSpPr>
          <p:cNvPr name="Group 81" id="81"/>
          <p:cNvGrpSpPr/>
          <p:nvPr/>
        </p:nvGrpSpPr>
        <p:grpSpPr>
          <a:xfrm rot="0">
            <a:off x="12920472" y="6391656"/>
            <a:ext cx="4114800" cy="891540"/>
            <a:chOff x="0" y="0"/>
            <a:chExt cx="5486400" cy="1188720"/>
          </a:xfrm>
        </p:grpSpPr>
        <p:sp>
          <p:nvSpPr>
            <p:cNvPr name="Freeform 82" id="82"/>
            <p:cNvSpPr/>
            <p:nvPr/>
          </p:nvSpPr>
          <p:spPr>
            <a:xfrm flipH="false" flipV="false" rot="0">
              <a:off x="0" y="0"/>
              <a:ext cx="5486400" cy="1188720"/>
            </a:xfrm>
            <a:custGeom>
              <a:avLst/>
              <a:gdLst/>
              <a:ahLst/>
              <a:cxnLst/>
              <a:rect r="r" b="b" t="t" l="l"/>
              <a:pathLst>
                <a:path h="1188720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1188720"/>
                  </a:lnTo>
                  <a:lnTo>
                    <a:pt x="0" y="11887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9930" r="0" b="-39930"/>
              </a:stretch>
            </a:blipFill>
          </p:spPr>
        </p:sp>
        <p:sp>
          <p:nvSpPr>
            <p:cNvPr name="TextBox 83" id="83"/>
            <p:cNvSpPr txBox="true"/>
            <p:nvPr/>
          </p:nvSpPr>
          <p:spPr>
            <a:xfrm>
              <a:off x="0" y="-57150"/>
              <a:ext cx="5486400" cy="12458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035"/>
                </a:lnSpc>
              </a:pPr>
              <a:r>
                <a:rPr lang="en-US" sz="2199">
                  <a:solidFill>
                    <a:srgbClr val="666B78"/>
                  </a:solidFill>
                  <a:latin typeface="Arial"/>
                  <a:ea typeface="Arial"/>
                  <a:cs typeface="Arial"/>
                  <a:sym typeface="Arial"/>
                </a:rPr>
                <a:t>Rank multiple diseases with a probabilistic score</a:t>
              </a:r>
            </a:p>
          </p:txBody>
        </p:sp>
      </p:grpSp>
      <p:grpSp>
        <p:nvGrpSpPr>
          <p:cNvPr name="Group 84" id="84"/>
          <p:cNvGrpSpPr/>
          <p:nvPr/>
        </p:nvGrpSpPr>
        <p:grpSpPr>
          <a:xfrm rot="0">
            <a:off x="12618720" y="7776972"/>
            <a:ext cx="150876" cy="150876"/>
            <a:chOff x="0" y="0"/>
            <a:chExt cx="201168" cy="201168"/>
          </a:xfrm>
        </p:grpSpPr>
        <p:sp>
          <p:nvSpPr>
            <p:cNvPr name="Freeform 85" id="85"/>
            <p:cNvSpPr/>
            <p:nvPr/>
          </p:nvSpPr>
          <p:spPr>
            <a:xfrm flipH="false" flipV="false" rot="0">
              <a:off x="0" y="0"/>
              <a:ext cx="201168" cy="201168"/>
            </a:xfrm>
            <a:custGeom>
              <a:avLst/>
              <a:gdLst/>
              <a:ahLst/>
              <a:cxnLst/>
              <a:rect r="r" b="b" t="t" l="l"/>
              <a:pathLst>
                <a:path h="201168" w="201168">
                  <a:moveTo>
                    <a:pt x="0" y="100584"/>
                  </a:moveTo>
                  <a:cubicBezTo>
                    <a:pt x="0" y="45085"/>
                    <a:pt x="45085" y="0"/>
                    <a:pt x="100584" y="0"/>
                  </a:cubicBezTo>
                  <a:cubicBezTo>
                    <a:pt x="156083" y="0"/>
                    <a:pt x="201168" y="45085"/>
                    <a:pt x="201168" y="100584"/>
                  </a:cubicBezTo>
                  <a:cubicBezTo>
                    <a:pt x="201168" y="156083"/>
                    <a:pt x="156083" y="201168"/>
                    <a:pt x="100584" y="201168"/>
                  </a:cubicBezTo>
                  <a:cubicBezTo>
                    <a:pt x="45085" y="201168"/>
                    <a:pt x="0" y="156083"/>
                    <a:pt x="0" y="100584"/>
                  </a:cubicBezTo>
                  <a:close/>
                </a:path>
              </a:pathLst>
            </a:custGeom>
            <a:solidFill>
              <a:srgbClr val="2B2F3D"/>
            </a:solidFill>
          </p:spPr>
        </p:sp>
      </p:grpSp>
      <p:grpSp>
        <p:nvGrpSpPr>
          <p:cNvPr name="Group 86" id="86"/>
          <p:cNvGrpSpPr/>
          <p:nvPr/>
        </p:nvGrpSpPr>
        <p:grpSpPr>
          <a:xfrm rot="0">
            <a:off x="12920472" y="7584948"/>
            <a:ext cx="4114800" cy="891540"/>
            <a:chOff x="0" y="0"/>
            <a:chExt cx="5486400" cy="1188720"/>
          </a:xfrm>
        </p:grpSpPr>
        <p:sp>
          <p:nvSpPr>
            <p:cNvPr name="Freeform 87" id="87"/>
            <p:cNvSpPr/>
            <p:nvPr/>
          </p:nvSpPr>
          <p:spPr>
            <a:xfrm flipH="false" flipV="false" rot="0">
              <a:off x="0" y="0"/>
              <a:ext cx="5486400" cy="1188720"/>
            </a:xfrm>
            <a:custGeom>
              <a:avLst/>
              <a:gdLst/>
              <a:ahLst/>
              <a:cxnLst/>
              <a:rect r="r" b="b" t="t" l="l"/>
              <a:pathLst>
                <a:path h="1188720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1188720"/>
                  </a:lnTo>
                  <a:lnTo>
                    <a:pt x="0" y="11887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9930" r="0" b="-39930"/>
              </a:stretch>
            </a:blipFill>
          </p:spPr>
        </p:sp>
        <p:sp>
          <p:nvSpPr>
            <p:cNvPr name="TextBox 88" id="88"/>
            <p:cNvSpPr txBox="true"/>
            <p:nvPr/>
          </p:nvSpPr>
          <p:spPr>
            <a:xfrm>
              <a:off x="0" y="-57150"/>
              <a:ext cx="5486400" cy="12458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035"/>
                </a:lnSpc>
              </a:pPr>
              <a:r>
                <a:rPr lang="en-US" sz="2199">
                  <a:solidFill>
                    <a:srgbClr val="666B78"/>
                  </a:solidFill>
                  <a:latin typeface="Arial"/>
                  <a:ea typeface="Arial"/>
                  <a:cs typeface="Arial"/>
                  <a:sym typeface="Arial"/>
                </a:rPr>
                <a:t>Add multilingual support, starting with Bangla</a:t>
              </a:r>
            </a:p>
          </p:txBody>
        </p:sp>
      </p:grpSp>
      <p:grpSp>
        <p:nvGrpSpPr>
          <p:cNvPr name="Group 89" id="89"/>
          <p:cNvGrpSpPr/>
          <p:nvPr/>
        </p:nvGrpSpPr>
        <p:grpSpPr>
          <a:xfrm rot="0">
            <a:off x="685800" y="9848088"/>
            <a:ext cx="9601200" cy="384048"/>
            <a:chOff x="0" y="0"/>
            <a:chExt cx="12801600" cy="512064"/>
          </a:xfrm>
        </p:grpSpPr>
        <p:sp>
          <p:nvSpPr>
            <p:cNvPr name="Freeform 90" id="90"/>
            <p:cNvSpPr/>
            <p:nvPr/>
          </p:nvSpPr>
          <p:spPr>
            <a:xfrm flipH="false" flipV="false" rot="0">
              <a:off x="0" y="0"/>
              <a:ext cx="12801600" cy="512064"/>
            </a:xfrm>
            <a:custGeom>
              <a:avLst/>
              <a:gdLst/>
              <a:ahLst/>
              <a:cxnLst/>
              <a:rect r="r" b="b" t="t" l="l"/>
              <a:pathLst>
                <a:path h="512064" w="12801600">
                  <a:moveTo>
                    <a:pt x="0" y="0"/>
                  </a:moveTo>
                  <a:lnTo>
                    <a:pt x="12801600" y="0"/>
                  </a:lnTo>
                  <a:lnTo>
                    <a:pt x="12801600" y="512064"/>
                  </a:lnTo>
                  <a:lnTo>
                    <a:pt x="0" y="5120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37125" r="0" b="-437125"/>
              </a:stretch>
            </a:blipFill>
          </p:spPr>
        </p:sp>
        <p:sp>
          <p:nvSpPr>
            <p:cNvPr name="TextBox 91" id="91"/>
            <p:cNvSpPr txBox="true"/>
            <p:nvPr/>
          </p:nvSpPr>
          <p:spPr>
            <a:xfrm>
              <a:off x="0" y="-19050"/>
              <a:ext cx="12801600" cy="53111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439"/>
                </a:lnSpc>
              </a:pPr>
              <a:r>
                <a:rPr lang="en-US" sz="1200">
                  <a:solidFill>
                    <a:srgbClr val="666B78"/>
                  </a:solidFill>
                  <a:latin typeface="Arial"/>
                  <a:ea typeface="Arial"/>
                  <a:cs typeface="Arial"/>
                  <a:sym typeface="Arial"/>
                </a:rPr>
                <a:t>Medical Diagnosis Expert System  |  CSE440</a:t>
              </a:r>
            </a:p>
          </p:txBody>
        </p:sp>
      </p:grpSp>
      <p:grpSp>
        <p:nvGrpSpPr>
          <p:cNvPr name="Group 92" id="92"/>
          <p:cNvGrpSpPr/>
          <p:nvPr/>
        </p:nvGrpSpPr>
        <p:grpSpPr>
          <a:xfrm rot="0">
            <a:off x="17145000" y="9848088"/>
            <a:ext cx="548640" cy="384048"/>
            <a:chOff x="0" y="0"/>
            <a:chExt cx="731520" cy="512064"/>
          </a:xfrm>
        </p:grpSpPr>
        <p:sp>
          <p:nvSpPr>
            <p:cNvPr name="Freeform 93" id="93"/>
            <p:cNvSpPr/>
            <p:nvPr/>
          </p:nvSpPr>
          <p:spPr>
            <a:xfrm flipH="false" flipV="false" rot="0">
              <a:off x="0" y="0"/>
              <a:ext cx="731520" cy="512064"/>
            </a:xfrm>
            <a:custGeom>
              <a:avLst/>
              <a:gdLst/>
              <a:ahLst/>
              <a:cxnLst/>
              <a:rect r="r" b="b" t="t" l="l"/>
              <a:pathLst>
                <a:path h="512064" w="731520">
                  <a:moveTo>
                    <a:pt x="0" y="0"/>
                  </a:moveTo>
                  <a:lnTo>
                    <a:pt x="731520" y="0"/>
                  </a:lnTo>
                  <a:lnTo>
                    <a:pt x="731520" y="512064"/>
                  </a:lnTo>
                  <a:lnTo>
                    <a:pt x="0" y="5120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39812" t="0" r="-39812" b="0"/>
              </a:stretch>
            </a:blipFill>
          </p:spPr>
        </p:sp>
        <p:sp>
          <p:nvSpPr>
            <p:cNvPr name="TextBox 94" id="94"/>
            <p:cNvSpPr txBox="true"/>
            <p:nvPr/>
          </p:nvSpPr>
          <p:spPr>
            <a:xfrm>
              <a:off x="0" y="-19050"/>
              <a:ext cx="731520" cy="53111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439"/>
                </a:lnSpc>
              </a:pPr>
              <a:r>
                <a:rPr lang="en-US" sz="1200">
                  <a:solidFill>
                    <a:srgbClr val="666B78"/>
                  </a:solidFill>
                  <a:latin typeface="Arial"/>
                  <a:ea typeface="Arial"/>
                  <a:cs typeface="Arial"/>
                  <a:sym typeface="Arial"/>
                </a:rPr>
                <a:t>14</a:t>
              </a:r>
            </a:p>
          </p:txBody>
        </p:sp>
      </p:grp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6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22960" y="685800"/>
            <a:ext cx="16596360" cy="822960"/>
            <a:chOff x="0" y="0"/>
            <a:chExt cx="22128480" cy="109728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2128480" cy="1097280"/>
            </a:xfrm>
            <a:custGeom>
              <a:avLst/>
              <a:gdLst/>
              <a:ahLst/>
              <a:cxnLst/>
              <a:rect r="r" b="b" t="t" l="l"/>
              <a:pathLst>
                <a:path h="1097280" w="22128480">
                  <a:moveTo>
                    <a:pt x="0" y="0"/>
                  </a:moveTo>
                  <a:lnTo>
                    <a:pt x="22128480" y="0"/>
                  </a:lnTo>
                  <a:lnTo>
                    <a:pt x="2212848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42948" r="0" b="-342948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19050"/>
              <a:ext cx="22128480" cy="11163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040"/>
                </a:lnSpc>
              </a:pPr>
              <a:r>
                <a:rPr lang="en-US" sz="4200" b="true">
                  <a:solidFill>
                    <a:srgbClr val="1F243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Conclusion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822960" y="1508760"/>
            <a:ext cx="16596360" cy="548640"/>
            <a:chOff x="0" y="0"/>
            <a:chExt cx="22128480" cy="73152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2128480" cy="731520"/>
            </a:xfrm>
            <a:custGeom>
              <a:avLst/>
              <a:gdLst/>
              <a:ahLst/>
              <a:cxnLst/>
              <a:rect r="r" b="b" t="t" l="l"/>
              <a:pathLst>
                <a:path h="731520" w="22128480">
                  <a:moveTo>
                    <a:pt x="0" y="0"/>
                  </a:moveTo>
                  <a:lnTo>
                    <a:pt x="22128480" y="0"/>
                  </a:lnTo>
                  <a:lnTo>
                    <a:pt x="2212848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39422" r="0" b="-539422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19050"/>
              <a:ext cx="22128480" cy="7505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sz="1950">
                  <a:solidFill>
                    <a:srgbClr val="666B78"/>
                  </a:solidFill>
                  <a:latin typeface="Arial"/>
                  <a:ea typeface="Arial"/>
                  <a:cs typeface="Arial"/>
                  <a:sym typeface="Arial"/>
                </a:rPr>
                <a:t>Final takeaway from the rule-based medical diagnosis expert system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822960" y="2880360"/>
            <a:ext cx="16596360" cy="1371600"/>
            <a:chOff x="0" y="0"/>
            <a:chExt cx="22128480" cy="1828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2128480" cy="1828800"/>
            </a:xfrm>
            <a:custGeom>
              <a:avLst/>
              <a:gdLst/>
              <a:ahLst/>
              <a:cxnLst/>
              <a:rect r="r" b="b" t="t" l="l"/>
              <a:pathLst>
                <a:path h="1828800" w="22128480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21982176" y="0"/>
                  </a:lnTo>
                  <a:cubicBezTo>
                    <a:pt x="22062948" y="0"/>
                    <a:pt x="22128480" y="65532"/>
                    <a:pt x="22128480" y="146304"/>
                  </a:cubicBezTo>
                  <a:lnTo>
                    <a:pt x="22128480" y="1682496"/>
                  </a:lnTo>
                  <a:cubicBezTo>
                    <a:pt x="22128480" y="1763268"/>
                    <a:pt x="22062948" y="1828800"/>
                    <a:pt x="21982176" y="1828800"/>
                  </a:cubicBezTo>
                  <a:lnTo>
                    <a:pt x="146304" y="1828800"/>
                  </a:lnTo>
                  <a:cubicBezTo>
                    <a:pt x="65532" y="1828800"/>
                    <a:pt x="0" y="1763268"/>
                    <a:pt x="0" y="1682496"/>
                  </a:cubicBezTo>
                  <a:close/>
                </a:path>
              </a:pathLst>
            </a:custGeom>
            <a:solidFill>
              <a:srgbClr val="2B2F3D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303020" y="2880360"/>
            <a:ext cx="15636240" cy="1371600"/>
            <a:chOff x="0" y="0"/>
            <a:chExt cx="20848320" cy="18288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0848320" cy="1828800"/>
            </a:xfrm>
            <a:custGeom>
              <a:avLst/>
              <a:gdLst/>
              <a:ahLst/>
              <a:cxnLst/>
              <a:rect r="r" b="b" t="t" l="l"/>
              <a:pathLst>
                <a:path h="1828800" w="20848320">
                  <a:moveTo>
                    <a:pt x="0" y="0"/>
                  </a:moveTo>
                  <a:lnTo>
                    <a:pt x="20848320" y="0"/>
                  </a:lnTo>
                  <a:lnTo>
                    <a:pt x="20848320" y="1828800"/>
                  </a:lnTo>
                  <a:lnTo>
                    <a:pt x="0" y="18288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72129" r="0" b="-172129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57150"/>
              <a:ext cx="20848320" cy="18859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024"/>
                </a:lnSpc>
              </a:pPr>
              <a:r>
                <a:rPr lang="en-US" sz="2100" b="true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This project demonstrates a medical diagnosis expert system built on logic programming and rule-based knowledge representation.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234440" y="4800600"/>
            <a:ext cx="493776" cy="493776"/>
            <a:chOff x="0" y="0"/>
            <a:chExt cx="658368" cy="658368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658368" cy="658368"/>
            </a:xfrm>
            <a:custGeom>
              <a:avLst/>
              <a:gdLst/>
              <a:ahLst/>
              <a:cxnLst/>
              <a:rect r="r" b="b" t="t" l="l"/>
              <a:pathLst>
                <a:path h="658368" w="658368">
                  <a:moveTo>
                    <a:pt x="0" y="329184"/>
                  </a:moveTo>
                  <a:cubicBezTo>
                    <a:pt x="0" y="147320"/>
                    <a:pt x="147320" y="0"/>
                    <a:pt x="329184" y="0"/>
                  </a:cubicBezTo>
                  <a:cubicBezTo>
                    <a:pt x="511048" y="0"/>
                    <a:pt x="658368" y="147320"/>
                    <a:pt x="658368" y="329184"/>
                  </a:cubicBezTo>
                  <a:cubicBezTo>
                    <a:pt x="658368" y="511048"/>
                    <a:pt x="511048" y="658368"/>
                    <a:pt x="329184" y="658368"/>
                  </a:cubicBezTo>
                  <a:cubicBezTo>
                    <a:pt x="147320" y="658368"/>
                    <a:pt x="0" y="511048"/>
                    <a:pt x="0" y="329184"/>
                  </a:cubicBezTo>
                  <a:close/>
                </a:path>
              </a:pathLst>
            </a:custGeom>
            <a:solidFill>
              <a:srgbClr val="B08D3E"/>
            </a:solid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1234440" y="4800600"/>
            <a:ext cx="493776" cy="493776"/>
            <a:chOff x="0" y="0"/>
            <a:chExt cx="658368" cy="658368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658368" cy="658368"/>
            </a:xfrm>
            <a:custGeom>
              <a:avLst/>
              <a:gdLst/>
              <a:ahLst/>
              <a:cxnLst/>
              <a:rect r="r" b="b" t="t" l="l"/>
              <a:pathLst>
                <a:path h="658368" w="658368">
                  <a:moveTo>
                    <a:pt x="0" y="0"/>
                  </a:moveTo>
                  <a:lnTo>
                    <a:pt x="658368" y="0"/>
                  </a:lnTo>
                  <a:lnTo>
                    <a:pt x="658368" y="658368"/>
                  </a:lnTo>
                  <a:lnTo>
                    <a:pt x="0" y="65836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19050"/>
              <a:ext cx="658368" cy="67741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40"/>
                </a:lnSpc>
              </a:pPr>
              <a:r>
                <a:rPr lang="en-US" sz="1950" b="true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1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1988820" y="4773168"/>
            <a:ext cx="14813280" cy="548640"/>
            <a:chOff x="0" y="0"/>
            <a:chExt cx="19751040" cy="73152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9751039" cy="731520"/>
            </a:xfrm>
            <a:custGeom>
              <a:avLst/>
              <a:gdLst/>
              <a:ahLst/>
              <a:cxnLst/>
              <a:rect r="r" b="b" t="t" l="l"/>
              <a:pathLst>
                <a:path h="731520" w="19751039">
                  <a:moveTo>
                    <a:pt x="0" y="0"/>
                  </a:moveTo>
                  <a:lnTo>
                    <a:pt x="19751039" y="0"/>
                  </a:lnTo>
                  <a:lnTo>
                    <a:pt x="19751039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76096" r="0" b="-476096"/>
              </a:stretch>
            </a:blip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19050"/>
              <a:ext cx="19751040" cy="7505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sz="1950">
                  <a:solidFill>
                    <a:srgbClr val="1F2430"/>
                  </a:solidFill>
                  <a:latin typeface="Arial"/>
                  <a:ea typeface="Arial"/>
                  <a:cs typeface="Arial"/>
                  <a:sym typeface="Arial"/>
                </a:rPr>
                <a:t>Converts patient answers into structured facts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1234440" y="5650992"/>
            <a:ext cx="493776" cy="493776"/>
            <a:chOff x="0" y="0"/>
            <a:chExt cx="658368" cy="658368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658368" cy="658368"/>
            </a:xfrm>
            <a:custGeom>
              <a:avLst/>
              <a:gdLst/>
              <a:ahLst/>
              <a:cxnLst/>
              <a:rect r="r" b="b" t="t" l="l"/>
              <a:pathLst>
                <a:path h="658368" w="658368">
                  <a:moveTo>
                    <a:pt x="0" y="329184"/>
                  </a:moveTo>
                  <a:cubicBezTo>
                    <a:pt x="0" y="147320"/>
                    <a:pt x="147320" y="0"/>
                    <a:pt x="329184" y="0"/>
                  </a:cubicBezTo>
                  <a:cubicBezTo>
                    <a:pt x="511048" y="0"/>
                    <a:pt x="658368" y="147320"/>
                    <a:pt x="658368" y="329184"/>
                  </a:cubicBezTo>
                  <a:cubicBezTo>
                    <a:pt x="658368" y="511048"/>
                    <a:pt x="511048" y="658368"/>
                    <a:pt x="329184" y="658368"/>
                  </a:cubicBezTo>
                  <a:cubicBezTo>
                    <a:pt x="147320" y="658368"/>
                    <a:pt x="0" y="511048"/>
                    <a:pt x="0" y="329184"/>
                  </a:cubicBezTo>
                  <a:close/>
                </a:path>
              </a:pathLst>
            </a:custGeom>
            <a:solidFill>
              <a:srgbClr val="B08D3E"/>
            </a:solidFill>
          </p:spPr>
        </p:sp>
      </p:grpSp>
      <p:grpSp>
        <p:nvGrpSpPr>
          <p:cNvPr name="Group 23" id="23"/>
          <p:cNvGrpSpPr/>
          <p:nvPr/>
        </p:nvGrpSpPr>
        <p:grpSpPr>
          <a:xfrm rot="0">
            <a:off x="1234440" y="5650992"/>
            <a:ext cx="493776" cy="493776"/>
            <a:chOff x="0" y="0"/>
            <a:chExt cx="658368" cy="658368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658368" cy="658368"/>
            </a:xfrm>
            <a:custGeom>
              <a:avLst/>
              <a:gdLst/>
              <a:ahLst/>
              <a:cxnLst/>
              <a:rect r="r" b="b" t="t" l="l"/>
              <a:pathLst>
                <a:path h="658368" w="658368">
                  <a:moveTo>
                    <a:pt x="0" y="0"/>
                  </a:moveTo>
                  <a:lnTo>
                    <a:pt x="658368" y="0"/>
                  </a:lnTo>
                  <a:lnTo>
                    <a:pt x="658368" y="658368"/>
                  </a:lnTo>
                  <a:lnTo>
                    <a:pt x="0" y="65836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19050"/>
              <a:ext cx="658368" cy="67741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40"/>
                </a:lnSpc>
              </a:pPr>
              <a:r>
                <a:rPr lang="en-US" sz="1950" b="true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2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1988820" y="5623560"/>
            <a:ext cx="14813280" cy="548640"/>
            <a:chOff x="0" y="0"/>
            <a:chExt cx="19751040" cy="73152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19751039" cy="731520"/>
            </a:xfrm>
            <a:custGeom>
              <a:avLst/>
              <a:gdLst/>
              <a:ahLst/>
              <a:cxnLst/>
              <a:rect r="r" b="b" t="t" l="l"/>
              <a:pathLst>
                <a:path h="731520" w="19751039">
                  <a:moveTo>
                    <a:pt x="0" y="0"/>
                  </a:moveTo>
                  <a:lnTo>
                    <a:pt x="19751039" y="0"/>
                  </a:lnTo>
                  <a:lnTo>
                    <a:pt x="19751039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76096" r="0" b="-476096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19050"/>
              <a:ext cx="19751040" cy="7505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sz="1950">
                  <a:solidFill>
                    <a:srgbClr val="1F2430"/>
                  </a:solidFill>
                  <a:latin typeface="Arial"/>
                  <a:ea typeface="Arial"/>
                  <a:cs typeface="Arial"/>
                  <a:sym typeface="Arial"/>
                </a:rPr>
                <a:t>Applies disease rules to infer a possible diagnosis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1234440" y="6501384"/>
            <a:ext cx="493776" cy="493776"/>
            <a:chOff x="0" y="0"/>
            <a:chExt cx="658368" cy="658368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658368" cy="658368"/>
            </a:xfrm>
            <a:custGeom>
              <a:avLst/>
              <a:gdLst/>
              <a:ahLst/>
              <a:cxnLst/>
              <a:rect r="r" b="b" t="t" l="l"/>
              <a:pathLst>
                <a:path h="658368" w="658368">
                  <a:moveTo>
                    <a:pt x="0" y="329184"/>
                  </a:moveTo>
                  <a:cubicBezTo>
                    <a:pt x="0" y="147320"/>
                    <a:pt x="147320" y="0"/>
                    <a:pt x="329184" y="0"/>
                  </a:cubicBezTo>
                  <a:cubicBezTo>
                    <a:pt x="511048" y="0"/>
                    <a:pt x="658368" y="147320"/>
                    <a:pt x="658368" y="329184"/>
                  </a:cubicBezTo>
                  <a:cubicBezTo>
                    <a:pt x="658368" y="511048"/>
                    <a:pt x="511048" y="658368"/>
                    <a:pt x="329184" y="658368"/>
                  </a:cubicBezTo>
                  <a:cubicBezTo>
                    <a:pt x="147320" y="658368"/>
                    <a:pt x="0" y="511048"/>
                    <a:pt x="0" y="329184"/>
                  </a:cubicBezTo>
                  <a:close/>
                </a:path>
              </a:pathLst>
            </a:custGeom>
            <a:solidFill>
              <a:srgbClr val="B08D3E"/>
            </a:solidFill>
          </p:spPr>
        </p:sp>
      </p:grpSp>
      <p:grpSp>
        <p:nvGrpSpPr>
          <p:cNvPr name="Group 31" id="31"/>
          <p:cNvGrpSpPr/>
          <p:nvPr/>
        </p:nvGrpSpPr>
        <p:grpSpPr>
          <a:xfrm rot="0">
            <a:off x="1234440" y="6501384"/>
            <a:ext cx="493776" cy="493776"/>
            <a:chOff x="0" y="0"/>
            <a:chExt cx="658368" cy="658368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658368" cy="658368"/>
            </a:xfrm>
            <a:custGeom>
              <a:avLst/>
              <a:gdLst/>
              <a:ahLst/>
              <a:cxnLst/>
              <a:rect r="r" b="b" t="t" l="l"/>
              <a:pathLst>
                <a:path h="658368" w="658368">
                  <a:moveTo>
                    <a:pt x="0" y="0"/>
                  </a:moveTo>
                  <a:lnTo>
                    <a:pt x="658368" y="0"/>
                  </a:lnTo>
                  <a:lnTo>
                    <a:pt x="658368" y="658368"/>
                  </a:lnTo>
                  <a:lnTo>
                    <a:pt x="0" y="65836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33" id="33"/>
            <p:cNvSpPr txBox="true"/>
            <p:nvPr/>
          </p:nvSpPr>
          <p:spPr>
            <a:xfrm>
              <a:off x="0" y="-19050"/>
              <a:ext cx="658368" cy="67741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40"/>
                </a:lnSpc>
              </a:pPr>
              <a:r>
                <a:rPr lang="en-US" sz="1950" b="true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3</a:t>
              </a:r>
            </a:p>
          </p:txBody>
        </p:sp>
      </p:grpSp>
      <p:grpSp>
        <p:nvGrpSpPr>
          <p:cNvPr name="Group 34" id="34"/>
          <p:cNvGrpSpPr/>
          <p:nvPr/>
        </p:nvGrpSpPr>
        <p:grpSpPr>
          <a:xfrm rot="0">
            <a:off x="1988820" y="6473952"/>
            <a:ext cx="14813280" cy="548640"/>
            <a:chOff x="0" y="0"/>
            <a:chExt cx="19751040" cy="73152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19751039" cy="731520"/>
            </a:xfrm>
            <a:custGeom>
              <a:avLst/>
              <a:gdLst/>
              <a:ahLst/>
              <a:cxnLst/>
              <a:rect r="r" b="b" t="t" l="l"/>
              <a:pathLst>
                <a:path h="731520" w="19751039">
                  <a:moveTo>
                    <a:pt x="0" y="0"/>
                  </a:moveTo>
                  <a:lnTo>
                    <a:pt x="19751039" y="0"/>
                  </a:lnTo>
                  <a:lnTo>
                    <a:pt x="19751039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76096" r="0" b="-476096"/>
              </a:stretch>
            </a:blipFill>
          </p:spPr>
        </p:sp>
        <p:sp>
          <p:nvSpPr>
            <p:cNvPr name="TextBox 36" id="36"/>
            <p:cNvSpPr txBox="true"/>
            <p:nvPr/>
          </p:nvSpPr>
          <p:spPr>
            <a:xfrm>
              <a:off x="0" y="-19050"/>
              <a:ext cx="19751040" cy="7505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sz="1950">
                  <a:solidFill>
                    <a:srgbClr val="1F2430"/>
                  </a:solidFill>
                  <a:latin typeface="Arial"/>
                  <a:ea typeface="Arial"/>
                  <a:cs typeface="Arial"/>
                  <a:sym typeface="Arial"/>
                </a:rPr>
                <a:t>Explains output using the matched symptoms</a:t>
              </a:r>
            </a:p>
          </p:txBody>
        </p:sp>
      </p:grpSp>
      <p:grpSp>
        <p:nvGrpSpPr>
          <p:cNvPr name="Group 37" id="37"/>
          <p:cNvGrpSpPr/>
          <p:nvPr/>
        </p:nvGrpSpPr>
        <p:grpSpPr>
          <a:xfrm rot="0">
            <a:off x="1234440" y="7351776"/>
            <a:ext cx="493776" cy="493776"/>
            <a:chOff x="0" y="0"/>
            <a:chExt cx="658368" cy="658368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658368" cy="658368"/>
            </a:xfrm>
            <a:custGeom>
              <a:avLst/>
              <a:gdLst/>
              <a:ahLst/>
              <a:cxnLst/>
              <a:rect r="r" b="b" t="t" l="l"/>
              <a:pathLst>
                <a:path h="658368" w="658368">
                  <a:moveTo>
                    <a:pt x="0" y="329184"/>
                  </a:moveTo>
                  <a:cubicBezTo>
                    <a:pt x="0" y="147320"/>
                    <a:pt x="147320" y="0"/>
                    <a:pt x="329184" y="0"/>
                  </a:cubicBezTo>
                  <a:cubicBezTo>
                    <a:pt x="511048" y="0"/>
                    <a:pt x="658368" y="147320"/>
                    <a:pt x="658368" y="329184"/>
                  </a:cubicBezTo>
                  <a:cubicBezTo>
                    <a:pt x="658368" y="511048"/>
                    <a:pt x="511048" y="658368"/>
                    <a:pt x="329184" y="658368"/>
                  </a:cubicBezTo>
                  <a:cubicBezTo>
                    <a:pt x="147320" y="658368"/>
                    <a:pt x="0" y="511048"/>
                    <a:pt x="0" y="329184"/>
                  </a:cubicBezTo>
                  <a:close/>
                </a:path>
              </a:pathLst>
            </a:custGeom>
            <a:solidFill>
              <a:srgbClr val="B08D3E"/>
            </a:solidFill>
          </p:spPr>
        </p:sp>
      </p:grpSp>
      <p:grpSp>
        <p:nvGrpSpPr>
          <p:cNvPr name="Group 39" id="39"/>
          <p:cNvGrpSpPr/>
          <p:nvPr/>
        </p:nvGrpSpPr>
        <p:grpSpPr>
          <a:xfrm rot="0">
            <a:off x="1234440" y="7351776"/>
            <a:ext cx="493776" cy="493776"/>
            <a:chOff x="0" y="0"/>
            <a:chExt cx="658368" cy="658368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658368" cy="658368"/>
            </a:xfrm>
            <a:custGeom>
              <a:avLst/>
              <a:gdLst/>
              <a:ahLst/>
              <a:cxnLst/>
              <a:rect r="r" b="b" t="t" l="l"/>
              <a:pathLst>
                <a:path h="658368" w="658368">
                  <a:moveTo>
                    <a:pt x="0" y="0"/>
                  </a:moveTo>
                  <a:lnTo>
                    <a:pt x="658368" y="0"/>
                  </a:lnTo>
                  <a:lnTo>
                    <a:pt x="658368" y="658368"/>
                  </a:lnTo>
                  <a:lnTo>
                    <a:pt x="0" y="65836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41" id="41"/>
            <p:cNvSpPr txBox="true"/>
            <p:nvPr/>
          </p:nvSpPr>
          <p:spPr>
            <a:xfrm>
              <a:off x="0" y="-19050"/>
              <a:ext cx="658368" cy="67741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40"/>
                </a:lnSpc>
              </a:pPr>
              <a:r>
                <a:rPr lang="en-US" sz="1950" b="true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4</a:t>
              </a:r>
            </a:p>
          </p:txBody>
        </p:sp>
      </p:grpSp>
      <p:grpSp>
        <p:nvGrpSpPr>
          <p:cNvPr name="Group 42" id="42"/>
          <p:cNvGrpSpPr/>
          <p:nvPr/>
        </p:nvGrpSpPr>
        <p:grpSpPr>
          <a:xfrm rot="0">
            <a:off x="1988820" y="7324344"/>
            <a:ext cx="14813280" cy="548640"/>
            <a:chOff x="0" y="0"/>
            <a:chExt cx="19751040" cy="731520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19751039" cy="731520"/>
            </a:xfrm>
            <a:custGeom>
              <a:avLst/>
              <a:gdLst/>
              <a:ahLst/>
              <a:cxnLst/>
              <a:rect r="r" b="b" t="t" l="l"/>
              <a:pathLst>
                <a:path h="731520" w="19751039">
                  <a:moveTo>
                    <a:pt x="0" y="0"/>
                  </a:moveTo>
                  <a:lnTo>
                    <a:pt x="19751039" y="0"/>
                  </a:lnTo>
                  <a:lnTo>
                    <a:pt x="19751039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76096" r="0" b="-476096"/>
              </a:stretch>
            </a:blipFill>
          </p:spPr>
        </p:sp>
        <p:sp>
          <p:nvSpPr>
            <p:cNvPr name="TextBox 44" id="44"/>
            <p:cNvSpPr txBox="true"/>
            <p:nvPr/>
          </p:nvSpPr>
          <p:spPr>
            <a:xfrm>
              <a:off x="0" y="-19050"/>
              <a:ext cx="19751040" cy="7505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sz="1950">
                  <a:solidFill>
                    <a:srgbClr val="1F2430"/>
                  </a:solidFill>
                  <a:latin typeface="Arial"/>
                  <a:ea typeface="Arial"/>
                  <a:cs typeface="Arial"/>
                  <a:sym typeface="Arial"/>
                </a:rPr>
                <a:t>Connects diagnosis to treatment info and a PDF report</a:t>
              </a:r>
            </a:p>
          </p:txBody>
        </p:sp>
      </p:grpSp>
      <p:grpSp>
        <p:nvGrpSpPr>
          <p:cNvPr name="Group 45" id="45"/>
          <p:cNvGrpSpPr/>
          <p:nvPr/>
        </p:nvGrpSpPr>
        <p:grpSpPr>
          <a:xfrm rot="0">
            <a:off x="1234440" y="8202168"/>
            <a:ext cx="493776" cy="493776"/>
            <a:chOff x="0" y="0"/>
            <a:chExt cx="658368" cy="658368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658368" cy="658368"/>
            </a:xfrm>
            <a:custGeom>
              <a:avLst/>
              <a:gdLst/>
              <a:ahLst/>
              <a:cxnLst/>
              <a:rect r="r" b="b" t="t" l="l"/>
              <a:pathLst>
                <a:path h="658368" w="658368">
                  <a:moveTo>
                    <a:pt x="0" y="329184"/>
                  </a:moveTo>
                  <a:cubicBezTo>
                    <a:pt x="0" y="147320"/>
                    <a:pt x="147320" y="0"/>
                    <a:pt x="329184" y="0"/>
                  </a:cubicBezTo>
                  <a:cubicBezTo>
                    <a:pt x="511048" y="0"/>
                    <a:pt x="658368" y="147320"/>
                    <a:pt x="658368" y="329184"/>
                  </a:cubicBezTo>
                  <a:cubicBezTo>
                    <a:pt x="658368" y="511048"/>
                    <a:pt x="511048" y="658368"/>
                    <a:pt x="329184" y="658368"/>
                  </a:cubicBezTo>
                  <a:cubicBezTo>
                    <a:pt x="147320" y="658368"/>
                    <a:pt x="0" y="511048"/>
                    <a:pt x="0" y="329184"/>
                  </a:cubicBezTo>
                  <a:close/>
                </a:path>
              </a:pathLst>
            </a:custGeom>
            <a:solidFill>
              <a:srgbClr val="B08D3E"/>
            </a:solidFill>
          </p:spPr>
        </p:sp>
      </p:grpSp>
      <p:grpSp>
        <p:nvGrpSpPr>
          <p:cNvPr name="Group 47" id="47"/>
          <p:cNvGrpSpPr/>
          <p:nvPr/>
        </p:nvGrpSpPr>
        <p:grpSpPr>
          <a:xfrm rot="0">
            <a:off x="1234440" y="8202168"/>
            <a:ext cx="493776" cy="493776"/>
            <a:chOff x="0" y="0"/>
            <a:chExt cx="658368" cy="658368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658368" cy="658368"/>
            </a:xfrm>
            <a:custGeom>
              <a:avLst/>
              <a:gdLst/>
              <a:ahLst/>
              <a:cxnLst/>
              <a:rect r="r" b="b" t="t" l="l"/>
              <a:pathLst>
                <a:path h="658368" w="658368">
                  <a:moveTo>
                    <a:pt x="0" y="0"/>
                  </a:moveTo>
                  <a:lnTo>
                    <a:pt x="658368" y="0"/>
                  </a:lnTo>
                  <a:lnTo>
                    <a:pt x="658368" y="658368"/>
                  </a:lnTo>
                  <a:lnTo>
                    <a:pt x="0" y="65836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49" id="49"/>
            <p:cNvSpPr txBox="true"/>
            <p:nvPr/>
          </p:nvSpPr>
          <p:spPr>
            <a:xfrm>
              <a:off x="0" y="-19050"/>
              <a:ext cx="658368" cy="67741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40"/>
                </a:lnSpc>
              </a:pPr>
              <a:r>
                <a:rPr lang="en-US" sz="1950" b="true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5</a:t>
              </a:r>
            </a:p>
          </p:txBody>
        </p:sp>
      </p:grpSp>
      <p:grpSp>
        <p:nvGrpSpPr>
          <p:cNvPr name="Group 50" id="50"/>
          <p:cNvGrpSpPr/>
          <p:nvPr/>
        </p:nvGrpSpPr>
        <p:grpSpPr>
          <a:xfrm rot="0">
            <a:off x="1988820" y="8174736"/>
            <a:ext cx="14813280" cy="548640"/>
            <a:chOff x="0" y="0"/>
            <a:chExt cx="19751040" cy="731520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19751039" cy="731520"/>
            </a:xfrm>
            <a:custGeom>
              <a:avLst/>
              <a:gdLst/>
              <a:ahLst/>
              <a:cxnLst/>
              <a:rect r="r" b="b" t="t" l="l"/>
              <a:pathLst>
                <a:path h="731520" w="19751039">
                  <a:moveTo>
                    <a:pt x="0" y="0"/>
                  </a:moveTo>
                  <a:lnTo>
                    <a:pt x="19751039" y="0"/>
                  </a:lnTo>
                  <a:lnTo>
                    <a:pt x="19751039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76096" r="0" b="-476096"/>
              </a:stretch>
            </a:blipFill>
          </p:spPr>
        </p:sp>
        <p:sp>
          <p:nvSpPr>
            <p:cNvPr name="TextBox 52" id="52"/>
            <p:cNvSpPr txBox="true"/>
            <p:nvPr/>
          </p:nvSpPr>
          <p:spPr>
            <a:xfrm>
              <a:off x="0" y="-19050"/>
              <a:ext cx="19751040" cy="7505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sz="1950">
                  <a:solidFill>
                    <a:srgbClr val="1F2430"/>
                  </a:solidFill>
                  <a:latin typeface="Arial"/>
                  <a:ea typeface="Arial"/>
                  <a:cs typeface="Arial"/>
                  <a:sym typeface="Arial"/>
                </a:rPr>
                <a:t>Designed for education and preliminary decision support only</a:t>
              </a:r>
            </a:p>
          </p:txBody>
        </p:sp>
      </p:grpSp>
      <p:grpSp>
        <p:nvGrpSpPr>
          <p:cNvPr name="Group 53" id="53"/>
          <p:cNvGrpSpPr/>
          <p:nvPr/>
        </p:nvGrpSpPr>
        <p:grpSpPr>
          <a:xfrm rot="0">
            <a:off x="685800" y="9848088"/>
            <a:ext cx="9601200" cy="384048"/>
            <a:chOff x="0" y="0"/>
            <a:chExt cx="12801600" cy="512064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12801600" cy="512064"/>
            </a:xfrm>
            <a:custGeom>
              <a:avLst/>
              <a:gdLst/>
              <a:ahLst/>
              <a:cxnLst/>
              <a:rect r="r" b="b" t="t" l="l"/>
              <a:pathLst>
                <a:path h="512064" w="12801600">
                  <a:moveTo>
                    <a:pt x="0" y="0"/>
                  </a:moveTo>
                  <a:lnTo>
                    <a:pt x="12801600" y="0"/>
                  </a:lnTo>
                  <a:lnTo>
                    <a:pt x="12801600" y="512064"/>
                  </a:lnTo>
                  <a:lnTo>
                    <a:pt x="0" y="5120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37125" r="0" b="-437125"/>
              </a:stretch>
            </a:blipFill>
          </p:spPr>
        </p:sp>
        <p:sp>
          <p:nvSpPr>
            <p:cNvPr name="TextBox 55" id="55"/>
            <p:cNvSpPr txBox="true"/>
            <p:nvPr/>
          </p:nvSpPr>
          <p:spPr>
            <a:xfrm>
              <a:off x="0" y="-19050"/>
              <a:ext cx="12801600" cy="53111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439"/>
                </a:lnSpc>
              </a:pPr>
              <a:r>
                <a:rPr lang="en-US" sz="1200">
                  <a:solidFill>
                    <a:srgbClr val="666B78"/>
                  </a:solidFill>
                  <a:latin typeface="Arial"/>
                  <a:ea typeface="Arial"/>
                  <a:cs typeface="Arial"/>
                  <a:sym typeface="Arial"/>
                </a:rPr>
                <a:t>Medical Diagnosis Expert System  |  CSE440</a:t>
              </a:r>
            </a:p>
          </p:txBody>
        </p:sp>
      </p:grpSp>
      <p:grpSp>
        <p:nvGrpSpPr>
          <p:cNvPr name="Group 56" id="56"/>
          <p:cNvGrpSpPr/>
          <p:nvPr/>
        </p:nvGrpSpPr>
        <p:grpSpPr>
          <a:xfrm rot="0">
            <a:off x="17145000" y="9848088"/>
            <a:ext cx="548640" cy="384048"/>
            <a:chOff x="0" y="0"/>
            <a:chExt cx="731520" cy="512064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731520" cy="512064"/>
            </a:xfrm>
            <a:custGeom>
              <a:avLst/>
              <a:gdLst/>
              <a:ahLst/>
              <a:cxnLst/>
              <a:rect r="r" b="b" t="t" l="l"/>
              <a:pathLst>
                <a:path h="512064" w="731520">
                  <a:moveTo>
                    <a:pt x="0" y="0"/>
                  </a:moveTo>
                  <a:lnTo>
                    <a:pt x="731520" y="0"/>
                  </a:lnTo>
                  <a:lnTo>
                    <a:pt x="731520" y="512064"/>
                  </a:lnTo>
                  <a:lnTo>
                    <a:pt x="0" y="5120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39812" t="0" r="-39812" b="0"/>
              </a:stretch>
            </a:blipFill>
          </p:spPr>
        </p:sp>
        <p:sp>
          <p:nvSpPr>
            <p:cNvPr name="TextBox 58" id="58"/>
            <p:cNvSpPr txBox="true"/>
            <p:nvPr/>
          </p:nvSpPr>
          <p:spPr>
            <a:xfrm>
              <a:off x="0" y="-19050"/>
              <a:ext cx="731520" cy="53111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439"/>
                </a:lnSpc>
              </a:pPr>
              <a:r>
                <a:rPr lang="en-US" sz="1200">
                  <a:solidFill>
                    <a:srgbClr val="666B78"/>
                  </a:solidFill>
                  <a:latin typeface="Arial"/>
                  <a:ea typeface="Arial"/>
                  <a:cs typeface="Arial"/>
                  <a:sym typeface="Arial"/>
                </a:rPr>
                <a:t>15</a:t>
              </a:r>
            </a:p>
          </p:txBody>
        </p:sp>
      </p:grp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6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3652647" y="4242435"/>
            <a:ext cx="10991850" cy="1802130"/>
            <a:chOff x="0" y="0"/>
            <a:chExt cx="14655800" cy="240284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4655800" cy="2402840"/>
            </a:xfrm>
            <a:custGeom>
              <a:avLst/>
              <a:gdLst/>
              <a:ahLst/>
              <a:cxnLst/>
              <a:rect r="r" b="b" t="t" l="l"/>
              <a:pathLst>
                <a:path h="2402840" w="14655800">
                  <a:moveTo>
                    <a:pt x="0" y="184785"/>
                  </a:moveTo>
                  <a:cubicBezTo>
                    <a:pt x="0" y="82804"/>
                    <a:pt x="82804" y="0"/>
                    <a:pt x="184785" y="0"/>
                  </a:cubicBezTo>
                  <a:lnTo>
                    <a:pt x="14471014" y="0"/>
                  </a:lnTo>
                  <a:cubicBezTo>
                    <a:pt x="14573123" y="0"/>
                    <a:pt x="14655800" y="82804"/>
                    <a:pt x="14655800" y="184785"/>
                  </a:cubicBezTo>
                  <a:lnTo>
                    <a:pt x="14655800" y="2218055"/>
                  </a:lnTo>
                  <a:cubicBezTo>
                    <a:pt x="14655800" y="2320163"/>
                    <a:pt x="14572996" y="2402840"/>
                    <a:pt x="14471014" y="2402840"/>
                  </a:cubicBezTo>
                  <a:lnTo>
                    <a:pt x="184785" y="2402840"/>
                  </a:lnTo>
                  <a:cubicBezTo>
                    <a:pt x="82804" y="2402840"/>
                    <a:pt x="0" y="2320036"/>
                    <a:pt x="0" y="2218055"/>
                  </a:cubicBezTo>
                  <a:close/>
                </a:path>
              </a:pathLst>
            </a:custGeom>
            <a:solidFill>
              <a:srgbClr val="F8F2E3"/>
            </a:solidFill>
            <a:ln w="19050" cap="sq">
              <a:solidFill>
                <a:srgbClr val="E0DACB"/>
              </a:solidFill>
              <a:prstDash val="solid"/>
              <a:miter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3662172" y="4251960"/>
            <a:ext cx="10972800" cy="1783080"/>
            <a:chOff x="0" y="0"/>
            <a:chExt cx="14630400" cy="237744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4630400" cy="2377440"/>
            </a:xfrm>
            <a:custGeom>
              <a:avLst/>
              <a:gdLst/>
              <a:ahLst/>
              <a:cxnLst/>
              <a:rect r="r" b="b" t="t" l="l"/>
              <a:pathLst>
                <a:path h="2377440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2377440"/>
                  </a:lnTo>
                  <a:lnTo>
                    <a:pt x="0" y="2377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9907" r="0" b="-69907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28575"/>
              <a:ext cx="14630400" cy="24060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6120"/>
                </a:lnSpc>
              </a:pPr>
              <a:r>
                <a:rPr lang="en-US" b="true" sz="5100" spc="299">
                  <a:solidFill>
                    <a:srgbClr val="B08D3E"/>
                  </a:solidFill>
                  <a:latin typeface="Arial Bold"/>
                  <a:ea typeface="Arial Bold"/>
                  <a:cs typeface="Arial Bold"/>
                  <a:sym typeface="Arial Bold"/>
                </a:rPr>
                <a:t>THANK YOU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3662172" y="6240780"/>
            <a:ext cx="10972800" cy="548640"/>
            <a:chOff x="0" y="0"/>
            <a:chExt cx="14630400" cy="73152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4630400" cy="731520"/>
            </a:xfrm>
            <a:custGeom>
              <a:avLst/>
              <a:gdLst/>
              <a:ahLst/>
              <a:cxnLst/>
              <a:rect r="r" b="b" t="t" l="l"/>
              <a:pathLst>
                <a:path h="731520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39700" r="0" b="-339700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19050"/>
              <a:ext cx="14630400" cy="7505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40"/>
                </a:lnSpc>
              </a:pPr>
              <a:r>
                <a:rPr lang="en-US" sz="1950">
                  <a:solidFill>
                    <a:srgbClr val="666B78"/>
                  </a:solidFill>
                  <a:latin typeface="Arial"/>
                  <a:ea typeface="Arial"/>
                  <a:cs typeface="Arial"/>
                  <a:sym typeface="Arial"/>
                </a:rPr>
                <a:t>Questions and discussion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685800" y="9848088"/>
            <a:ext cx="9601200" cy="384048"/>
            <a:chOff x="0" y="0"/>
            <a:chExt cx="12801600" cy="512064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2801600" cy="512064"/>
            </a:xfrm>
            <a:custGeom>
              <a:avLst/>
              <a:gdLst/>
              <a:ahLst/>
              <a:cxnLst/>
              <a:rect r="r" b="b" t="t" l="l"/>
              <a:pathLst>
                <a:path h="512064" w="12801600">
                  <a:moveTo>
                    <a:pt x="0" y="0"/>
                  </a:moveTo>
                  <a:lnTo>
                    <a:pt x="12801600" y="0"/>
                  </a:lnTo>
                  <a:lnTo>
                    <a:pt x="12801600" y="512064"/>
                  </a:lnTo>
                  <a:lnTo>
                    <a:pt x="0" y="5120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37125" r="0" b="-437125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19050"/>
              <a:ext cx="12801600" cy="53111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439"/>
                </a:lnSpc>
              </a:pPr>
              <a:r>
                <a:rPr lang="en-US" sz="1200">
                  <a:solidFill>
                    <a:srgbClr val="666B78"/>
                  </a:solidFill>
                  <a:latin typeface="Arial"/>
                  <a:ea typeface="Arial"/>
                  <a:cs typeface="Arial"/>
                  <a:sym typeface="Arial"/>
                </a:rPr>
                <a:t>Medical Diagnosis Expert System  |  CSE440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7145000" y="9848088"/>
            <a:ext cx="548640" cy="384048"/>
            <a:chOff x="0" y="0"/>
            <a:chExt cx="731520" cy="512064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731520" cy="512064"/>
            </a:xfrm>
            <a:custGeom>
              <a:avLst/>
              <a:gdLst/>
              <a:ahLst/>
              <a:cxnLst/>
              <a:rect r="r" b="b" t="t" l="l"/>
              <a:pathLst>
                <a:path h="512064" w="731520">
                  <a:moveTo>
                    <a:pt x="0" y="0"/>
                  </a:moveTo>
                  <a:lnTo>
                    <a:pt x="731520" y="0"/>
                  </a:lnTo>
                  <a:lnTo>
                    <a:pt x="731520" y="512064"/>
                  </a:lnTo>
                  <a:lnTo>
                    <a:pt x="0" y="5120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39812" t="0" r="-39812" b="0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19050"/>
              <a:ext cx="731520" cy="53111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439"/>
                </a:lnSpc>
              </a:pPr>
              <a:r>
                <a:rPr lang="en-US" sz="1200">
                  <a:solidFill>
                    <a:srgbClr val="666B78"/>
                  </a:solidFill>
                  <a:latin typeface="Arial"/>
                  <a:ea typeface="Arial"/>
                  <a:cs typeface="Arial"/>
                  <a:sym typeface="Arial"/>
                </a:rPr>
                <a:t>16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DAHTXhq1xXA</dc:identifier>
  <dcterms:modified xsi:type="dcterms:W3CDTF">2011-08-01T06:04:30Z</dcterms:modified>
  <cp:revision>1</cp:revision>
  <dc:title>CSE440 Updated</dc:title>
</cp:coreProperties>
</file>